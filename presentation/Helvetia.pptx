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Тема нашего проекта — «Швейцария в начале XVIII века». В это время по Европе шли большие войны: война за испанское наследство и Северная война. А Швейцария была маленьким союзом горных областей, у которого не было ни короля, ни общей армии. Мы расскажем, как этот союз был устроен, чем жили его люди, какие события произошли в начале века и почему Швейцария смогла остаться в стороне от войн.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 1700 году Швейцария состояла из тринадцати кантонов. Кантон — это область, которая живёт как маленькое государство: у неё свои законы, своя власть и даже своя монета. Это были Ури, Швиц, Унтервальден, Люцерн, Цюрих, Гларус, Цуг, Берн, Фрибур, Золотурн, Базель, Шаффхаузен и Аппенцелль. Общей столицы и общего правительства не было. Общие дела решал сейм — это собрание послов, которых присылал каждый кантон. Но решение сейма кантон мог принять, а мог и отказаться. Рядом с кантонами были союзники — земли, которые дружили с ними, но не были полноправными членами союза: Женева, Граубюнден, Вале, Невшатель. А ещё были подвластные земли, например Тургау. Их жители не имели права голоса: кантоны управляли этими землями сообща и присылали туда наместников — чиновников, которые следили за порядком и собирали налоги.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Чем жила страна? Первое — наёмная служба. Наёмники — это солдаты, которые за плату служат чужой стране. Швейцарские полки служили Франции, Голландии, Испании и другим державам, а деньги, которые получали солдаты, кормили многие горные деревни, где своей земли и работы не хватало. Второе — ремесло. В деревнях вокруг Цюриха крестьяне дома пряли хлопок и ткали ткани для городских купцов. В Женеве и в горах Юры мастера делали часы и продавали их по всей Европе. Третье — власть патрициев. Патриции — это несколько богатых знатных семей, которые из поколения в поколение правили городом. В Берне их называли «милостивые господа». Крестьяне и жители подвластных земель права голоса не имели.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главные события начала века. В 1701 году началась война за испанское наследство — большая война европейских стран за трон Испании. Швейцарский союз в ней не участвовал и сохранил нейтралитет. Нейтралитет — это когда страна не вступает в чужие войны и не помогает ни одной из сторон. В 1707 году княжество Невшатель — земля, которой правит князь, — выбрало своим правителем короля Пруссии. В 1709 году в битве при Мальплаке швейцарские полки сражались по обе стороны: одни служили Франции, другие — Голландии, и им пришлось воевать друг против друга. В 1712 году между самими кантонами началась война из-за веры. Протестанты и католики — это христиане разных церквей, которые в то время враждовали. Протестанты Цюриха и Берна разбили католические кантоны при Вильмергене и стали самыми сильными в союзе. А в 1723 году майор Давель поднял в земле Во восстание против власти Берна. Восстание не удалось, и Давеля казнили.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Начало XVIII века — время швейцарских учёных. В Базеле жила знаменитая семья Бернулли. Все они были математиками, то есть учёными, которые изучают числа, фигуры и расчёты. В 1707 году в Базеле родился Леонард Эйлер, ученик Иоганна Бернулли. С 1727 года он работал в Петербургской академии наук — главном научном учреждении России — и большую часть жизни провёл в нашей стране. В 1708 году в Берне родился учёный и поэт Альбрехт фон Галлер, а в 1712 году в Женеве — философ Жан-Жак Руссо. Философ — это человек, который размышляет о жизни, обществе и о том, как устроен мир.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Подведём итог. В начале XVIII века Швейцария сохраняла нейтралитет: она не воевала в чужих войнах, хотя её солдаты-наёмники служили в армиях других стран. Внутри страны были споры из-за веры и власти — Вильмергенская война и восстание Давеля. Богатела Швейцария ремеслом, торговлей и наёмной службой, а её учёные, как Эйлер, прославились на всю Европу. Спасибо за внимание! Готовы ответить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jp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jp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>
              <a:alpha val="68000"/>
            </a:srgbClr>
          </a:solidFill>
          <a:ln/>
        </p:spPr>
      </p:sp>
      <p:sp>
        <p:nvSpPr>
          <p:cNvPr id="3" name="!!framea"/>
          <p:cNvSpPr/>
          <p:nvPr/>
        </p:nvSpPr>
        <p:spPr>
          <a:xfrm>
            <a:off x="548640" y="548640"/>
            <a:ext cx="11094415" cy="5760720"/>
          </a:xfrm>
          <a:prstGeom prst="rect">
            <a:avLst/>
          </a:prstGeom>
          <a:ln w="15875">
            <a:solidFill>
              <a:srgbClr val="C9A15A"/>
            </a:solidFill>
            <a:prstDash val="solid"/>
          </a:ln>
        </p:spPr>
      </p:sp>
      <p:sp>
        <p:nvSpPr>
          <p:cNvPr id="4" name="!!frameb"/>
          <p:cNvSpPr/>
          <p:nvPr/>
        </p:nvSpPr>
        <p:spPr>
          <a:xfrm>
            <a:off x="630936" y="630936"/>
            <a:ext cx="10929823" cy="5596128"/>
          </a:xfrm>
          <a:prstGeom prst="rect">
            <a:avLst/>
          </a:prstGeom>
          <a:ln w="6350">
            <a:solidFill>
              <a:srgbClr val="C9A15A"/>
            </a:solidFill>
            <a:prstDash val="solid"/>
          </a:ln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2928" y="777240"/>
            <a:ext cx="1005840" cy="1186891"/>
          </a:xfrm>
          <a:prstGeom prst="rect">
            <a:avLst/>
          </a:prstGeom>
        </p:spPr>
      </p:pic>
      <p:sp>
        <p:nvSpPr>
          <p:cNvPr id="6" name="!!c1_0"/>
          <p:cNvSpPr txBox="1"/>
          <p:nvPr/>
        </p:nvSpPr>
        <p:spPr>
          <a:xfrm>
            <a:off x="19186855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  ·  1700</a:t>
            </a:r>
            <a:endParaRPr lang="en-US" sz="1300" dirty="0"/>
          </a:p>
        </p:txBody>
      </p:sp>
      <p:sp>
        <p:nvSpPr>
          <p:cNvPr id="7" name="!!c1_1"/>
          <p:cNvSpPr txBox="1"/>
          <p:nvPr/>
        </p:nvSpPr>
        <p:spPr>
          <a:xfrm>
            <a:off x="19186855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Каким был союз</a:t>
            </a:r>
            <a:endParaRPr lang="en-US" sz="3200" dirty="0"/>
          </a:p>
        </p:txBody>
      </p:sp>
      <p:sp>
        <p:nvSpPr>
          <p:cNvPr id="8" name="!!c1_2"/>
          <p:cNvSpPr txBox="1"/>
          <p:nvPr/>
        </p:nvSpPr>
        <p:spPr>
          <a:xfrm>
            <a:off x="22798735" y="6053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  <p:sp>
        <p:nvSpPr>
          <p:cNvPr id="9" name="!!c1_3"/>
          <p:cNvSpPr txBox="1"/>
          <p:nvPr/>
        </p:nvSpPr>
        <p:spPr>
          <a:xfrm>
            <a:off x="19186855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</a:t>
            </a:r>
            <a:endParaRPr lang="en-US" sz="6600" dirty="0"/>
          </a:p>
        </p:txBody>
      </p:sp>
      <p:sp>
        <p:nvSpPr>
          <p:cNvPr id="10" name="!!c1_4"/>
          <p:cNvSpPr txBox="1"/>
          <p:nvPr/>
        </p:nvSpPr>
        <p:spPr>
          <a:xfrm>
            <a:off x="20101255" y="2331720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1700 году Швейцарию составляли 13 кантонов. Кантон — это область, которая живёт как маленькое государство: со своими законами и властью.</a:t>
            </a:r>
            <a:endParaRPr lang="en-US" sz="1500" dirty="0"/>
          </a:p>
        </p:txBody>
      </p:sp>
      <p:sp>
        <p:nvSpPr>
          <p:cNvPr id="11" name="!!c1_5"/>
          <p:cNvSpPr txBox="1"/>
          <p:nvPr/>
        </p:nvSpPr>
        <p:spPr>
          <a:xfrm>
            <a:off x="19186855" y="379476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Общей столицы и правительства не было. Общие дела решал сейм — собрание послов, которых присылал каждый кантон.</a:t>
            </a:r>
            <a:endParaRPr lang="en-US" sz="1500" dirty="0"/>
          </a:p>
        </p:txBody>
      </p:sp>
      <p:sp>
        <p:nvSpPr>
          <p:cNvPr id="12" name="!!c1_6"/>
          <p:cNvSpPr txBox="1"/>
          <p:nvPr/>
        </p:nvSpPr>
        <p:spPr>
          <a:xfrm>
            <a:off x="19186855" y="484632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Были и подвластные земли — их жители не имели права голоса, а кантоны управляли ими сообща.</a:t>
            </a:r>
            <a:endParaRPr lang="en-US" sz="1600" dirty="0"/>
          </a:p>
        </p:txBody>
      </p:sp>
      <p:sp>
        <p:nvSpPr>
          <p:cNvPr id="13" name="!!c0_0"/>
          <p:cNvSpPr txBox="1"/>
          <p:nvPr/>
        </p:nvSpPr>
        <p:spPr>
          <a:xfrm>
            <a:off x="914400" y="21488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ШВЕЙЦАРСКИЙ СОЮЗ  ·  1700 — 1730</a:t>
            </a:r>
            <a:endParaRPr lang="en-US" sz="1300" dirty="0"/>
          </a:p>
        </p:txBody>
      </p:sp>
      <p:sp>
        <p:nvSpPr>
          <p:cNvPr id="14" name="!!c0_1"/>
          <p:cNvSpPr txBox="1"/>
          <p:nvPr/>
        </p:nvSpPr>
        <p:spPr>
          <a:xfrm>
            <a:off x="640080" y="26517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Швейцария в начале XVIII века</a:t>
            </a:r>
            <a:endParaRPr lang="en-US" sz="4400" dirty="0"/>
          </a:p>
        </p:txBody>
      </p:sp>
      <p:sp>
        <p:nvSpPr>
          <p:cNvPr id="15" name="!!c0_2"/>
          <p:cNvSpPr txBox="1"/>
          <p:nvPr/>
        </p:nvSpPr>
        <p:spPr>
          <a:xfrm>
            <a:off x="1828800" y="3840480"/>
            <a:ext cx="8534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Союз тринадцати кантонов среди больших войн Европы</a:t>
            </a:r>
            <a:endParaRPr lang="en-US" sz="2100" dirty="0"/>
          </a:p>
        </p:txBody>
      </p:sp>
      <p:sp>
        <p:nvSpPr>
          <p:cNvPr id="16" name="!!c0_3"/>
          <p:cNvSpPr txBox="1"/>
          <p:nvPr/>
        </p:nvSpPr>
        <p:spPr>
          <a:xfrm>
            <a:off x="1371600" y="52578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по истории  ·  8 «А» класс  ·  Кирилл Ленин и Михаил Луконин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630936" y="630936"/>
            <a:ext cx="5413248" cy="5596128"/>
          </a:xfrm>
          <a:prstGeom prst="rect">
            <a:avLst/>
          </a:prstGeom>
          <a:solidFill>
            <a:srgbClr val="8E6A2E"/>
          </a:solidFill>
          <a:ln w="2540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!!scene" descr="img/sion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" y="777240"/>
            <a:ext cx="5120640" cy="5303520"/>
          </a:xfrm>
          <a:prstGeom prst="rect">
            <a:avLst/>
          </a:prstGeom>
        </p:spPr>
      </p:pic>
      <p:pic>
        <p:nvPicPr>
          <p:cNvPr id="4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5" name="!!c0_0"/>
          <p:cNvSpPr txBox="1"/>
          <p:nvPr/>
        </p:nvSpPr>
        <p:spPr>
          <a:xfrm>
            <a:off x="-11734495" y="21488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ШВЕЙЦАРСКИЙ СОЮЗ  ·  1700 — 1730</a:t>
            </a:r>
            <a:endParaRPr lang="en-US" sz="1300" dirty="0"/>
          </a:p>
        </p:txBody>
      </p:sp>
      <p:sp>
        <p:nvSpPr>
          <p:cNvPr id="6" name="!!c0_1"/>
          <p:cNvSpPr txBox="1"/>
          <p:nvPr/>
        </p:nvSpPr>
        <p:spPr>
          <a:xfrm>
            <a:off x="-12008815" y="26517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Швейцария в начале XVIII века</a:t>
            </a:r>
            <a:endParaRPr lang="en-US" sz="4400" dirty="0"/>
          </a:p>
        </p:txBody>
      </p:sp>
      <p:sp>
        <p:nvSpPr>
          <p:cNvPr id="7" name="!!c0_2"/>
          <p:cNvSpPr txBox="1"/>
          <p:nvPr/>
        </p:nvSpPr>
        <p:spPr>
          <a:xfrm>
            <a:off x="-10820095" y="3840480"/>
            <a:ext cx="8534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Союз тринадцати кантонов среди больших войн Европы</a:t>
            </a:r>
            <a:endParaRPr lang="en-US" sz="2100" dirty="0"/>
          </a:p>
        </p:txBody>
      </p:sp>
      <p:sp>
        <p:nvSpPr>
          <p:cNvPr id="8" name="!!c0_3"/>
          <p:cNvSpPr txBox="1"/>
          <p:nvPr/>
        </p:nvSpPr>
        <p:spPr>
          <a:xfrm>
            <a:off x="-11277295" y="52578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по истории  ·  8 «А» класс  ·  Кирилл Ленин и Михаил Луконин</a:t>
            </a:r>
            <a:endParaRPr lang="en-US" sz="1400" dirty="0"/>
          </a:p>
        </p:txBody>
      </p:sp>
      <p:sp>
        <p:nvSpPr>
          <p:cNvPr id="9" name="!!c2_0"/>
          <p:cNvSpPr txBox="1"/>
          <p:nvPr/>
        </p:nvSpPr>
        <p:spPr>
          <a:xfrm>
            <a:off x="13426135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II</a:t>
            </a:r>
            <a:endParaRPr lang="en-US" sz="1300" dirty="0"/>
          </a:p>
        </p:txBody>
      </p:sp>
      <p:sp>
        <p:nvSpPr>
          <p:cNvPr id="10" name="!!c2_1"/>
          <p:cNvSpPr txBox="1"/>
          <p:nvPr/>
        </p:nvSpPr>
        <p:spPr>
          <a:xfrm>
            <a:off x="13426135" y="2697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Чем жила страна</a:t>
            </a:r>
            <a:endParaRPr lang="en-US" sz="3600" dirty="0"/>
          </a:p>
        </p:txBody>
      </p:sp>
      <p:sp>
        <p:nvSpPr>
          <p:cNvPr id="11" name="!!c2_2"/>
          <p:cNvSpPr txBox="1"/>
          <p:nvPr/>
        </p:nvSpPr>
        <p:spPr>
          <a:xfrm>
            <a:off x="22798735" y="6053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  <p:sp>
        <p:nvSpPr>
          <p:cNvPr id="12" name="!!c2_3"/>
          <p:cNvSpPr txBox="1"/>
          <p:nvPr/>
        </p:nvSpPr>
        <p:spPr>
          <a:xfrm>
            <a:off x="13426135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13" name="!!c2_4"/>
          <p:cNvSpPr txBox="1"/>
          <p:nvPr/>
        </p:nvSpPr>
        <p:spPr>
          <a:xfrm>
            <a:off x="13426135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Наёмная служба</a:t>
            </a:r>
            <a:endParaRPr lang="en-US" sz="1900" dirty="0"/>
          </a:p>
        </p:txBody>
      </p:sp>
      <p:sp>
        <p:nvSpPr>
          <p:cNvPr id="14" name="!!c2_5"/>
          <p:cNvSpPr txBox="1"/>
          <p:nvPr/>
        </p:nvSpPr>
        <p:spPr>
          <a:xfrm>
            <a:off x="13426135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Наёмники — это солдаты, которые за плату служат чужой стране. Швейцарские полки служили Франции и Голландии, а их жалованье кормило горные деревни.</a:t>
            </a:r>
            <a:endParaRPr lang="en-US" sz="1400" dirty="0"/>
          </a:p>
        </p:txBody>
      </p:sp>
      <p:sp>
        <p:nvSpPr>
          <p:cNvPr id="15" name="!!c2_6"/>
          <p:cNvSpPr txBox="1"/>
          <p:nvPr/>
        </p:nvSpPr>
        <p:spPr>
          <a:xfrm>
            <a:off x="17147743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16" name="!!c2_7"/>
          <p:cNvSpPr txBox="1"/>
          <p:nvPr/>
        </p:nvSpPr>
        <p:spPr>
          <a:xfrm>
            <a:off x="17147743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Ремесло и часы</a:t>
            </a:r>
            <a:endParaRPr lang="en-US" sz="1900" dirty="0"/>
          </a:p>
        </p:txBody>
      </p:sp>
      <p:sp>
        <p:nvSpPr>
          <p:cNvPr id="17" name="!!c2_8"/>
          <p:cNvSpPr txBox="1"/>
          <p:nvPr/>
        </p:nvSpPr>
        <p:spPr>
          <a:xfrm>
            <a:off x="17147743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Крестьяне у Цюриха дома пряли хлопок для купцов. В Женеве и горах Юры мастера делали часы на продажу по всей Европе.</a:t>
            </a:r>
            <a:endParaRPr lang="en-US" sz="1400" dirty="0"/>
          </a:p>
        </p:txBody>
      </p:sp>
      <p:sp>
        <p:nvSpPr>
          <p:cNvPr id="18" name="!!c2_9"/>
          <p:cNvSpPr txBox="1"/>
          <p:nvPr/>
        </p:nvSpPr>
        <p:spPr>
          <a:xfrm>
            <a:off x="20869351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19" name="!!c2_10"/>
          <p:cNvSpPr txBox="1"/>
          <p:nvPr/>
        </p:nvSpPr>
        <p:spPr>
          <a:xfrm>
            <a:off x="20869351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Власть патрициев</a:t>
            </a:r>
            <a:endParaRPr lang="en-US" sz="1900" dirty="0"/>
          </a:p>
        </p:txBody>
      </p:sp>
      <p:sp>
        <p:nvSpPr>
          <p:cNvPr id="20" name="!!c2_11"/>
          <p:cNvSpPr txBox="1"/>
          <p:nvPr/>
        </p:nvSpPr>
        <p:spPr>
          <a:xfrm>
            <a:off x="20869351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Патриции — это несколько богатых знатных семей, которые правили городом. Крестьяне и жители подвластных земель права голоса не имели.</a:t>
            </a:r>
            <a:endParaRPr lang="en-US" sz="1400" dirty="0"/>
          </a:p>
        </p:txBody>
      </p:sp>
      <p:sp>
        <p:nvSpPr>
          <p:cNvPr id="21" name="!!c1_0"/>
          <p:cNvSpPr txBox="1"/>
          <p:nvPr/>
        </p:nvSpPr>
        <p:spPr>
          <a:xfrm>
            <a:off x="6537960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  ·  1700</a:t>
            </a:r>
            <a:endParaRPr lang="en-US" sz="1300" dirty="0"/>
          </a:p>
        </p:txBody>
      </p:sp>
      <p:sp>
        <p:nvSpPr>
          <p:cNvPr id="22" name="!!c1_1"/>
          <p:cNvSpPr txBox="1"/>
          <p:nvPr/>
        </p:nvSpPr>
        <p:spPr>
          <a:xfrm>
            <a:off x="6537960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Каким был союз</a:t>
            </a:r>
            <a:endParaRPr lang="en-US" sz="3200" dirty="0"/>
          </a:p>
        </p:txBody>
      </p:sp>
      <p:sp>
        <p:nvSpPr>
          <p:cNvPr id="23" name="!!c1_2"/>
          <p:cNvSpPr txBox="1"/>
          <p:nvPr/>
        </p:nvSpPr>
        <p:spPr>
          <a:xfrm>
            <a:off x="10149840" y="6053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  <p:sp>
        <p:nvSpPr>
          <p:cNvPr id="24" name="!!c1_3"/>
          <p:cNvSpPr txBox="1"/>
          <p:nvPr/>
        </p:nvSpPr>
        <p:spPr>
          <a:xfrm>
            <a:off x="6537960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</a:t>
            </a:r>
            <a:endParaRPr lang="en-US" sz="6600" dirty="0"/>
          </a:p>
        </p:txBody>
      </p:sp>
      <p:sp>
        <p:nvSpPr>
          <p:cNvPr id="25" name="!!c1_4"/>
          <p:cNvSpPr txBox="1"/>
          <p:nvPr/>
        </p:nvSpPr>
        <p:spPr>
          <a:xfrm>
            <a:off x="7452360" y="2331720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1700 году Швейцарию составляли 13 кантонов. Кантон — это область, которая живёт как маленькое государство: со своими законами и властью.</a:t>
            </a:r>
            <a:endParaRPr lang="en-US" sz="1500" dirty="0"/>
          </a:p>
        </p:txBody>
      </p:sp>
      <p:sp>
        <p:nvSpPr>
          <p:cNvPr id="26" name="!!c1_5"/>
          <p:cNvSpPr txBox="1"/>
          <p:nvPr/>
        </p:nvSpPr>
        <p:spPr>
          <a:xfrm>
            <a:off x="6537960" y="379476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Общей столицы и правительства не было. Общие дела решал сейм — собрание послов, которых присылал каждый кантон.</a:t>
            </a:r>
            <a:endParaRPr lang="en-US" sz="1500" dirty="0"/>
          </a:p>
        </p:txBody>
      </p:sp>
      <p:sp>
        <p:nvSpPr>
          <p:cNvPr id="27" name="!!c1_6"/>
          <p:cNvSpPr txBox="1"/>
          <p:nvPr/>
        </p:nvSpPr>
        <p:spPr>
          <a:xfrm>
            <a:off x="6537960" y="484632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Были и подвластные земли — их жители не имели права голоса, а кантоны управляли ими сообща.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0" y="0"/>
            <a:ext cx="12191695" cy="2057400"/>
          </a:xfrm>
          <a:prstGeom prst="rect">
            <a:avLst/>
          </a:prstGeom>
          <a:solidFill>
            <a:srgbClr val="8E6A2E"/>
          </a:solidFill>
          <a:ln w="2540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!!scene" descr="img/sion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1695" cy="1965960"/>
          </a:xfrm>
          <a:prstGeom prst="rect">
            <a:avLst/>
          </a:prstGeom>
        </p:spPr>
      </p:pic>
      <p:pic>
        <p:nvPicPr>
          <p:cNvPr id="4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5" name="!!c1_0"/>
          <p:cNvSpPr txBox="1"/>
          <p:nvPr/>
        </p:nvSpPr>
        <p:spPr>
          <a:xfrm>
            <a:off x="-6110935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  ·  1700</a:t>
            </a:r>
            <a:endParaRPr lang="en-US" sz="1300" dirty="0"/>
          </a:p>
        </p:txBody>
      </p:sp>
      <p:sp>
        <p:nvSpPr>
          <p:cNvPr id="6" name="!!c1_1"/>
          <p:cNvSpPr txBox="1"/>
          <p:nvPr/>
        </p:nvSpPr>
        <p:spPr>
          <a:xfrm>
            <a:off x="-6110935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Каким был союз</a:t>
            </a:r>
            <a:endParaRPr lang="en-US" sz="3200" dirty="0"/>
          </a:p>
        </p:txBody>
      </p:sp>
      <p:sp>
        <p:nvSpPr>
          <p:cNvPr id="7" name="!!c1_2"/>
          <p:cNvSpPr txBox="1"/>
          <p:nvPr/>
        </p:nvSpPr>
        <p:spPr>
          <a:xfrm>
            <a:off x="-2499055" y="6053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  <p:sp>
        <p:nvSpPr>
          <p:cNvPr id="8" name="!!c1_3"/>
          <p:cNvSpPr txBox="1"/>
          <p:nvPr/>
        </p:nvSpPr>
        <p:spPr>
          <a:xfrm>
            <a:off x="-6110935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</a:t>
            </a:r>
            <a:endParaRPr lang="en-US" sz="6600" dirty="0"/>
          </a:p>
        </p:txBody>
      </p:sp>
      <p:sp>
        <p:nvSpPr>
          <p:cNvPr id="9" name="!!c1_4"/>
          <p:cNvSpPr txBox="1"/>
          <p:nvPr/>
        </p:nvSpPr>
        <p:spPr>
          <a:xfrm>
            <a:off x="-5196535" y="2331720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1700 году Швейцарию составляли 13 кантонов. Кантон — это область, которая живёт как маленькое государство: со своими законами и властью.</a:t>
            </a:r>
            <a:endParaRPr lang="en-US" sz="1500" dirty="0"/>
          </a:p>
        </p:txBody>
      </p:sp>
      <p:sp>
        <p:nvSpPr>
          <p:cNvPr id="10" name="!!c1_5"/>
          <p:cNvSpPr txBox="1"/>
          <p:nvPr/>
        </p:nvSpPr>
        <p:spPr>
          <a:xfrm>
            <a:off x="-6110935" y="379476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Общей столицы и правительства не было. Общие дела решал сейм — собрание послов, которых присылал каждый кантон.</a:t>
            </a:r>
            <a:endParaRPr lang="en-US" sz="1500" dirty="0"/>
          </a:p>
        </p:txBody>
      </p:sp>
      <p:sp>
        <p:nvSpPr>
          <p:cNvPr id="11" name="!!c1_6"/>
          <p:cNvSpPr txBox="1"/>
          <p:nvPr/>
        </p:nvSpPr>
        <p:spPr>
          <a:xfrm>
            <a:off x="-6110935" y="484632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Были и подвластные земли — их жители не имели права голоса, а кантоны управляли ими сообща.</a:t>
            </a:r>
            <a:endParaRPr lang="en-US" sz="1600" dirty="0"/>
          </a:p>
        </p:txBody>
      </p:sp>
      <p:sp>
        <p:nvSpPr>
          <p:cNvPr id="12" name="!!c3_0"/>
          <p:cNvSpPr txBox="1"/>
          <p:nvPr/>
        </p:nvSpPr>
        <p:spPr>
          <a:xfrm>
            <a:off x="13426135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III</a:t>
            </a:r>
            <a:endParaRPr lang="en-US" sz="1300" dirty="0"/>
          </a:p>
        </p:txBody>
      </p:sp>
      <p:sp>
        <p:nvSpPr>
          <p:cNvPr id="13" name="!!c3_1"/>
          <p:cNvSpPr txBox="1"/>
          <p:nvPr/>
        </p:nvSpPr>
        <p:spPr>
          <a:xfrm>
            <a:off x="13426135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начала века</a:t>
            </a:r>
            <a:endParaRPr lang="en-US" sz="4000" dirty="0"/>
          </a:p>
        </p:txBody>
      </p:sp>
      <p:sp>
        <p:nvSpPr>
          <p:cNvPr id="14" name="!!c3_2"/>
          <p:cNvSpPr txBox="1"/>
          <p:nvPr/>
        </p:nvSpPr>
        <p:spPr>
          <a:xfrm>
            <a:off x="22798735" y="6053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  <p:sp>
        <p:nvSpPr>
          <p:cNvPr id="15" name="!!c3_3"/>
          <p:cNvSpPr/>
          <p:nvPr/>
        </p:nvSpPr>
        <p:spPr>
          <a:xfrm>
            <a:off x="13426135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16" name="!!c3_4"/>
          <p:cNvSpPr/>
          <p:nvPr/>
        </p:nvSpPr>
        <p:spPr>
          <a:xfrm>
            <a:off x="13435279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7" name="!!c3_5"/>
          <p:cNvSpPr txBox="1"/>
          <p:nvPr/>
        </p:nvSpPr>
        <p:spPr>
          <a:xfrm>
            <a:off x="13471855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1701</a:t>
            </a:r>
            <a:endParaRPr lang="en-US" sz="3400" dirty="0"/>
          </a:p>
        </p:txBody>
      </p:sp>
      <p:sp>
        <p:nvSpPr>
          <p:cNvPr id="18" name="!!c3_6"/>
          <p:cNvSpPr txBox="1"/>
          <p:nvPr/>
        </p:nvSpPr>
        <p:spPr>
          <a:xfrm>
            <a:off x="13471855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Нейтралитет</a:t>
            </a:r>
            <a:endParaRPr lang="en-US" sz="1400" dirty="0"/>
          </a:p>
        </p:txBody>
      </p:sp>
      <p:sp>
        <p:nvSpPr>
          <p:cNvPr id="19" name="!!c3_7"/>
          <p:cNvSpPr txBox="1"/>
          <p:nvPr/>
        </p:nvSpPr>
        <p:spPr>
          <a:xfrm>
            <a:off x="13471855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войне за испанское наследство союз не воюет</a:t>
            </a:r>
            <a:endParaRPr lang="en-US" sz="1300" dirty="0"/>
          </a:p>
        </p:txBody>
      </p:sp>
      <p:sp>
        <p:nvSpPr>
          <p:cNvPr id="20" name="!!c3_8"/>
          <p:cNvSpPr/>
          <p:nvPr/>
        </p:nvSpPr>
        <p:spPr>
          <a:xfrm>
            <a:off x="15648127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1" name="!!c3_9"/>
          <p:cNvSpPr txBox="1"/>
          <p:nvPr/>
        </p:nvSpPr>
        <p:spPr>
          <a:xfrm>
            <a:off x="15684703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3400" dirty="0"/>
          </a:p>
        </p:txBody>
      </p:sp>
      <p:sp>
        <p:nvSpPr>
          <p:cNvPr id="22" name="!!c3_10"/>
          <p:cNvSpPr txBox="1"/>
          <p:nvPr/>
        </p:nvSpPr>
        <p:spPr>
          <a:xfrm>
            <a:off x="15684703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Невшатель</a:t>
            </a:r>
            <a:endParaRPr lang="en-US" sz="1400" dirty="0"/>
          </a:p>
        </p:txBody>
      </p:sp>
      <p:sp>
        <p:nvSpPr>
          <p:cNvPr id="23" name="!!c3_11"/>
          <p:cNvSpPr txBox="1"/>
          <p:nvPr/>
        </p:nvSpPr>
        <p:spPr>
          <a:xfrm>
            <a:off x="15684703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Княжество переходит к королю Пруссии</a:t>
            </a:r>
            <a:endParaRPr lang="en-US" sz="1300" dirty="0"/>
          </a:p>
        </p:txBody>
      </p:sp>
      <p:sp>
        <p:nvSpPr>
          <p:cNvPr id="24" name="!!c3_12"/>
          <p:cNvSpPr/>
          <p:nvPr/>
        </p:nvSpPr>
        <p:spPr>
          <a:xfrm>
            <a:off x="17860975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5" name="!!c3_13"/>
          <p:cNvSpPr txBox="1"/>
          <p:nvPr/>
        </p:nvSpPr>
        <p:spPr>
          <a:xfrm>
            <a:off x="17897551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1709</a:t>
            </a:r>
            <a:endParaRPr lang="en-US" sz="3400" dirty="0"/>
          </a:p>
        </p:txBody>
      </p:sp>
      <p:sp>
        <p:nvSpPr>
          <p:cNvPr id="26" name="!!c3_14"/>
          <p:cNvSpPr txBox="1"/>
          <p:nvPr/>
        </p:nvSpPr>
        <p:spPr>
          <a:xfrm>
            <a:off x="17897551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Мальплаке</a:t>
            </a:r>
            <a:endParaRPr lang="en-US" sz="1400" dirty="0"/>
          </a:p>
        </p:txBody>
      </p:sp>
      <p:sp>
        <p:nvSpPr>
          <p:cNvPr id="27" name="!!c3_15"/>
          <p:cNvSpPr txBox="1"/>
          <p:nvPr/>
        </p:nvSpPr>
        <p:spPr>
          <a:xfrm>
            <a:off x="17897551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сражаются по обе стороны</a:t>
            </a:r>
            <a:endParaRPr lang="en-US" sz="1300" dirty="0"/>
          </a:p>
        </p:txBody>
      </p:sp>
      <p:sp>
        <p:nvSpPr>
          <p:cNvPr id="28" name="!!c3_16"/>
          <p:cNvSpPr/>
          <p:nvPr/>
        </p:nvSpPr>
        <p:spPr>
          <a:xfrm>
            <a:off x="20073823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9" name="!!c3_17"/>
          <p:cNvSpPr txBox="1"/>
          <p:nvPr/>
        </p:nvSpPr>
        <p:spPr>
          <a:xfrm>
            <a:off x="20110399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1712</a:t>
            </a:r>
            <a:endParaRPr lang="en-US" sz="3400" dirty="0"/>
          </a:p>
        </p:txBody>
      </p:sp>
      <p:sp>
        <p:nvSpPr>
          <p:cNvPr id="30" name="!!c3_18"/>
          <p:cNvSpPr txBox="1"/>
          <p:nvPr/>
        </p:nvSpPr>
        <p:spPr>
          <a:xfrm>
            <a:off x="20110399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Вильмерген</a:t>
            </a:r>
            <a:endParaRPr lang="en-US" sz="1400" dirty="0"/>
          </a:p>
        </p:txBody>
      </p:sp>
      <p:sp>
        <p:nvSpPr>
          <p:cNvPr id="31" name="!!c3_19"/>
          <p:cNvSpPr txBox="1"/>
          <p:nvPr/>
        </p:nvSpPr>
        <p:spPr>
          <a:xfrm>
            <a:off x="20110399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Протестанты Цюриха и Берна побеждают католиков</a:t>
            </a:r>
            <a:endParaRPr lang="en-US" sz="1300" dirty="0"/>
          </a:p>
        </p:txBody>
      </p:sp>
      <p:sp>
        <p:nvSpPr>
          <p:cNvPr id="32" name="!!c3_20"/>
          <p:cNvSpPr/>
          <p:nvPr/>
        </p:nvSpPr>
        <p:spPr>
          <a:xfrm>
            <a:off x="22286671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3" name="!!c3_21"/>
          <p:cNvSpPr txBox="1"/>
          <p:nvPr/>
        </p:nvSpPr>
        <p:spPr>
          <a:xfrm>
            <a:off x="22323247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1723</a:t>
            </a:r>
            <a:endParaRPr lang="en-US" sz="3400" dirty="0"/>
          </a:p>
        </p:txBody>
      </p:sp>
      <p:sp>
        <p:nvSpPr>
          <p:cNvPr id="34" name="!!c3_22"/>
          <p:cNvSpPr txBox="1"/>
          <p:nvPr/>
        </p:nvSpPr>
        <p:spPr>
          <a:xfrm>
            <a:off x="22323247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Майор Давель</a:t>
            </a:r>
            <a:endParaRPr lang="en-US" sz="1400" dirty="0"/>
          </a:p>
        </p:txBody>
      </p:sp>
      <p:sp>
        <p:nvSpPr>
          <p:cNvPr id="35" name="!!c3_23"/>
          <p:cNvSpPr txBox="1"/>
          <p:nvPr/>
        </p:nvSpPr>
        <p:spPr>
          <a:xfrm>
            <a:off x="22323247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Восстание в земле Во против власти Берна</a:t>
            </a:r>
            <a:endParaRPr lang="en-US" sz="1300" dirty="0"/>
          </a:p>
        </p:txBody>
      </p:sp>
      <p:sp>
        <p:nvSpPr>
          <p:cNvPr id="36" name="!!c3_24"/>
          <p:cNvSpPr txBox="1"/>
          <p:nvPr/>
        </p:nvSpPr>
        <p:spPr>
          <a:xfrm>
            <a:off x="13426135" y="50292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Нейтралитет — это когда страна не участвует в чужих войнах; поэтому армии соседей на землю Швейцарии не вступали. Протестанты и католики — христиане разных церквей, которые тогда враждовали.</a:t>
            </a:r>
            <a:endParaRPr lang="en-US" sz="1300" dirty="0"/>
          </a:p>
        </p:txBody>
      </p:sp>
      <p:sp>
        <p:nvSpPr>
          <p:cNvPr id="37" name="!!c2_0"/>
          <p:cNvSpPr txBox="1"/>
          <p:nvPr/>
        </p:nvSpPr>
        <p:spPr>
          <a:xfrm>
            <a:off x="777240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II</a:t>
            </a:r>
            <a:endParaRPr lang="en-US" sz="1300" dirty="0"/>
          </a:p>
        </p:txBody>
      </p:sp>
      <p:sp>
        <p:nvSpPr>
          <p:cNvPr id="38" name="!!c2_1"/>
          <p:cNvSpPr txBox="1"/>
          <p:nvPr/>
        </p:nvSpPr>
        <p:spPr>
          <a:xfrm>
            <a:off x="777240" y="2697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Чем жила страна</a:t>
            </a:r>
            <a:endParaRPr lang="en-US" sz="3600" dirty="0"/>
          </a:p>
        </p:txBody>
      </p:sp>
      <p:sp>
        <p:nvSpPr>
          <p:cNvPr id="39" name="!!c2_2"/>
          <p:cNvSpPr txBox="1"/>
          <p:nvPr/>
        </p:nvSpPr>
        <p:spPr>
          <a:xfrm>
            <a:off x="10149840" y="6053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  <p:sp>
        <p:nvSpPr>
          <p:cNvPr id="40" name="!!c2_3"/>
          <p:cNvSpPr txBox="1"/>
          <p:nvPr/>
        </p:nvSpPr>
        <p:spPr>
          <a:xfrm>
            <a:off x="77724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41" name="!!c2_4"/>
          <p:cNvSpPr txBox="1"/>
          <p:nvPr/>
        </p:nvSpPr>
        <p:spPr>
          <a:xfrm>
            <a:off x="777240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Наёмная служба</a:t>
            </a:r>
            <a:endParaRPr lang="en-US" sz="1900" dirty="0"/>
          </a:p>
        </p:txBody>
      </p:sp>
      <p:sp>
        <p:nvSpPr>
          <p:cNvPr id="42" name="!!c2_5"/>
          <p:cNvSpPr txBox="1"/>
          <p:nvPr/>
        </p:nvSpPr>
        <p:spPr>
          <a:xfrm>
            <a:off x="777240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Наёмники — это солдаты, которые за плату служат чужой стране. Швейцарские полки служили Франции и Голландии, а их жалованье кормило горные деревни.</a:t>
            </a:r>
            <a:endParaRPr lang="en-US" sz="1400" dirty="0"/>
          </a:p>
        </p:txBody>
      </p:sp>
      <p:sp>
        <p:nvSpPr>
          <p:cNvPr id="43" name="!!c2_6"/>
          <p:cNvSpPr txBox="1"/>
          <p:nvPr/>
        </p:nvSpPr>
        <p:spPr>
          <a:xfrm>
            <a:off x="4498848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44" name="!!c2_7"/>
          <p:cNvSpPr txBox="1"/>
          <p:nvPr/>
        </p:nvSpPr>
        <p:spPr>
          <a:xfrm>
            <a:off x="4498848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Ремесло и часы</a:t>
            </a:r>
            <a:endParaRPr lang="en-US" sz="1900" dirty="0"/>
          </a:p>
        </p:txBody>
      </p:sp>
      <p:sp>
        <p:nvSpPr>
          <p:cNvPr id="45" name="!!c2_8"/>
          <p:cNvSpPr txBox="1"/>
          <p:nvPr/>
        </p:nvSpPr>
        <p:spPr>
          <a:xfrm>
            <a:off x="4498848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Крестьяне у Цюриха дома пряли хлопок для купцов. В Женеве и горах Юры мастера делали часы на продажу по всей Европе.</a:t>
            </a:r>
            <a:endParaRPr lang="en-US" sz="1400" dirty="0"/>
          </a:p>
        </p:txBody>
      </p:sp>
      <p:sp>
        <p:nvSpPr>
          <p:cNvPr id="46" name="!!c2_9"/>
          <p:cNvSpPr txBox="1"/>
          <p:nvPr/>
        </p:nvSpPr>
        <p:spPr>
          <a:xfrm>
            <a:off x="8220456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47" name="!!c2_10"/>
          <p:cNvSpPr txBox="1"/>
          <p:nvPr/>
        </p:nvSpPr>
        <p:spPr>
          <a:xfrm>
            <a:off x="8220456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Власть патрициев</a:t>
            </a:r>
            <a:endParaRPr lang="en-US" sz="1900" dirty="0"/>
          </a:p>
        </p:txBody>
      </p:sp>
      <p:sp>
        <p:nvSpPr>
          <p:cNvPr id="48" name="!!c2_11"/>
          <p:cNvSpPr txBox="1"/>
          <p:nvPr/>
        </p:nvSpPr>
        <p:spPr>
          <a:xfrm>
            <a:off x="8220456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Патриции — это несколько богатых знатных семей, которые правили городом. Крестьяне и жители подвластных земель права голоса не имели.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hade" descr="img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4" name="!!c2_0"/>
          <p:cNvSpPr txBox="1"/>
          <p:nvPr/>
        </p:nvSpPr>
        <p:spPr>
          <a:xfrm>
            <a:off x="-11871655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II</a:t>
            </a:r>
            <a:endParaRPr lang="en-US" sz="1300" dirty="0"/>
          </a:p>
        </p:txBody>
      </p:sp>
      <p:sp>
        <p:nvSpPr>
          <p:cNvPr id="5" name="!!c2_1"/>
          <p:cNvSpPr txBox="1"/>
          <p:nvPr/>
        </p:nvSpPr>
        <p:spPr>
          <a:xfrm>
            <a:off x="-11871655" y="2697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Чем жила страна</a:t>
            </a:r>
            <a:endParaRPr lang="en-US" sz="3600" dirty="0"/>
          </a:p>
        </p:txBody>
      </p:sp>
      <p:sp>
        <p:nvSpPr>
          <p:cNvPr id="6" name="!!c2_2"/>
          <p:cNvSpPr txBox="1"/>
          <p:nvPr/>
        </p:nvSpPr>
        <p:spPr>
          <a:xfrm>
            <a:off x="-2499055" y="6053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  <p:sp>
        <p:nvSpPr>
          <p:cNvPr id="7" name="!!c2_3"/>
          <p:cNvSpPr txBox="1"/>
          <p:nvPr/>
        </p:nvSpPr>
        <p:spPr>
          <a:xfrm>
            <a:off x="-11871655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8" name="!!c2_4"/>
          <p:cNvSpPr txBox="1"/>
          <p:nvPr/>
        </p:nvSpPr>
        <p:spPr>
          <a:xfrm>
            <a:off x="-11871655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Наёмная служба</a:t>
            </a:r>
            <a:endParaRPr lang="en-US" sz="1900" dirty="0"/>
          </a:p>
        </p:txBody>
      </p:sp>
      <p:sp>
        <p:nvSpPr>
          <p:cNvPr id="9" name="!!c2_5"/>
          <p:cNvSpPr txBox="1"/>
          <p:nvPr/>
        </p:nvSpPr>
        <p:spPr>
          <a:xfrm>
            <a:off x="-11871655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Наёмники — это солдаты, которые за плату служат чужой стране. Швейцарские полки служили Франции и Голландии, а их жалованье кормило горные деревни.</a:t>
            </a:r>
            <a:endParaRPr lang="en-US" sz="1400" dirty="0"/>
          </a:p>
        </p:txBody>
      </p:sp>
      <p:sp>
        <p:nvSpPr>
          <p:cNvPr id="10" name="!!c2_6"/>
          <p:cNvSpPr txBox="1"/>
          <p:nvPr/>
        </p:nvSpPr>
        <p:spPr>
          <a:xfrm>
            <a:off x="-8150047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11" name="!!c2_7"/>
          <p:cNvSpPr txBox="1"/>
          <p:nvPr/>
        </p:nvSpPr>
        <p:spPr>
          <a:xfrm>
            <a:off x="-8150047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Ремесло и часы</a:t>
            </a:r>
            <a:endParaRPr lang="en-US" sz="1900" dirty="0"/>
          </a:p>
        </p:txBody>
      </p:sp>
      <p:sp>
        <p:nvSpPr>
          <p:cNvPr id="12" name="!!c2_8"/>
          <p:cNvSpPr txBox="1"/>
          <p:nvPr/>
        </p:nvSpPr>
        <p:spPr>
          <a:xfrm>
            <a:off x="-8150047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Крестьяне у Цюриха дома пряли хлопок для купцов. В Женеве и горах Юры мастера делали часы на продажу по всей Европе.</a:t>
            </a:r>
            <a:endParaRPr lang="en-US" sz="1400" dirty="0"/>
          </a:p>
        </p:txBody>
      </p:sp>
      <p:sp>
        <p:nvSpPr>
          <p:cNvPr id="13" name="!!c2_9"/>
          <p:cNvSpPr txBox="1"/>
          <p:nvPr/>
        </p:nvSpPr>
        <p:spPr>
          <a:xfrm>
            <a:off x="-4428439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14" name="!!c2_10"/>
          <p:cNvSpPr txBox="1"/>
          <p:nvPr/>
        </p:nvSpPr>
        <p:spPr>
          <a:xfrm>
            <a:off x="-4428439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Власть патрициев</a:t>
            </a:r>
            <a:endParaRPr lang="en-US" sz="1900" dirty="0"/>
          </a:p>
        </p:txBody>
      </p:sp>
      <p:sp>
        <p:nvSpPr>
          <p:cNvPr id="15" name="!!c2_11"/>
          <p:cNvSpPr txBox="1"/>
          <p:nvPr/>
        </p:nvSpPr>
        <p:spPr>
          <a:xfrm>
            <a:off x="-4428439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Патриции — это несколько богатых знатных семей, которые правили городом. Крестьяне и жители подвластных земель права голоса не имели.</a:t>
            </a:r>
            <a:endParaRPr lang="en-US" sz="1400" dirty="0"/>
          </a:p>
        </p:txBody>
      </p:sp>
      <p:sp>
        <p:nvSpPr>
          <p:cNvPr id="16" name="!!c4_0"/>
          <p:cNvSpPr txBox="1"/>
          <p:nvPr/>
        </p:nvSpPr>
        <p:spPr>
          <a:xfrm>
            <a:off x="13426135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IV</a:t>
            </a:r>
            <a:endParaRPr lang="en-US" sz="1300" dirty="0"/>
          </a:p>
        </p:txBody>
      </p:sp>
      <p:sp>
        <p:nvSpPr>
          <p:cNvPr id="17" name="!!c4_1"/>
          <p:cNvSpPr txBox="1"/>
          <p:nvPr/>
        </p:nvSpPr>
        <p:spPr>
          <a:xfrm>
            <a:off x="22798735" y="6053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  <p:pic>
        <p:nvPicPr>
          <p:cNvPr id="18" name="!!c4_2" descr="img/card_bur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41135" y="777240"/>
            <a:ext cx="4937760" cy="5303520"/>
          </a:xfrm>
          <a:prstGeom prst="rect">
            <a:avLst/>
          </a:prstGeom>
        </p:spPr>
      </p:pic>
      <p:sp>
        <p:nvSpPr>
          <p:cNvPr id="19" name="!!c4_3"/>
          <p:cNvSpPr txBox="1"/>
          <p:nvPr/>
        </p:nvSpPr>
        <p:spPr>
          <a:xfrm>
            <a:off x="19141135" y="11887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10000" dirty="0"/>
          </a:p>
        </p:txBody>
      </p:sp>
      <p:sp>
        <p:nvSpPr>
          <p:cNvPr id="20" name="!!c4_4"/>
          <p:cNvSpPr txBox="1"/>
          <p:nvPr/>
        </p:nvSpPr>
        <p:spPr>
          <a:xfrm>
            <a:off x="19141135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 Базеле родился Эйлер</a:t>
            </a:r>
            <a:endParaRPr lang="en-US" sz="2400" dirty="0"/>
          </a:p>
        </p:txBody>
      </p:sp>
      <p:sp>
        <p:nvSpPr>
          <p:cNvPr id="21" name="!!c4_5"/>
          <p:cNvSpPr txBox="1"/>
          <p:nvPr/>
        </p:nvSpPr>
        <p:spPr>
          <a:xfrm>
            <a:off x="19598335" y="3749040"/>
            <a:ext cx="4023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Леонард Эйлер — один из величайших математиков. С 1727 года он работал в Петербургской академии наук — главном научном учреждении России.</a:t>
            </a:r>
            <a:endParaRPr lang="en-US" sz="1500" dirty="0"/>
          </a:p>
        </p:txBody>
      </p:sp>
      <p:sp>
        <p:nvSpPr>
          <p:cNvPr id="22" name="!!c4_6"/>
          <p:cNvSpPr txBox="1"/>
          <p:nvPr/>
        </p:nvSpPr>
        <p:spPr>
          <a:xfrm>
            <a:off x="13426135" y="178308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Базель и Женева — города учёных</a:t>
            </a:r>
            <a:endParaRPr lang="en-US" sz="3000" dirty="0"/>
          </a:p>
        </p:txBody>
      </p:sp>
      <p:sp>
        <p:nvSpPr>
          <p:cNvPr id="23" name="!!c4_7"/>
          <p:cNvSpPr txBox="1"/>
          <p:nvPr/>
        </p:nvSpPr>
        <p:spPr>
          <a:xfrm>
            <a:off x="13426135" y="301752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Базеле жила семья Бернулли — математиков, то есть учёных, изучающих числа, фигуры и расчёты. В Берне родился учёный Альбрехт фон Галлер, а в Женеве — философ Жан-Жак Руссо.</a:t>
            </a:r>
            <a:endParaRPr lang="en-US" sz="1600" dirty="0"/>
          </a:p>
        </p:txBody>
      </p:sp>
      <p:sp>
        <p:nvSpPr>
          <p:cNvPr id="24" name="!!c3_0"/>
          <p:cNvSpPr txBox="1"/>
          <p:nvPr/>
        </p:nvSpPr>
        <p:spPr>
          <a:xfrm>
            <a:off x="777240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III</a:t>
            </a:r>
            <a:endParaRPr lang="en-US" sz="1300" dirty="0"/>
          </a:p>
        </p:txBody>
      </p:sp>
      <p:sp>
        <p:nvSpPr>
          <p:cNvPr id="25" name="!!c3_1"/>
          <p:cNvSpPr txBox="1"/>
          <p:nvPr/>
        </p:nvSpPr>
        <p:spPr>
          <a:xfrm>
            <a:off x="777240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начала века</a:t>
            </a:r>
            <a:endParaRPr lang="en-US" sz="4000" dirty="0"/>
          </a:p>
        </p:txBody>
      </p:sp>
      <p:sp>
        <p:nvSpPr>
          <p:cNvPr id="26" name="!!c3_2"/>
          <p:cNvSpPr txBox="1"/>
          <p:nvPr/>
        </p:nvSpPr>
        <p:spPr>
          <a:xfrm>
            <a:off x="10149840" y="6053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  <p:sp>
        <p:nvSpPr>
          <p:cNvPr id="27" name="!!c3_3"/>
          <p:cNvSpPr/>
          <p:nvPr/>
        </p:nvSpPr>
        <p:spPr>
          <a:xfrm>
            <a:off x="777240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28" name="!!c3_4"/>
          <p:cNvSpPr/>
          <p:nvPr/>
        </p:nvSpPr>
        <p:spPr>
          <a:xfrm>
            <a:off x="786384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9" name="!!c3_5"/>
          <p:cNvSpPr txBox="1"/>
          <p:nvPr/>
        </p:nvSpPr>
        <p:spPr>
          <a:xfrm>
            <a:off x="822960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1701</a:t>
            </a:r>
            <a:endParaRPr lang="en-US" sz="3400" dirty="0"/>
          </a:p>
        </p:txBody>
      </p:sp>
      <p:sp>
        <p:nvSpPr>
          <p:cNvPr id="30" name="!!c3_6"/>
          <p:cNvSpPr txBox="1"/>
          <p:nvPr/>
        </p:nvSpPr>
        <p:spPr>
          <a:xfrm>
            <a:off x="822960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Нейтралитет</a:t>
            </a:r>
            <a:endParaRPr lang="en-US" sz="1400" dirty="0"/>
          </a:p>
        </p:txBody>
      </p:sp>
      <p:sp>
        <p:nvSpPr>
          <p:cNvPr id="31" name="!!c3_7"/>
          <p:cNvSpPr txBox="1"/>
          <p:nvPr/>
        </p:nvSpPr>
        <p:spPr>
          <a:xfrm>
            <a:off x="822960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войне за испанское наследство союз не воюет</a:t>
            </a:r>
            <a:endParaRPr lang="en-US" sz="1300" dirty="0"/>
          </a:p>
        </p:txBody>
      </p:sp>
      <p:sp>
        <p:nvSpPr>
          <p:cNvPr id="32" name="!!c3_8"/>
          <p:cNvSpPr/>
          <p:nvPr/>
        </p:nvSpPr>
        <p:spPr>
          <a:xfrm>
            <a:off x="2999232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3" name="!!c3_9"/>
          <p:cNvSpPr txBox="1"/>
          <p:nvPr/>
        </p:nvSpPr>
        <p:spPr>
          <a:xfrm>
            <a:off x="3035808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3400" dirty="0"/>
          </a:p>
        </p:txBody>
      </p:sp>
      <p:sp>
        <p:nvSpPr>
          <p:cNvPr id="34" name="!!c3_10"/>
          <p:cNvSpPr txBox="1"/>
          <p:nvPr/>
        </p:nvSpPr>
        <p:spPr>
          <a:xfrm>
            <a:off x="3035808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Невшатель</a:t>
            </a:r>
            <a:endParaRPr lang="en-US" sz="1400" dirty="0"/>
          </a:p>
        </p:txBody>
      </p:sp>
      <p:sp>
        <p:nvSpPr>
          <p:cNvPr id="35" name="!!c3_11"/>
          <p:cNvSpPr txBox="1"/>
          <p:nvPr/>
        </p:nvSpPr>
        <p:spPr>
          <a:xfrm>
            <a:off x="3035808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Княжество переходит к королю Пруссии</a:t>
            </a:r>
            <a:endParaRPr lang="en-US" sz="1300" dirty="0"/>
          </a:p>
        </p:txBody>
      </p:sp>
      <p:sp>
        <p:nvSpPr>
          <p:cNvPr id="36" name="!!c3_12"/>
          <p:cNvSpPr/>
          <p:nvPr/>
        </p:nvSpPr>
        <p:spPr>
          <a:xfrm>
            <a:off x="5212080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7" name="!!c3_13"/>
          <p:cNvSpPr txBox="1"/>
          <p:nvPr/>
        </p:nvSpPr>
        <p:spPr>
          <a:xfrm>
            <a:off x="5248656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1709</a:t>
            </a:r>
            <a:endParaRPr lang="en-US" sz="3400" dirty="0"/>
          </a:p>
        </p:txBody>
      </p:sp>
      <p:sp>
        <p:nvSpPr>
          <p:cNvPr id="38" name="!!c3_14"/>
          <p:cNvSpPr txBox="1"/>
          <p:nvPr/>
        </p:nvSpPr>
        <p:spPr>
          <a:xfrm>
            <a:off x="5248656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Мальплаке</a:t>
            </a:r>
            <a:endParaRPr lang="en-US" sz="1400" dirty="0"/>
          </a:p>
        </p:txBody>
      </p:sp>
      <p:sp>
        <p:nvSpPr>
          <p:cNvPr id="39" name="!!c3_15"/>
          <p:cNvSpPr txBox="1"/>
          <p:nvPr/>
        </p:nvSpPr>
        <p:spPr>
          <a:xfrm>
            <a:off x="5248656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сражаются по обе стороны</a:t>
            </a:r>
            <a:endParaRPr lang="en-US" sz="1300" dirty="0"/>
          </a:p>
        </p:txBody>
      </p:sp>
      <p:sp>
        <p:nvSpPr>
          <p:cNvPr id="40" name="!!c3_16"/>
          <p:cNvSpPr/>
          <p:nvPr/>
        </p:nvSpPr>
        <p:spPr>
          <a:xfrm>
            <a:off x="7424928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41" name="!!c3_17"/>
          <p:cNvSpPr txBox="1"/>
          <p:nvPr/>
        </p:nvSpPr>
        <p:spPr>
          <a:xfrm>
            <a:off x="7461504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1712</a:t>
            </a:r>
            <a:endParaRPr lang="en-US" sz="3400" dirty="0"/>
          </a:p>
        </p:txBody>
      </p:sp>
      <p:sp>
        <p:nvSpPr>
          <p:cNvPr id="42" name="!!c3_18"/>
          <p:cNvSpPr txBox="1"/>
          <p:nvPr/>
        </p:nvSpPr>
        <p:spPr>
          <a:xfrm>
            <a:off x="7461504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Вильмерген</a:t>
            </a:r>
            <a:endParaRPr lang="en-US" sz="1400" dirty="0"/>
          </a:p>
        </p:txBody>
      </p:sp>
      <p:sp>
        <p:nvSpPr>
          <p:cNvPr id="43" name="!!c3_19"/>
          <p:cNvSpPr txBox="1"/>
          <p:nvPr/>
        </p:nvSpPr>
        <p:spPr>
          <a:xfrm>
            <a:off x="7461504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Протестанты Цюриха и Берна побеждают католиков</a:t>
            </a:r>
            <a:endParaRPr lang="en-US" sz="1300" dirty="0"/>
          </a:p>
        </p:txBody>
      </p:sp>
      <p:sp>
        <p:nvSpPr>
          <p:cNvPr id="44" name="!!c3_20"/>
          <p:cNvSpPr/>
          <p:nvPr/>
        </p:nvSpPr>
        <p:spPr>
          <a:xfrm>
            <a:off x="9637776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45" name="!!c3_21"/>
          <p:cNvSpPr txBox="1"/>
          <p:nvPr/>
        </p:nvSpPr>
        <p:spPr>
          <a:xfrm>
            <a:off x="9674352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1723</a:t>
            </a:r>
            <a:endParaRPr lang="en-US" sz="3400" dirty="0"/>
          </a:p>
        </p:txBody>
      </p:sp>
      <p:sp>
        <p:nvSpPr>
          <p:cNvPr id="46" name="!!c3_22"/>
          <p:cNvSpPr txBox="1"/>
          <p:nvPr/>
        </p:nvSpPr>
        <p:spPr>
          <a:xfrm>
            <a:off x="9674352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Майор Давель</a:t>
            </a:r>
            <a:endParaRPr lang="en-US" sz="1400" dirty="0"/>
          </a:p>
        </p:txBody>
      </p:sp>
      <p:sp>
        <p:nvSpPr>
          <p:cNvPr id="47" name="!!c3_23"/>
          <p:cNvSpPr txBox="1"/>
          <p:nvPr/>
        </p:nvSpPr>
        <p:spPr>
          <a:xfrm>
            <a:off x="9674352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Восстание в земле Во против власти Берна</a:t>
            </a:r>
            <a:endParaRPr lang="en-US" sz="1300" dirty="0"/>
          </a:p>
        </p:txBody>
      </p:sp>
      <p:sp>
        <p:nvSpPr>
          <p:cNvPr id="48" name="!!c3_24"/>
          <p:cNvSpPr txBox="1"/>
          <p:nvPr/>
        </p:nvSpPr>
        <p:spPr>
          <a:xfrm>
            <a:off x="777240" y="50292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Нейтралитет — это когда страна не участвует в чужих войнах; поэтому армии соседей на землю Швейцарии не вступали. Протестанты и католики — христиане разных церквей, которые тогда враждовали.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hade" descr="img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11480"/>
            <a:ext cx="566928" cy="668975"/>
          </a:xfrm>
          <a:prstGeom prst="rect">
            <a:avLst/>
          </a:prstGeom>
        </p:spPr>
      </p:pic>
      <p:sp>
        <p:nvSpPr>
          <p:cNvPr id="4" name="!!c3_0"/>
          <p:cNvSpPr txBox="1"/>
          <p:nvPr/>
        </p:nvSpPr>
        <p:spPr>
          <a:xfrm>
            <a:off x="-11871655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III</a:t>
            </a:r>
            <a:endParaRPr lang="en-US" sz="1300" dirty="0"/>
          </a:p>
        </p:txBody>
      </p:sp>
      <p:sp>
        <p:nvSpPr>
          <p:cNvPr id="5" name="!!c3_1"/>
          <p:cNvSpPr txBox="1"/>
          <p:nvPr/>
        </p:nvSpPr>
        <p:spPr>
          <a:xfrm>
            <a:off x="-11871655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начала века</a:t>
            </a:r>
            <a:endParaRPr lang="en-US" sz="4000" dirty="0"/>
          </a:p>
        </p:txBody>
      </p:sp>
      <p:sp>
        <p:nvSpPr>
          <p:cNvPr id="6" name="!!c3_2"/>
          <p:cNvSpPr txBox="1"/>
          <p:nvPr/>
        </p:nvSpPr>
        <p:spPr>
          <a:xfrm>
            <a:off x="-2499055" y="6053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  <p:sp>
        <p:nvSpPr>
          <p:cNvPr id="7" name="!!c3_3"/>
          <p:cNvSpPr/>
          <p:nvPr/>
        </p:nvSpPr>
        <p:spPr>
          <a:xfrm>
            <a:off x="-11871655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8" name="!!c3_4"/>
          <p:cNvSpPr/>
          <p:nvPr/>
        </p:nvSpPr>
        <p:spPr>
          <a:xfrm>
            <a:off x="-11862511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9" name="!!c3_5"/>
          <p:cNvSpPr txBox="1"/>
          <p:nvPr/>
        </p:nvSpPr>
        <p:spPr>
          <a:xfrm>
            <a:off x="-11825935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1701</a:t>
            </a:r>
            <a:endParaRPr lang="en-US" sz="3400" dirty="0"/>
          </a:p>
        </p:txBody>
      </p:sp>
      <p:sp>
        <p:nvSpPr>
          <p:cNvPr id="10" name="!!c3_6"/>
          <p:cNvSpPr txBox="1"/>
          <p:nvPr/>
        </p:nvSpPr>
        <p:spPr>
          <a:xfrm>
            <a:off x="-11825935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Нейтралитет</a:t>
            </a:r>
            <a:endParaRPr lang="en-US" sz="1400" dirty="0"/>
          </a:p>
        </p:txBody>
      </p:sp>
      <p:sp>
        <p:nvSpPr>
          <p:cNvPr id="11" name="!!c3_7"/>
          <p:cNvSpPr txBox="1"/>
          <p:nvPr/>
        </p:nvSpPr>
        <p:spPr>
          <a:xfrm>
            <a:off x="-11825935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войне за испанское наследство союз не воюет</a:t>
            </a:r>
            <a:endParaRPr lang="en-US" sz="1300" dirty="0"/>
          </a:p>
        </p:txBody>
      </p:sp>
      <p:sp>
        <p:nvSpPr>
          <p:cNvPr id="12" name="!!c3_8"/>
          <p:cNvSpPr/>
          <p:nvPr/>
        </p:nvSpPr>
        <p:spPr>
          <a:xfrm>
            <a:off x="-9649663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3" name="!!c3_9"/>
          <p:cNvSpPr txBox="1"/>
          <p:nvPr/>
        </p:nvSpPr>
        <p:spPr>
          <a:xfrm>
            <a:off x="-9613087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3400" dirty="0"/>
          </a:p>
        </p:txBody>
      </p:sp>
      <p:sp>
        <p:nvSpPr>
          <p:cNvPr id="14" name="!!c3_10"/>
          <p:cNvSpPr txBox="1"/>
          <p:nvPr/>
        </p:nvSpPr>
        <p:spPr>
          <a:xfrm>
            <a:off x="-9613087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Невшатель</a:t>
            </a:r>
            <a:endParaRPr lang="en-US" sz="1400" dirty="0"/>
          </a:p>
        </p:txBody>
      </p:sp>
      <p:sp>
        <p:nvSpPr>
          <p:cNvPr id="15" name="!!c3_11"/>
          <p:cNvSpPr txBox="1"/>
          <p:nvPr/>
        </p:nvSpPr>
        <p:spPr>
          <a:xfrm>
            <a:off x="-9613087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Княжество переходит к королю Пруссии</a:t>
            </a:r>
            <a:endParaRPr lang="en-US" sz="1300" dirty="0"/>
          </a:p>
        </p:txBody>
      </p:sp>
      <p:sp>
        <p:nvSpPr>
          <p:cNvPr id="16" name="!!c3_12"/>
          <p:cNvSpPr/>
          <p:nvPr/>
        </p:nvSpPr>
        <p:spPr>
          <a:xfrm>
            <a:off x="-7436815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7" name="!!c3_13"/>
          <p:cNvSpPr txBox="1"/>
          <p:nvPr/>
        </p:nvSpPr>
        <p:spPr>
          <a:xfrm>
            <a:off x="-7400239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1709</a:t>
            </a:r>
            <a:endParaRPr lang="en-US" sz="3400" dirty="0"/>
          </a:p>
        </p:txBody>
      </p:sp>
      <p:sp>
        <p:nvSpPr>
          <p:cNvPr id="18" name="!!c3_14"/>
          <p:cNvSpPr txBox="1"/>
          <p:nvPr/>
        </p:nvSpPr>
        <p:spPr>
          <a:xfrm>
            <a:off x="-7400239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Мальплаке</a:t>
            </a:r>
            <a:endParaRPr lang="en-US" sz="1400" dirty="0"/>
          </a:p>
        </p:txBody>
      </p:sp>
      <p:sp>
        <p:nvSpPr>
          <p:cNvPr id="19" name="!!c3_15"/>
          <p:cNvSpPr txBox="1"/>
          <p:nvPr/>
        </p:nvSpPr>
        <p:spPr>
          <a:xfrm>
            <a:off x="-7400239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сражаются по обе стороны</a:t>
            </a:r>
            <a:endParaRPr lang="en-US" sz="1300" dirty="0"/>
          </a:p>
        </p:txBody>
      </p:sp>
      <p:sp>
        <p:nvSpPr>
          <p:cNvPr id="20" name="!!c3_16"/>
          <p:cNvSpPr/>
          <p:nvPr/>
        </p:nvSpPr>
        <p:spPr>
          <a:xfrm>
            <a:off x="-5223967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1" name="!!c3_17"/>
          <p:cNvSpPr txBox="1"/>
          <p:nvPr/>
        </p:nvSpPr>
        <p:spPr>
          <a:xfrm>
            <a:off x="-5187391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1712</a:t>
            </a:r>
            <a:endParaRPr lang="en-US" sz="3400" dirty="0"/>
          </a:p>
        </p:txBody>
      </p:sp>
      <p:sp>
        <p:nvSpPr>
          <p:cNvPr id="22" name="!!c3_18"/>
          <p:cNvSpPr txBox="1"/>
          <p:nvPr/>
        </p:nvSpPr>
        <p:spPr>
          <a:xfrm>
            <a:off x="-5187391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Вильмерген</a:t>
            </a:r>
            <a:endParaRPr lang="en-US" sz="1400" dirty="0"/>
          </a:p>
        </p:txBody>
      </p:sp>
      <p:sp>
        <p:nvSpPr>
          <p:cNvPr id="23" name="!!c3_19"/>
          <p:cNvSpPr txBox="1"/>
          <p:nvPr/>
        </p:nvSpPr>
        <p:spPr>
          <a:xfrm>
            <a:off x="-5187391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Протестанты Цюриха и Берна побеждают католиков</a:t>
            </a:r>
            <a:endParaRPr lang="en-US" sz="1300" dirty="0"/>
          </a:p>
        </p:txBody>
      </p:sp>
      <p:sp>
        <p:nvSpPr>
          <p:cNvPr id="24" name="!!c3_20"/>
          <p:cNvSpPr/>
          <p:nvPr/>
        </p:nvSpPr>
        <p:spPr>
          <a:xfrm>
            <a:off x="-3011119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5" name="!!c3_21"/>
          <p:cNvSpPr txBox="1"/>
          <p:nvPr/>
        </p:nvSpPr>
        <p:spPr>
          <a:xfrm>
            <a:off x="-2974543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1723</a:t>
            </a:r>
            <a:endParaRPr lang="en-US" sz="3400" dirty="0"/>
          </a:p>
        </p:txBody>
      </p:sp>
      <p:sp>
        <p:nvSpPr>
          <p:cNvPr id="26" name="!!c3_22"/>
          <p:cNvSpPr txBox="1"/>
          <p:nvPr/>
        </p:nvSpPr>
        <p:spPr>
          <a:xfrm>
            <a:off x="-2974543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Майор Давель</a:t>
            </a:r>
            <a:endParaRPr lang="en-US" sz="1400" dirty="0"/>
          </a:p>
        </p:txBody>
      </p:sp>
      <p:sp>
        <p:nvSpPr>
          <p:cNvPr id="27" name="!!c3_23"/>
          <p:cNvSpPr txBox="1"/>
          <p:nvPr/>
        </p:nvSpPr>
        <p:spPr>
          <a:xfrm>
            <a:off x="-2974543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Восстание в земле Во против власти Берна</a:t>
            </a:r>
            <a:endParaRPr lang="en-US" sz="1300" dirty="0"/>
          </a:p>
        </p:txBody>
      </p:sp>
      <p:sp>
        <p:nvSpPr>
          <p:cNvPr id="28" name="!!c3_24"/>
          <p:cNvSpPr txBox="1"/>
          <p:nvPr/>
        </p:nvSpPr>
        <p:spPr>
          <a:xfrm>
            <a:off x="-11871655" y="50292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Нейтралитет — это когда страна не участвует в чужих войнах; поэтому армии соседей на землю Швейцарии не вступали. Протестанты и католики — христиане разных церквей, которые тогда враждовали.</a:t>
            </a:r>
            <a:endParaRPr lang="en-US" sz="1300" dirty="0"/>
          </a:p>
        </p:txBody>
      </p:sp>
      <p:sp>
        <p:nvSpPr>
          <p:cNvPr id="29" name="!!c5_0"/>
          <p:cNvSpPr txBox="1"/>
          <p:nvPr/>
        </p:nvSpPr>
        <p:spPr>
          <a:xfrm>
            <a:off x="13563295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0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ИТОГ</a:t>
            </a:r>
            <a:endParaRPr lang="en-US" sz="1400" dirty="0"/>
          </a:p>
        </p:txBody>
      </p:sp>
      <p:sp>
        <p:nvSpPr>
          <p:cNvPr id="30" name="!!c5_1"/>
          <p:cNvSpPr txBox="1"/>
          <p:nvPr/>
        </p:nvSpPr>
        <p:spPr>
          <a:xfrm>
            <a:off x="13563295" y="196596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Спасибо за внимание</a:t>
            </a:r>
            <a:endParaRPr lang="en-US" sz="4600" dirty="0"/>
          </a:p>
        </p:txBody>
      </p:sp>
      <p:sp>
        <p:nvSpPr>
          <p:cNvPr id="31" name="!!c5_2"/>
          <p:cNvSpPr txBox="1"/>
          <p:nvPr/>
        </p:nvSpPr>
        <p:spPr>
          <a:xfrm>
            <a:off x="14660575" y="3063240"/>
            <a:ext cx="8168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Швейцария осталась нейтральной в войнах Европы, но внутри спорила из-за веры и власти. Богатела она ремеслом и наёмной службой.</a:t>
            </a:r>
            <a:endParaRPr lang="en-US" sz="1900" dirty="0"/>
          </a:p>
        </p:txBody>
      </p:sp>
      <p:sp>
        <p:nvSpPr>
          <p:cNvPr id="32" name="!!c5_3"/>
          <p:cNvSpPr txBox="1"/>
          <p:nvPr/>
        </p:nvSpPr>
        <p:spPr>
          <a:xfrm>
            <a:off x="14020495" y="402336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Выполнили: ученики 8 «А» класса  ·  Кирилл Ленин и Михаил Луконин</a:t>
            </a:r>
            <a:endParaRPr lang="en-US" sz="1400" dirty="0"/>
          </a:p>
        </p:txBody>
      </p:sp>
      <p:sp>
        <p:nvSpPr>
          <p:cNvPr id="33" name="!!c5_4"/>
          <p:cNvSpPr txBox="1"/>
          <p:nvPr/>
        </p:nvSpPr>
        <p:spPr>
          <a:xfrm>
            <a:off x="14020495" y="57150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Источники: А. Я. Юдовская и др. «Всеобщая история. История Нового времени», 7–8 кл.; энциклопедические статьи о Швейцарской конфедерации</a:t>
            </a:r>
            <a:endParaRPr lang="en-US" sz="1000" dirty="0"/>
          </a:p>
        </p:txBody>
      </p:sp>
      <p:sp>
        <p:nvSpPr>
          <p:cNvPr id="34" name="!!c4_0"/>
          <p:cNvSpPr txBox="1"/>
          <p:nvPr/>
        </p:nvSpPr>
        <p:spPr>
          <a:xfrm>
            <a:off x="77724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IV</a:t>
            </a:r>
            <a:endParaRPr lang="en-US" sz="1300" dirty="0"/>
          </a:p>
        </p:txBody>
      </p:sp>
      <p:sp>
        <p:nvSpPr>
          <p:cNvPr id="35" name="!!c4_1"/>
          <p:cNvSpPr txBox="1"/>
          <p:nvPr/>
        </p:nvSpPr>
        <p:spPr>
          <a:xfrm>
            <a:off x="10149840" y="6053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  <p:pic>
        <p:nvPicPr>
          <p:cNvPr id="36" name="!!c4_2" descr="img/card_bur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777240"/>
            <a:ext cx="4937760" cy="5303520"/>
          </a:xfrm>
          <a:prstGeom prst="rect">
            <a:avLst/>
          </a:prstGeom>
        </p:spPr>
      </p:pic>
      <p:sp>
        <p:nvSpPr>
          <p:cNvPr id="37" name="!!c4_3"/>
          <p:cNvSpPr txBox="1"/>
          <p:nvPr/>
        </p:nvSpPr>
        <p:spPr>
          <a:xfrm>
            <a:off x="6492240" y="11887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10000" dirty="0"/>
          </a:p>
        </p:txBody>
      </p:sp>
      <p:sp>
        <p:nvSpPr>
          <p:cNvPr id="38" name="!!c4_4"/>
          <p:cNvSpPr txBox="1"/>
          <p:nvPr/>
        </p:nvSpPr>
        <p:spPr>
          <a:xfrm>
            <a:off x="6492240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 Базеле родился Эйлер</a:t>
            </a:r>
            <a:endParaRPr lang="en-US" sz="2400" dirty="0"/>
          </a:p>
        </p:txBody>
      </p:sp>
      <p:sp>
        <p:nvSpPr>
          <p:cNvPr id="39" name="!!c4_5"/>
          <p:cNvSpPr txBox="1"/>
          <p:nvPr/>
        </p:nvSpPr>
        <p:spPr>
          <a:xfrm>
            <a:off x="6949440" y="3749040"/>
            <a:ext cx="4023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Леонард Эйлер — один из величайших математиков. С 1727 года он работал в Петербургской академии наук — главном научном учреждении России.</a:t>
            </a:r>
            <a:endParaRPr lang="en-US" sz="1500" dirty="0"/>
          </a:p>
        </p:txBody>
      </p:sp>
      <p:sp>
        <p:nvSpPr>
          <p:cNvPr id="40" name="!!c4_6"/>
          <p:cNvSpPr txBox="1"/>
          <p:nvPr/>
        </p:nvSpPr>
        <p:spPr>
          <a:xfrm>
            <a:off x="777240" y="178308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Базель и Женева — города учёных</a:t>
            </a:r>
            <a:endParaRPr lang="en-US" sz="3000" dirty="0"/>
          </a:p>
        </p:txBody>
      </p:sp>
      <p:sp>
        <p:nvSpPr>
          <p:cNvPr id="41" name="!!c4_7"/>
          <p:cNvSpPr txBox="1"/>
          <p:nvPr/>
        </p:nvSpPr>
        <p:spPr>
          <a:xfrm>
            <a:off x="777240" y="301752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Базеле жила семья Бернулли — математиков, то есть учёных, изучающих числа, фигуры и расчёты. В Берне родился учёный Альбрехт фон Галлер, а в Женеве — философ Жан-Жак Руссо.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hade" descr="img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framea"/>
          <p:cNvSpPr/>
          <p:nvPr/>
        </p:nvSpPr>
        <p:spPr>
          <a:xfrm>
            <a:off x="548640" y="548640"/>
            <a:ext cx="11094415" cy="5760720"/>
          </a:xfrm>
          <a:prstGeom prst="rect">
            <a:avLst/>
          </a:prstGeom>
          <a:ln w="15875">
            <a:solidFill>
              <a:srgbClr val="C9A15A"/>
            </a:solidFill>
            <a:prstDash val="solid"/>
          </a:ln>
        </p:spPr>
      </p:sp>
      <p:sp>
        <p:nvSpPr>
          <p:cNvPr id="4" name="!!frameb"/>
          <p:cNvSpPr/>
          <p:nvPr/>
        </p:nvSpPr>
        <p:spPr>
          <a:xfrm>
            <a:off x="630936" y="630936"/>
            <a:ext cx="10929823" cy="5596128"/>
          </a:xfrm>
          <a:prstGeom prst="rect">
            <a:avLst/>
          </a:prstGeom>
          <a:ln w="6350">
            <a:solidFill>
              <a:srgbClr val="C9A15A"/>
            </a:solidFill>
            <a:prstDash val="solid"/>
          </a:ln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648" y="411480"/>
            <a:ext cx="914400" cy="1078992"/>
          </a:xfrm>
          <a:prstGeom prst="rect">
            <a:avLst/>
          </a:prstGeom>
        </p:spPr>
      </p:pic>
      <p:sp>
        <p:nvSpPr>
          <p:cNvPr id="6" name="!!c4_0"/>
          <p:cNvSpPr txBox="1"/>
          <p:nvPr/>
        </p:nvSpPr>
        <p:spPr>
          <a:xfrm>
            <a:off x="-11871655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IV</a:t>
            </a:r>
            <a:endParaRPr lang="en-US" sz="1300" dirty="0"/>
          </a:p>
        </p:txBody>
      </p:sp>
      <p:sp>
        <p:nvSpPr>
          <p:cNvPr id="7" name="!!c4_1"/>
          <p:cNvSpPr txBox="1"/>
          <p:nvPr/>
        </p:nvSpPr>
        <p:spPr>
          <a:xfrm>
            <a:off x="-2499055" y="6053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  <p:pic>
        <p:nvPicPr>
          <p:cNvPr id="8" name="!!c4_2" descr="img/card_bur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156655" y="777240"/>
            <a:ext cx="4937760" cy="5303520"/>
          </a:xfrm>
          <a:prstGeom prst="rect">
            <a:avLst/>
          </a:prstGeom>
        </p:spPr>
      </p:pic>
      <p:sp>
        <p:nvSpPr>
          <p:cNvPr id="9" name="!!c4_3"/>
          <p:cNvSpPr txBox="1"/>
          <p:nvPr/>
        </p:nvSpPr>
        <p:spPr>
          <a:xfrm>
            <a:off x="-6156655" y="11887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10000" dirty="0"/>
          </a:p>
        </p:txBody>
      </p:sp>
      <p:sp>
        <p:nvSpPr>
          <p:cNvPr id="10" name="!!c4_4"/>
          <p:cNvSpPr txBox="1"/>
          <p:nvPr/>
        </p:nvSpPr>
        <p:spPr>
          <a:xfrm>
            <a:off x="-6156655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 Базеле родился Эйлер</a:t>
            </a:r>
            <a:endParaRPr lang="en-US" sz="2400" dirty="0"/>
          </a:p>
        </p:txBody>
      </p:sp>
      <p:sp>
        <p:nvSpPr>
          <p:cNvPr id="11" name="!!c4_5"/>
          <p:cNvSpPr txBox="1"/>
          <p:nvPr/>
        </p:nvSpPr>
        <p:spPr>
          <a:xfrm>
            <a:off x="-5699455" y="3749040"/>
            <a:ext cx="4023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Леонард Эйлер — один из величайших математиков. С 1727 года он работал в Петербургской академии наук — главном научном учреждении России.</a:t>
            </a:r>
            <a:endParaRPr lang="en-US" sz="1500" dirty="0"/>
          </a:p>
        </p:txBody>
      </p:sp>
      <p:sp>
        <p:nvSpPr>
          <p:cNvPr id="12" name="!!c4_6"/>
          <p:cNvSpPr txBox="1"/>
          <p:nvPr/>
        </p:nvSpPr>
        <p:spPr>
          <a:xfrm>
            <a:off x="-11871655" y="178308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Базель и Женева — города учёных</a:t>
            </a:r>
            <a:endParaRPr lang="en-US" sz="3000" dirty="0"/>
          </a:p>
        </p:txBody>
      </p:sp>
      <p:sp>
        <p:nvSpPr>
          <p:cNvPr id="13" name="!!c4_7"/>
          <p:cNvSpPr txBox="1"/>
          <p:nvPr/>
        </p:nvSpPr>
        <p:spPr>
          <a:xfrm>
            <a:off x="-11871655" y="301752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Базеле жила семья Бернулли — математиков, то есть учёных, изучающих числа, фигуры и расчёты. В Берне родился учёный Альбрехт фон Галлер, а в Женеве — философ Жан-Жак Руссо.</a:t>
            </a:r>
            <a:endParaRPr lang="en-US" sz="1600" dirty="0"/>
          </a:p>
        </p:txBody>
      </p:sp>
      <p:sp>
        <p:nvSpPr>
          <p:cNvPr id="14" name="!!c5_0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0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ИТОГ</a:t>
            </a:r>
            <a:endParaRPr lang="en-US" sz="1400" dirty="0"/>
          </a:p>
        </p:txBody>
      </p:sp>
      <p:sp>
        <p:nvSpPr>
          <p:cNvPr id="15" name="!!c5_1"/>
          <p:cNvSpPr txBox="1"/>
          <p:nvPr/>
        </p:nvSpPr>
        <p:spPr>
          <a:xfrm>
            <a:off x="914400" y="196596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Спасибо за внимание</a:t>
            </a:r>
            <a:endParaRPr lang="en-US" sz="4600" dirty="0"/>
          </a:p>
        </p:txBody>
      </p:sp>
      <p:sp>
        <p:nvSpPr>
          <p:cNvPr id="16" name="!!c5_2"/>
          <p:cNvSpPr txBox="1"/>
          <p:nvPr/>
        </p:nvSpPr>
        <p:spPr>
          <a:xfrm>
            <a:off x="2011680" y="3063240"/>
            <a:ext cx="8168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Швейцария осталась нейтральной в войнах Европы, но внутри спорила из-за веры и власти. Богатела она ремеслом и наёмной службой.</a:t>
            </a:r>
            <a:endParaRPr lang="en-US" sz="1900" dirty="0"/>
          </a:p>
        </p:txBody>
      </p:sp>
      <p:sp>
        <p:nvSpPr>
          <p:cNvPr id="17" name="!!c5_3"/>
          <p:cNvSpPr txBox="1"/>
          <p:nvPr/>
        </p:nvSpPr>
        <p:spPr>
          <a:xfrm>
            <a:off x="1371600" y="402336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Выполнили: ученики 8 «А» класса  ·  Кирилл Ленин и Михаил Луконин</a:t>
            </a:r>
            <a:endParaRPr lang="en-US" sz="1400" dirty="0"/>
          </a:p>
        </p:txBody>
      </p:sp>
      <p:sp>
        <p:nvSpPr>
          <p:cNvPr id="18" name="!!c5_4"/>
          <p:cNvSpPr txBox="1"/>
          <p:nvPr/>
        </p:nvSpPr>
        <p:spPr>
          <a:xfrm>
            <a:off x="1371600" y="57150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Источники: А. Я. Юдовская и др. «Всеобщая история. История Нового времени», 7–8 кл.; энциклопедические статьи о Швейцарской конфедерации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Швейцария в начале XVIII века</dc:title>
  <dc:subject>PptxGenJS Presentation</dc:subject>
  <dc:creator>PptxGenJS</dc:creator>
  <cp:lastModifiedBy>PptxGenJS</cp:lastModifiedBy>
  <cp:revision>1</cp:revision>
  <dcterms:created xsi:type="dcterms:W3CDTF">2026-10-05T04:49:58Z</dcterms:created>
  <dcterms:modified xsi:type="dcterms:W3CDTF">2026-10-05T04:49:58Z</dcterms:modified>
</cp:coreProperties>
</file>