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Тема нашего проекта — «Швейцария в начале XVIII века». Это время, когда по Европе шли большие войны: за испанское наследство, Северная война. Швейцария была маленьким союзом горных кантонов без короля и общей армии. Мы расскажем, как она была устроена, чем жили её люди, какие события произошли в начале века и почему Швейцария смогла остаться в стороне от войн.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 1700 году Швейцария — это союз тринадцати кантонов: Ури, Швиц, Унтервальден, Люцерн, Цюрих, Гларус, Цуг, Берн, Фрибур, Золотурн, Базель, Шаффхаузен и Аппенцелль. Общего правительства и столицы не было. Общие дела обсуждал сейм — съезд послов от кантонов, а решения каждый кантон мог принять или не принять. Рядом с кантонами были их союзники — Женева, Граубюнден, Вале, Невшатель. А ещё были подвластные земли, например Тургау или земли на юге, в Тичино: ими кантоны управляли сообща и присылали туда своих наместников.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жила страна? Первое — наёмная служба. Швейцарские полки служили Франции, Голландии, Испании и другим странам. Деньги, которые получали солдаты и их командиры, кормили многие горные деревни. Второе — ремесло. В деревнях вокруг Цюриха крестьяне дома пряли хлопок и ткали ткани для городских купцов. В Женеве и в горах Юры делали часы; на рубеже XVII и XVIII веков часовое дело в Юре начал развивать мастер Даниэль Жанришар. Третье — власть патрициев. В Берне, Люцерне и других городах правили немногие знатные семьи. В Берне их называли «милостивые господа». Крестьяне и жители подвластных земель права голоса не имели.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главные события начала века. С 1701 года шла война за испанское наследство, но Швейцарский союз в ней не участвовал и сохранил нейтралитет. В 1707 году княжество Невшатель выбрало своим правителем короля Пруссии. В 1709 году в битве при Мальплаке швейцарские полки на французской и на голландской службе сражались друг против друга — это показывает, как необычно жила страна наёмников. В 1712 году между кантонами вспыхнула война из-за веры: протестанты Цюриха и Берна разбили католические кантоны при Вильмергене и стали сильнейшими в союзе. А в 1723 году майор Давель поднял в земле Во восстание против власти Берна; восстание не удалось, и Давеля казнили.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Начало XVIII века — время швейцарских учёных. В Базеле жила знаменитая семья математиков Бернулли. В 1707 году в Базеле родился Леонард Эйлер, ученик Иоганна Бернулли. С 1727 года он работал в Петербургской академии наук и большую часть жизни провёл в России. В 1708 году в Берне родился учёный и поэт Альбрехт фон Галлер, а в 1712 году в Женеве — философ Жан-Жак Руссо. Так маленькая страна дала Европе великих мыслителей.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итог. В начале XVIII века Швейцария оставалась нейтральной, хотя вокруг шли большие войны, а её солдаты служили чужим армиям. Внутри страны были споры из-за веры и власти — как Вильмергенская война и восстание Давеля. Богатела Швейцария ремеслом, торговлей и наёмной службой, а её учёные, как Эйлер, прославились на всю Европу. Спасибо за внимание! Готовы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jp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68000"/>
            </a:srgbClr>
          </a:solidFill>
          <a:ln/>
        </p:spPr>
      </p:sp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928" y="777240"/>
            <a:ext cx="1005840" cy="1186891"/>
          </a:xfrm>
          <a:prstGeom prst="rect">
            <a:avLst/>
          </a:prstGeom>
        </p:spPr>
      </p:pic>
      <p:sp>
        <p:nvSpPr>
          <p:cNvPr id="6" name="!!c1_0"/>
          <p:cNvSpPr txBox="1"/>
          <p:nvPr/>
        </p:nvSpPr>
        <p:spPr>
          <a:xfrm>
            <a:off x="19186855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  ·  1700</a:t>
            </a:r>
            <a:endParaRPr lang="en-US" sz="1300" dirty="0"/>
          </a:p>
        </p:txBody>
      </p:sp>
      <p:sp>
        <p:nvSpPr>
          <p:cNvPr id="7" name="!!c1_1"/>
          <p:cNvSpPr txBox="1"/>
          <p:nvPr/>
        </p:nvSpPr>
        <p:spPr>
          <a:xfrm>
            <a:off x="19186855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Каким был союз</a:t>
            </a:r>
            <a:endParaRPr lang="en-US" sz="3200" dirty="0"/>
          </a:p>
        </p:txBody>
      </p:sp>
      <p:sp>
        <p:nvSpPr>
          <p:cNvPr id="8" name="!!c1_2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9" name="!!c1_3"/>
          <p:cNvSpPr txBox="1"/>
          <p:nvPr/>
        </p:nvSpPr>
        <p:spPr>
          <a:xfrm>
            <a:off x="19186855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</a:t>
            </a:r>
            <a:endParaRPr lang="en-US" sz="6600" dirty="0"/>
          </a:p>
        </p:txBody>
      </p:sp>
      <p:sp>
        <p:nvSpPr>
          <p:cNvPr id="10" name="!!c1_4"/>
          <p:cNvSpPr txBox="1"/>
          <p:nvPr/>
        </p:nvSpPr>
        <p:spPr>
          <a:xfrm>
            <a:off x="20101255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1700 году Швейцарию составляли 13 кантонов. Общего правительства и столицы не было: общие дела решал сейм.</a:t>
            </a:r>
            <a:endParaRPr lang="en-US" sz="1500" dirty="0"/>
          </a:p>
        </p:txBody>
      </p:sp>
      <p:sp>
        <p:nvSpPr>
          <p:cNvPr id="11" name="!!c1_5"/>
          <p:cNvSpPr txBox="1"/>
          <p:nvPr/>
        </p:nvSpPr>
        <p:spPr>
          <a:xfrm>
            <a:off x="19186855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Рядом были союзники — Женева, Граубюнден, Вале, Невшатель. Подвластными землями, например Тургау, кантоны управляли сообща.</a:t>
            </a:r>
            <a:endParaRPr lang="en-US" sz="1500" dirty="0"/>
          </a:p>
        </p:txBody>
      </p:sp>
      <p:sp>
        <p:nvSpPr>
          <p:cNvPr id="12" name="!!c1_6"/>
          <p:cNvSpPr/>
          <p:nvPr/>
        </p:nvSpPr>
        <p:spPr>
          <a:xfrm>
            <a:off x="13426135" y="5029200"/>
            <a:ext cx="5120640" cy="1188720"/>
          </a:xfrm>
          <a:prstGeom prst="rect">
            <a:avLst/>
          </a:prstGeom>
          <a:solidFill>
            <a:srgbClr val="F3E8CF">
              <a:alpha val="65000"/>
            </a:srgbClr>
          </a:solidFill>
          <a:ln w="9525">
            <a:solidFill>
              <a:srgbClr val="C9A15A"/>
            </a:solidFill>
            <a:prstDash val="solid"/>
          </a:ln>
        </p:spPr>
      </p:sp>
      <p:sp>
        <p:nvSpPr>
          <p:cNvPr id="13" name="!!c1_7"/>
          <p:cNvSpPr txBox="1"/>
          <p:nvPr/>
        </p:nvSpPr>
        <p:spPr>
          <a:xfrm>
            <a:off x="13609015" y="5138928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СЛОВАРИК</a:t>
            </a:r>
            <a:endParaRPr lang="en-US" sz="1000" dirty="0"/>
          </a:p>
        </p:txBody>
      </p:sp>
      <p:sp>
        <p:nvSpPr>
          <p:cNvPr id="14" name="!!c1_8"/>
          <p:cNvSpPr txBox="1"/>
          <p:nvPr/>
        </p:nvSpPr>
        <p:spPr>
          <a:xfrm>
            <a:off x="13609015" y="541324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Кантон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область-государство внутри Швейцарского союза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Сейм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собрание послов всех кантонов для общих дел</a:t>
            </a:r>
            <a:endParaRPr lang="en-US" sz="1250" dirty="0"/>
          </a:p>
        </p:txBody>
      </p:sp>
      <p:sp>
        <p:nvSpPr>
          <p:cNvPr id="15" name="!!c1_9"/>
          <p:cNvSpPr txBox="1"/>
          <p:nvPr/>
        </p:nvSpPr>
        <p:spPr>
          <a:xfrm>
            <a:off x="19186855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Каждый кантон жил по своим законам, чеканил свою монету и сам решал, с кем дружить.</a:t>
            </a:r>
            <a:endParaRPr lang="en-US" sz="1600" dirty="0"/>
          </a:p>
        </p:txBody>
      </p:sp>
      <p:sp>
        <p:nvSpPr>
          <p:cNvPr id="16" name="!!c0_0"/>
          <p:cNvSpPr txBox="1"/>
          <p:nvPr/>
        </p:nvSpPr>
        <p:spPr>
          <a:xfrm>
            <a:off x="914400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ШВЕЙЦАРСКИЙ СОЮЗ  ·  1700 — 1730</a:t>
            </a:r>
            <a:endParaRPr lang="en-US" sz="1300" dirty="0"/>
          </a:p>
        </p:txBody>
      </p:sp>
      <p:sp>
        <p:nvSpPr>
          <p:cNvPr id="17" name="!!c0_1"/>
          <p:cNvSpPr txBox="1"/>
          <p:nvPr/>
        </p:nvSpPr>
        <p:spPr>
          <a:xfrm>
            <a:off x="640080" y="2651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Швейцария в начале XVIII века</a:t>
            </a:r>
            <a:endParaRPr lang="en-US" sz="4400" dirty="0"/>
          </a:p>
        </p:txBody>
      </p:sp>
      <p:sp>
        <p:nvSpPr>
          <p:cNvPr id="18" name="!!c0_2"/>
          <p:cNvSpPr txBox="1"/>
          <p:nvPr/>
        </p:nvSpPr>
        <p:spPr>
          <a:xfrm>
            <a:off x="1828800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среди больших войн Европы</a:t>
            </a:r>
            <a:endParaRPr lang="en-US" sz="2100" dirty="0"/>
          </a:p>
        </p:txBody>
      </p:sp>
      <p:sp>
        <p:nvSpPr>
          <p:cNvPr id="19" name="!!c0_3"/>
          <p:cNvSpPr txBox="1"/>
          <p:nvPr/>
        </p:nvSpPr>
        <p:spPr>
          <a:xfrm>
            <a:off x="1371600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«А» класс  ·  Кирилл Ленин и Михаил Луконин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630936" y="630936"/>
            <a:ext cx="5413248" cy="4224528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" y="777240"/>
            <a:ext cx="5120640" cy="393192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c0_0"/>
          <p:cNvSpPr txBox="1"/>
          <p:nvPr/>
        </p:nvSpPr>
        <p:spPr>
          <a:xfrm>
            <a:off x="-11734495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ШВЕЙЦАРСКИЙ СОЮЗ  ·  1700 — 1730</a:t>
            </a:r>
            <a:endParaRPr lang="en-US" sz="1300" dirty="0"/>
          </a:p>
        </p:txBody>
      </p:sp>
      <p:sp>
        <p:nvSpPr>
          <p:cNvPr id="6" name="!!c0_1"/>
          <p:cNvSpPr txBox="1"/>
          <p:nvPr/>
        </p:nvSpPr>
        <p:spPr>
          <a:xfrm>
            <a:off x="-12008815" y="2651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Швейцария в начале XVIII века</a:t>
            </a:r>
            <a:endParaRPr lang="en-US" sz="4400" dirty="0"/>
          </a:p>
        </p:txBody>
      </p:sp>
      <p:sp>
        <p:nvSpPr>
          <p:cNvPr id="7" name="!!c0_2"/>
          <p:cNvSpPr txBox="1"/>
          <p:nvPr/>
        </p:nvSpPr>
        <p:spPr>
          <a:xfrm>
            <a:off x="-10820095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среди больших войн Европы</a:t>
            </a:r>
            <a:endParaRPr lang="en-US" sz="2100" dirty="0"/>
          </a:p>
        </p:txBody>
      </p:sp>
      <p:sp>
        <p:nvSpPr>
          <p:cNvPr id="8" name="!!c0_3"/>
          <p:cNvSpPr txBox="1"/>
          <p:nvPr/>
        </p:nvSpPr>
        <p:spPr>
          <a:xfrm>
            <a:off x="-11277295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«А» класс  ·  Кирилл Ленин и Михаил Луконин</a:t>
            </a:r>
            <a:endParaRPr lang="en-US" sz="1400" dirty="0"/>
          </a:p>
        </p:txBody>
      </p:sp>
      <p:sp>
        <p:nvSpPr>
          <p:cNvPr id="9" name="!!c2_0"/>
          <p:cNvSpPr txBox="1"/>
          <p:nvPr/>
        </p:nvSpPr>
        <p:spPr>
          <a:xfrm>
            <a:off x="13426135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</a:t>
            </a:r>
            <a:endParaRPr lang="en-US" sz="1300" dirty="0"/>
          </a:p>
        </p:txBody>
      </p:sp>
      <p:sp>
        <p:nvSpPr>
          <p:cNvPr id="10" name="!!c2_1"/>
          <p:cNvSpPr txBox="1"/>
          <p:nvPr/>
        </p:nvSpPr>
        <p:spPr>
          <a:xfrm>
            <a:off x="13426135" y="2697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Чем жила страна</a:t>
            </a:r>
            <a:endParaRPr lang="en-US" sz="3600" dirty="0"/>
          </a:p>
        </p:txBody>
      </p:sp>
      <p:sp>
        <p:nvSpPr>
          <p:cNvPr id="11" name="!!c2_2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12" name="!!c2_3"/>
          <p:cNvSpPr/>
          <p:nvPr/>
        </p:nvSpPr>
        <p:spPr>
          <a:xfrm>
            <a:off x="19461175" y="2194560"/>
            <a:ext cx="4617720" cy="1371600"/>
          </a:xfrm>
          <a:prstGeom prst="rect">
            <a:avLst/>
          </a:prstGeom>
          <a:solidFill>
            <a:srgbClr val="F3E8CF">
              <a:alpha val="65000"/>
            </a:srgbClr>
          </a:solidFill>
          <a:ln w="9525">
            <a:solidFill>
              <a:srgbClr val="C9A15A"/>
            </a:solidFill>
            <a:prstDash val="solid"/>
          </a:ln>
        </p:spPr>
      </p:sp>
      <p:sp>
        <p:nvSpPr>
          <p:cNvPr id="13" name="!!c2_4"/>
          <p:cNvSpPr txBox="1"/>
          <p:nvPr/>
        </p:nvSpPr>
        <p:spPr>
          <a:xfrm>
            <a:off x="19644055" y="2304288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СЛОВАРИК</a:t>
            </a:r>
            <a:endParaRPr lang="en-US" sz="1000" dirty="0"/>
          </a:p>
        </p:txBody>
      </p:sp>
      <p:sp>
        <p:nvSpPr>
          <p:cNvPr id="14" name="!!c2_5"/>
          <p:cNvSpPr txBox="1"/>
          <p:nvPr/>
        </p:nvSpPr>
        <p:spPr>
          <a:xfrm>
            <a:off x="19644055" y="2578608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Наёмник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солдат, который за плату служит чужой стране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Патриции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знатные богатые семьи, правившие городом</a:t>
            </a:r>
            <a:endParaRPr lang="en-US" sz="1250" dirty="0"/>
          </a:p>
        </p:txBody>
      </p:sp>
      <p:sp>
        <p:nvSpPr>
          <p:cNvPr id="15" name="!!c2_6"/>
          <p:cNvSpPr txBox="1"/>
          <p:nvPr/>
        </p:nvSpPr>
        <p:spPr>
          <a:xfrm>
            <a:off x="13426135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16" name="!!c2_7"/>
          <p:cNvSpPr txBox="1"/>
          <p:nvPr/>
        </p:nvSpPr>
        <p:spPr>
          <a:xfrm>
            <a:off x="13426135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Наёмная служба</a:t>
            </a:r>
            <a:endParaRPr lang="en-US" sz="1900" dirty="0"/>
          </a:p>
        </p:txBody>
      </p:sp>
      <p:sp>
        <p:nvSpPr>
          <p:cNvPr id="17" name="!!c2_8"/>
          <p:cNvSpPr txBox="1"/>
          <p:nvPr/>
        </p:nvSpPr>
        <p:spPr>
          <a:xfrm>
            <a:off x="13426135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служили Франции, Голландии и другим державам. Плата солдатам кормила многие горные деревни.</a:t>
            </a:r>
            <a:endParaRPr lang="en-US" sz="1400" dirty="0"/>
          </a:p>
        </p:txBody>
      </p:sp>
      <p:sp>
        <p:nvSpPr>
          <p:cNvPr id="18" name="!!c2_9"/>
          <p:cNvSpPr txBox="1"/>
          <p:nvPr/>
        </p:nvSpPr>
        <p:spPr>
          <a:xfrm>
            <a:off x="17147743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9" name="!!c2_10"/>
          <p:cNvSpPr txBox="1"/>
          <p:nvPr/>
        </p:nvSpPr>
        <p:spPr>
          <a:xfrm>
            <a:off x="17147743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Ремесло и часы</a:t>
            </a:r>
            <a:endParaRPr lang="en-US" sz="1900" dirty="0"/>
          </a:p>
        </p:txBody>
      </p:sp>
      <p:sp>
        <p:nvSpPr>
          <p:cNvPr id="20" name="!!c2_11"/>
          <p:cNvSpPr txBox="1"/>
          <p:nvPr/>
        </p:nvSpPr>
        <p:spPr>
          <a:xfrm>
            <a:off x="17147743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Крестьяне у Цюриха дома пряли хлопок для купцов. В Женеве и горах Юры мастера делали часы на продажу по всей Европе.</a:t>
            </a:r>
            <a:endParaRPr lang="en-US" sz="1400" dirty="0"/>
          </a:p>
        </p:txBody>
      </p:sp>
      <p:sp>
        <p:nvSpPr>
          <p:cNvPr id="21" name="!!c2_12"/>
          <p:cNvSpPr txBox="1"/>
          <p:nvPr/>
        </p:nvSpPr>
        <p:spPr>
          <a:xfrm>
            <a:off x="20869351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22" name="!!c2_13"/>
          <p:cNvSpPr txBox="1"/>
          <p:nvPr/>
        </p:nvSpPr>
        <p:spPr>
          <a:xfrm>
            <a:off x="20869351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Власть патрициев</a:t>
            </a:r>
            <a:endParaRPr lang="en-US" sz="1900" dirty="0"/>
          </a:p>
        </p:txBody>
      </p:sp>
      <p:sp>
        <p:nvSpPr>
          <p:cNvPr id="23" name="!!c2_14"/>
          <p:cNvSpPr txBox="1"/>
          <p:nvPr/>
        </p:nvSpPr>
        <p:spPr>
          <a:xfrm>
            <a:off x="20869351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Городами правили немногие знатные семьи. Крестьяне и жители подвластных земель права голоса не имели.</a:t>
            </a:r>
            <a:endParaRPr lang="en-US" sz="1400" dirty="0"/>
          </a:p>
        </p:txBody>
      </p:sp>
      <p:sp>
        <p:nvSpPr>
          <p:cNvPr id="24" name="!!c1_0"/>
          <p:cNvSpPr txBox="1"/>
          <p:nvPr/>
        </p:nvSpPr>
        <p:spPr>
          <a:xfrm>
            <a:off x="6537960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  ·  1700</a:t>
            </a:r>
            <a:endParaRPr lang="en-US" sz="1300" dirty="0"/>
          </a:p>
        </p:txBody>
      </p:sp>
      <p:sp>
        <p:nvSpPr>
          <p:cNvPr id="25" name="!!c1_1"/>
          <p:cNvSpPr txBox="1"/>
          <p:nvPr/>
        </p:nvSpPr>
        <p:spPr>
          <a:xfrm>
            <a:off x="6537960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Каким был союз</a:t>
            </a:r>
            <a:endParaRPr lang="en-US" sz="3200" dirty="0"/>
          </a:p>
        </p:txBody>
      </p:sp>
      <p:sp>
        <p:nvSpPr>
          <p:cNvPr id="26" name="!!c1_2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27" name="!!c1_3"/>
          <p:cNvSpPr txBox="1"/>
          <p:nvPr/>
        </p:nvSpPr>
        <p:spPr>
          <a:xfrm>
            <a:off x="6537960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</a:t>
            </a:r>
            <a:endParaRPr lang="en-US" sz="6600" dirty="0"/>
          </a:p>
        </p:txBody>
      </p:sp>
      <p:sp>
        <p:nvSpPr>
          <p:cNvPr id="28" name="!!c1_4"/>
          <p:cNvSpPr txBox="1"/>
          <p:nvPr/>
        </p:nvSpPr>
        <p:spPr>
          <a:xfrm>
            <a:off x="7452360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1700 году Швейцарию составляли 13 кантонов. Общего правительства и столицы не было: общие дела решал сейм.</a:t>
            </a:r>
            <a:endParaRPr lang="en-US" sz="1500" dirty="0"/>
          </a:p>
        </p:txBody>
      </p:sp>
      <p:sp>
        <p:nvSpPr>
          <p:cNvPr id="29" name="!!c1_5"/>
          <p:cNvSpPr txBox="1"/>
          <p:nvPr/>
        </p:nvSpPr>
        <p:spPr>
          <a:xfrm>
            <a:off x="6537960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Рядом были союзники — Женева, Граубюнден, Вале, Невшатель. Подвластными землями, например Тургау, кантоны управляли сообща.</a:t>
            </a:r>
            <a:endParaRPr lang="en-US" sz="1500" dirty="0"/>
          </a:p>
        </p:txBody>
      </p:sp>
      <p:sp>
        <p:nvSpPr>
          <p:cNvPr id="30" name="!!c1_6"/>
          <p:cNvSpPr/>
          <p:nvPr/>
        </p:nvSpPr>
        <p:spPr>
          <a:xfrm>
            <a:off x="777240" y="5029200"/>
            <a:ext cx="5120640" cy="1188720"/>
          </a:xfrm>
          <a:prstGeom prst="rect">
            <a:avLst/>
          </a:prstGeom>
          <a:solidFill>
            <a:srgbClr val="F3E8CF">
              <a:alpha val="65000"/>
            </a:srgbClr>
          </a:solidFill>
          <a:ln w="9525">
            <a:solidFill>
              <a:srgbClr val="C9A15A"/>
            </a:solidFill>
            <a:prstDash val="solid"/>
          </a:ln>
        </p:spPr>
      </p:sp>
      <p:sp>
        <p:nvSpPr>
          <p:cNvPr id="31" name="!!c1_7"/>
          <p:cNvSpPr txBox="1"/>
          <p:nvPr/>
        </p:nvSpPr>
        <p:spPr>
          <a:xfrm>
            <a:off x="960120" y="5138928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СЛОВАРИК</a:t>
            </a:r>
            <a:endParaRPr lang="en-US" sz="1000" dirty="0"/>
          </a:p>
        </p:txBody>
      </p:sp>
      <p:sp>
        <p:nvSpPr>
          <p:cNvPr id="32" name="!!c1_8"/>
          <p:cNvSpPr txBox="1"/>
          <p:nvPr/>
        </p:nvSpPr>
        <p:spPr>
          <a:xfrm>
            <a:off x="960120" y="541324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Кантон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область-государство внутри Швейцарского союза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Сейм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собрание послов всех кантонов для общих дел</a:t>
            </a:r>
            <a:endParaRPr lang="en-US" sz="1250" dirty="0"/>
          </a:p>
        </p:txBody>
      </p:sp>
      <p:sp>
        <p:nvSpPr>
          <p:cNvPr id="33" name="!!c1_9"/>
          <p:cNvSpPr txBox="1"/>
          <p:nvPr/>
        </p:nvSpPr>
        <p:spPr>
          <a:xfrm>
            <a:off x="6537960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Каждый кантон жил по своим законам, чеканил свою монету и сам решал, с кем дружить.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0" y="0"/>
            <a:ext cx="12191695" cy="2057400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196596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c1_0"/>
          <p:cNvSpPr txBox="1"/>
          <p:nvPr/>
        </p:nvSpPr>
        <p:spPr>
          <a:xfrm>
            <a:off x="-6110935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  ·  1700</a:t>
            </a:r>
            <a:endParaRPr lang="en-US" sz="1300" dirty="0"/>
          </a:p>
        </p:txBody>
      </p:sp>
      <p:sp>
        <p:nvSpPr>
          <p:cNvPr id="6" name="!!c1_1"/>
          <p:cNvSpPr txBox="1"/>
          <p:nvPr/>
        </p:nvSpPr>
        <p:spPr>
          <a:xfrm>
            <a:off x="-6110935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Каким был союз</a:t>
            </a:r>
            <a:endParaRPr lang="en-US" sz="3200" dirty="0"/>
          </a:p>
        </p:txBody>
      </p:sp>
      <p:sp>
        <p:nvSpPr>
          <p:cNvPr id="7" name="!!c1_2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8" name="!!c1_3"/>
          <p:cNvSpPr txBox="1"/>
          <p:nvPr/>
        </p:nvSpPr>
        <p:spPr>
          <a:xfrm>
            <a:off x="-6110935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</a:t>
            </a:r>
            <a:endParaRPr lang="en-US" sz="6600" dirty="0"/>
          </a:p>
        </p:txBody>
      </p:sp>
      <p:sp>
        <p:nvSpPr>
          <p:cNvPr id="9" name="!!c1_4"/>
          <p:cNvSpPr txBox="1"/>
          <p:nvPr/>
        </p:nvSpPr>
        <p:spPr>
          <a:xfrm>
            <a:off x="-5196535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1700 году Швейцарию составляли 13 кантонов. Общего правительства и столицы не было: общие дела решал сейм.</a:t>
            </a:r>
            <a:endParaRPr lang="en-US" sz="1500" dirty="0"/>
          </a:p>
        </p:txBody>
      </p:sp>
      <p:sp>
        <p:nvSpPr>
          <p:cNvPr id="10" name="!!c1_5"/>
          <p:cNvSpPr txBox="1"/>
          <p:nvPr/>
        </p:nvSpPr>
        <p:spPr>
          <a:xfrm>
            <a:off x="-6110935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Рядом были союзники — Женева, Граубюнден, Вале, Невшатель. Подвластными землями, например Тургау, кантоны управляли сообща.</a:t>
            </a:r>
            <a:endParaRPr lang="en-US" sz="1500" dirty="0"/>
          </a:p>
        </p:txBody>
      </p:sp>
      <p:sp>
        <p:nvSpPr>
          <p:cNvPr id="11" name="!!c1_6"/>
          <p:cNvSpPr/>
          <p:nvPr/>
        </p:nvSpPr>
        <p:spPr>
          <a:xfrm>
            <a:off x="-11871655" y="5029200"/>
            <a:ext cx="5120640" cy="1188720"/>
          </a:xfrm>
          <a:prstGeom prst="rect">
            <a:avLst/>
          </a:prstGeom>
          <a:solidFill>
            <a:srgbClr val="F3E8CF">
              <a:alpha val="65000"/>
            </a:srgbClr>
          </a:solidFill>
          <a:ln w="9525">
            <a:solidFill>
              <a:srgbClr val="C9A15A"/>
            </a:solidFill>
            <a:prstDash val="solid"/>
          </a:ln>
        </p:spPr>
      </p:sp>
      <p:sp>
        <p:nvSpPr>
          <p:cNvPr id="12" name="!!c1_7"/>
          <p:cNvSpPr txBox="1"/>
          <p:nvPr/>
        </p:nvSpPr>
        <p:spPr>
          <a:xfrm>
            <a:off x="-11688775" y="5138928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СЛОВАРИК</a:t>
            </a:r>
            <a:endParaRPr lang="en-US" sz="1000" dirty="0"/>
          </a:p>
        </p:txBody>
      </p:sp>
      <p:sp>
        <p:nvSpPr>
          <p:cNvPr id="13" name="!!c1_8"/>
          <p:cNvSpPr txBox="1"/>
          <p:nvPr/>
        </p:nvSpPr>
        <p:spPr>
          <a:xfrm>
            <a:off x="-11688775" y="541324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Кантон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область-государство внутри Швейцарского союза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Сейм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собрание послов всех кантонов для общих дел</a:t>
            </a:r>
            <a:endParaRPr lang="en-US" sz="1250" dirty="0"/>
          </a:p>
        </p:txBody>
      </p:sp>
      <p:sp>
        <p:nvSpPr>
          <p:cNvPr id="14" name="!!c1_9"/>
          <p:cNvSpPr txBox="1"/>
          <p:nvPr/>
        </p:nvSpPr>
        <p:spPr>
          <a:xfrm>
            <a:off x="-6110935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Каждый кантон жил по своим законам, чеканил свою монету и сам решал, с кем дружить.</a:t>
            </a:r>
            <a:endParaRPr lang="en-US" sz="1600" dirty="0"/>
          </a:p>
        </p:txBody>
      </p:sp>
      <p:sp>
        <p:nvSpPr>
          <p:cNvPr id="15" name="!!c3_0"/>
          <p:cNvSpPr txBox="1"/>
          <p:nvPr/>
        </p:nvSpPr>
        <p:spPr>
          <a:xfrm>
            <a:off x="13426135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III</a:t>
            </a:r>
            <a:endParaRPr lang="en-US" sz="1300" dirty="0"/>
          </a:p>
        </p:txBody>
      </p:sp>
      <p:sp>
        <p:nvSpPr>
          <p:cNvPr id="16" name="!!c3_1"/>
          <p:cNvSpPr txBox="1"/>
          <p:nvPr/>
        </p:nvSpPr>
        <p:spPr>
          <a:xfrm>
            <a:off x="13426135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начала века</a:t>
            </a:r>
            <a:endParaRPr lang="en-US" sz="4000" dirty="0"/>
          </a:p>
        </p:txBody>
      </p:sp>
      <p:sp>
        <p:nvSpPr>
          <p:cNvPr id="17" name="!!c3_2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18" name="!!c3_3"/>
          <p:cNvSpPr/>
          <p:nvPr/>
        </p:nvSpPr>
        <p:spPr>
          <a:xfrm>
            <a:off x="13426135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19" name="!!c3_4"/>
          <p:cNvSpPr/>
          <p:nvPr/>
        </p:nvSpPr>
        <p:spPr>
          <a:xfrm>
            <a:off x="13435279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0" name="!!c3_5"/>
          <p:cNvSpPr txBox="1"/>
          <p:nvPr/>
        </p:nvSpPr>
        <p:spPr>
          <a:xfrm>
            <a:off x="13471855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1701</a:t>
            </a:r>
            <a:endParaRPr lang="en-US" sz="3400" dirty="0"/>
          </a:p>
        </p:txBody>
      </p:sp>
      <p:sp>
        <p:nvSpPr>
          <p:cNvPr id="21" name="!!c3_6"/>
          <p:cNvSpPr txBox="1"/>
          <p:nvPr/>
        </p:nvSpPr>
        <p:spPr>
          <a:xfrm>
            <a:off x="13471855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Нейтралитет</a:t>
            </a:r>
            <a:endParaRPr lang="en-US" sz="1400" dirty="0"/>
          </a:p>
        </p:txBody>
      </p:sp>
      <p:sp>
        <p:nvSpPr>
          <p:cNvPr id="22" name="!!c3_7"/>
          <p:cNvSpPr txBox="1"/>
          <p:nvPr/>
        </p:nvSpPr>
        <p:spPr>
          <a:xfrm>
            <a:off x="13471855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войне за испанское наследство союз не воюет</a:t>
            </a:r>
            <a:endParaRPr lang="en-US" sz="1300" dirty="0"/>
          </a:p>
        </p:txBody>
      </p:sp>
      <p:sp>
        <p:nvSpPr>
          <p:cNvPr id="23" name="!!c3_8"/>
          <p:cNvSpPr/>
          <p:nvPr/>
        </p:nvSpPr>
        <p:spPr>
          <a:xfrm>
            <a:off x="15648127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4" name="!!c3_9"/>
          <p:cNvSpPr txBox="1"/>
          <p:nvPr/>
        </p:nvSpPr>
        <p:spPr>
          <a:xfrm>
            <a:off x="15684703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3400" dirty="0"/>
          </a:p>
        </p:txBody>
      </p:sp>
      <p:sp>
        <p:nvSpPr>
          <p:cNvPr id="25" name="!!c3_10"/>
          <p:cNvSpPr txBox="1"/>
          <p:nvPr/>
        </p:nvSpPr>
        <p:spPr>
          <a:xfrm>
            <a:off x="15684703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Невшатель</a:t>
            </a:r>
            <a:endParaRPr lang="en-US" sz="1400" dirty="0"/>
          </a:p>
        </p:txBody>
      </p:sp>
      <p:sp>
        <p:nvSpPr>
          <p:cNvPr id="26" name="!!c3_11"/>
          <p:cNvSpPr txBox="1"/>
          <p:nvPr/>
        </p:nvSpPr>
        <p:spPr>
          <a:xfrm>
            <a:off x="15684703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Княжество переходит к королю Пруссии</a:t>
            </a:r>
            <a:endParaRPr lang="en-US" sz="1300" dirty="0"/>
          </a:p>
        </p:txBody>
      </p:sp>
      <p:sp>
        <p:nvSpPr>
          <p:cNvPr id="27" name="!!c3_12"/>
          <p:cNvSpPr/>
          <p:nvPr/>
        </p:nvSpPr>
        <p:spPr>
          <a:xfrm>
            <a:off x="17860975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8" name="!!c3_13"/>
          <p:cNvSpPr txBox="1"/>
          <p:nvPr/>
        </p:nvSpPr>
        <p:spPr>
          <a:xfrm>
            <a:off x="17897551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1709</a:t>
            </a:r>
            <a:endParaRPr lang="en-US" sz="3400" dirty="0"/>
          </a:p>
        </p:txBody>
      </p:sp>
      <p:sp>
        <p:nvSpPr>
          <p:cNvPr id="29" name="!!c3_14"/>
          <p:cNvSpPr txBox="1"/>
          <p:nvPr/>
        </p:nvSpPr>
        <p:spPr>
          <a:xfrm>
            <a:off x="17897551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Мальплаке</a:t>
            </a:r>
            <a:endParaRPr lang="en-US" sz="1400" dirty="0"/>
          </a:p>
        </p:txBody>
      </p:sp>
      <p:sp>
        <p:nvSpPr>
          <p:cNvPr id="30" name="!!c3_15"/>
          <p:cNvSpPr txBox="1"/>
          <p:nvPr/>
        </p:nvSpPr>
        <p:spPr>
          <a:xfrm>
            <a:off x="17897551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сражаются по обе стороны</a:t>
            </a:r>
            <a:endParaRPr lang="en-US" sz="1300" dirty="0"/>
          </a:p>
        </p:txBody>
      </p:sp>
      <p:sp>
        <p:nvSpPr>
          <p:cNvPr id="31" name="!!c3_16"/>
          <p:cNvSpPr/>
          <p:nvPr/>
        </p:nvSpPr>
        <p:spPr>
          <a:xfrm>
            <a:off x="20073823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2" name="!!c3_17"/>
          <p:cNvSpPr txBox="1"/>
          <p:nvPr/>
        </p:nvSpPr>
        <p:spPr>
          <a:xfrm>
            <a:off x="20110399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3400" dirty="0"/>
          </a:p>
        </p:txBody>
      </p:sp>
      <p:sp>
        <p:nvSpPr>
          <p:cNvPr id="33" name="!!c3_18"/>
          <p:cNvSpPr txBox="1"/>
          <p:nvPr/>
        </p:nvSpPr>
        <p:spPr>
          <a:xfrm>
            <a:off x="20110399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Вильмерген</a:t>
            </a:r>
            <a:endParaRPr lang="en-US" sz="1400" dirty="0"/>
          </a:p>
        </p:txBody>
      </p:sp>
      <p:sp>
        <p:nvSpPr>
          <p:cNvPr id="34" name="!!c3_19"/>
          <p:cNvSpPr txBox="1"/>
          <p:nvPr/>
        </p:nvSpPr>
        <p:spPr>
          <a:xfrm>
            <a:off x="20110399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Цюриха и Берна побеждают католиков</a:t>
            </a:r>
            <a:endParaRPr lang="en-US" sz="1300" dirty="0"/>
          </a:p>
        </p:txBody>
      </p:sp>
      <p:sp>
        <p:nvSpPr>
          <p:cNvPr id="35" name="!!c3_20"/>
          <p:cNvSpPr/>
          <p:nvPr/>
        </p:nvSpPr>
        <p:spPr>
          <a:xfrm>
            <a:off x="22286671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6" name="!!c3_21"/>
          <p:cNvSpPr txBox="1"/>
          <p:nvPr/>
        </p:nvSpPr>
        <p:spPr>
          <a:xfrm>
            <a:off x="22323247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1723</a:t>
            </a:r>
            <a:endParaRPr lang="en-US" sz="3400" dirty="0"/>
          </a:p>
        </p:txBody>
      </p:sp>
      <p:sp>
        <p:nvSpPr>
          <p:cNvPr id="37" name="!!c3_22"/>
          <p:cNvSpPr txBox="1"/>
          <p:nvPr/>
        </p:nvSpPr>
        <p:spPr>
          <a:xfrm>
            <a:off x="22323247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Майор Давель</a:t>
            </a:r>
            <a:endParaRPr lang="en-US" sz="1400" dirty="0"/>
          </a:p>
        </p:txBody>
      </p:sp>
      <p:sp>
        <p:nvSpPr>
          <p:cNvPr id="38" name="!!c3_23"/>
          <p:cNvSpPr txBox="1"/>
          <p:nvPr/>
        </p:nvSpPr>
        <p:spPr>
          <a:xfrm>
            <a:off x="22323247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Восстание в земле Во против власти Берна</a:t>
            </a:r>
            <a:endParaRPr lang="en-US" sz="1300" dirty="0"/>
          </a:p>
        </p:txBody>
      </p:sp>
      <p:sp>
        <p:nvSpPr>
          <p:cNvPr id="39" name="!!c3_24"/>
          <p:cNvSpPr txBox="1"/>
          <p:nvPr/>
        </p:nvSpPr>
        <p:spPr>
          <a:xfrm>
            <a:off x="13426135" y="48463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Войны шли вокруг, но на землю самой Швейцарии чужие армии не вступали.</a:t>
            </a:r>
            <a:endParaRPr lang="en-US" sz="1200" dirty="0"/>
          </a:p>
        </p:txBody>
      </p:sp>
      <p:sp>
        <p:nvSpPr>
          <p:cNvPr id="40" name="!!c3_25"/>
          <p:cNvSpPr/>
          <p:nvPr/>
        </p:nvSpPr>
        <p:spPr>
          <a:xfrm>
            <a:off x="13426135" y="5257800"/>
            <a:ext cx="10607040" cy="868680"/>
          </a:xfrm>
          <a:prstGeom prst="rect">
            <a:avLst/>
          </a:prstGeom>
          <a:solidFill>
            <a:srgbClr val="140E0A">
              <a:alpha val="70000"/>
            </a:srgbClr>
          </a:solidFill>
          <a:ln w="9525">
            <a:solidFill>
              <a:srgbClr val="C9A15A"/>
            </a:solidFill>
            <a:prstDash val="solid"/>
          </a:ln>
        </p:spPr>
      </p:sp>
      <p:sp>
        <p:nvSpPr>
          <p:cNvPr id="41" name="!!c3_26"/>
          <p:cNvSpPr txBox="1"/>
          <p:nvPr/>
        </p:nvSpPr>
        <p:spPr>
          <a:xfrm>
            <a:off x="13609015" y="536752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СЛОВАРИК</a:t>
            </a:r>
            <a:endParaRPr lang="en-US" sz="1000" dirty="0"/>
          </a:p>
        </p:txBody>
      </p:sp>
      <p:sp>
        <p:nvSpPr>
          <p:cNvPr id="42" name="!!c3_27"/>
          <p:cNvSpPr txBox="1"/>
          <p:nvPr/>
        </p:nvSpPr>
        <p:spPr>
          <a:xfrm>
            <a:off x="13609015" y="564184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Нейтралитет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неучастие в войнах других стран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и католики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христиане разных церквей, которые долго враждовали между собой</a:t>
            </a:r>
            <a:endParaRPr lang="en-US" sz="1250" dirty="0"/>
          </a:p>
        </p:txBody>
      </p:sp>
      <p:sp>
        <p:nvSpPr>
          <p:cNvPr id="43" name="!!c2_0"/>
          <p:cNvSpPr txBox="1"/>
          <p:nvPr/>
        </p:nvSpPr>
        <p:spPr>
          <a:xfrm>
            <a:off x="777240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</a:t>
            </a:r>
            <a:endParaRPr lang="en-US" sz="1300" dirty="0"/>
          </a:p>
        </p:txBody>
      </p:sp>
      <p:sp>
        <p:nvSpPr>
          <p:cNvPr id="44" name="!!c2_1"/>
          <p:cNvSpPr txBox="1"/>
          <p:nvPr/>
        </p:nvSpPr>
        <p:spPr>
          <a:xfrm>
            <a:off x="777240" y="2697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Чем жила страна</a:t>
            </a:r>
            <a:endParaRPr lang="en-US" sz="3600" dirty="0"/>
          </a:p>
        </p:txBody>
      </p:sp>
      <p:sp>
        <p:nvSpPr>
          <p:cNvPr id="45" name="!!c2_2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46" name="!!c2_3"/>
          <p:cNvSpPr/>
          <p:nvPr/>
        </p:nvSpPr>
        <p:spPr>
          <a:xfrm>
            <a:off x="6812280" y="2194560"/>
            <a:ext cx="4617720" cy="1371600"/>
          </a:xfrm>
          <a:prstGeom prst="rect">
            <a:avLst/>
          </a:prstGeom>
          <a:solidFill>
            <a:srgbClr val="F3E8CF">
              <a:alpha val="65000"/>
            </a:srgbClr>
          </a:solidFill>
          <a:ln w="9525">
            <a:solidFill>
              <a:srgbClr val="C9A15A"/>
            </a:solidFill>
            <a:prstDash val="solid"/>
          </a:ln>
        </p:spPr>
      </p:sp>
      <p:sp>
        <p:nvSpPr>
          <p:cNvPr id="47" name="!!c2_4"/>
          <p:cNvSpPr txBox="1"/>
          <p:nvPr/>
        </p:nvSpPr>
        <p:spPr>
          <a:xfrm>
            <a:off x="6995160" y="2304288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СЛОВАРИК</a:t>
            </a:r>
            <a:endParaRPr lang="en-US" sz="1000" dirty="0"/>
          </a:p>
        </p:txBody>
      </p:sp>
      <p:sp>
        <p:nvSpPr>
          <p:cNvPr id="48" name="!!c2_5"/>
          <p:cNvSpPr txBox="1"/>
          <p:nvPr/>
        </p:nvSpPr>
        <p:spPr>
          <a:xfrm>
            <a:off x="6995160" y="2578608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Наёмник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солдат, который за плату служит чужой стране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Патриции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знатные богатые семьи, правившие городом</a:t>
            </a:r>
            <a:endParaRPr lang="en-US" sz="1250" dirty="0"/>
          </a:p>
        </p:txBody>
      </p:sp>
      <p:sp>
        <p:nvSpPr>
          <p:cNvPr id="49" name="!!c2_6"/>
          <p:cNvSpPr txBox="1"/>
          <p:nvPr/>
        </p:nvSpPr>
        <p:spPr>
          <a:xfrm>
            <a:off x="77724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50" name="!!c2_7"/>
          <p:cNvSpPr txBox="1"/>
          <p:nvPr/>
        </p:nvSpPr>
        <p:spPr>
          <a:xfrm>
            <a:off x="77724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Наёмная служба</a:t>
            </a:r>
            <a:endParaRPr lang="en-US" sz="1900" dirty="0"/>
          </a:p>
        </p:txBody>
      </p:sp>
      <p:sp>
        <p:nvSpPr>
          <p:cNvPr id="51" name="!!c2_8"/>
          <p:cNvSpPr txBox="1"/>
          <p:nvPr/>
        </p:nvSpPr>
        <p:spPr>
          <a:xfrm>
            <a:off x="777240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служили Франции, Голландии и другим державам. Плата солдатам кормила многие горные деревни.</a:t>
            </a:r>
            <a:endParaRPr lang="en-US" sz="1400" dirty="0"/>
          </a:p>
        </p:txBody>
      </p:sp>
      <p:sp>
        <p:nvSpPr>
          <p:cNvPr id="52" name="!!c2_9"/>
          <p:cNvSpPr txBox="1"/>
          <p:nvPr/>
        </p:nvSpPr>
        <p:spPr>
          <a:xfrm>
            <a:off x="4498848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53" name="!!c2_10"/>
          <p:cNvSpPr txBox="1"/>
          <p:nvPr/>
        </p:nvSpPr>
        <p:spPr>
          <a:xfrm>
            <a:off x="4498848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Ремесло и часы</a:t>
            </a:r>
            <a:endParaRPr lang="en-US" sz="1900" dirty="0"/>
          </a:p>
        </p:txBody>
      </p:sp>
      <p:sp>
        <p:nvSpPr>
          <p:cNvPr id="54" name="!!c2_11"/>
          <p:cNvSpPr txBox="1"/>
          <p:nvPr/>
        </p:nvSpPr>
        <p:spPr>
          <a:xfrm>
            <a:off x="4498848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Крестьяне у Цюриха дома пряли хлопок для купцов. В Женеве и горах Юры мастера делали часы на продажу по всей Европе.</a:t>
            </a:r>
            <a:endParaRPr lang="en-US" sz="1400" dirty="0"/>
          </a:p>
        </p:txBody>
      </p:sp>
      <p:sp>
        <p:nvSpPr>
          <p:cNvPr id="55" name="!!c2_12"/>
          <p:cNvSpPr txBox="1"/>
          <p:nvPr/>
        </p:nvSpPr>
        <p:spPr>
          <a:xfrm>
            <a:off x="8220456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56" name="!!c2_13"/>
          <p:cNvSpPr txBox="1"/>
          <p:nvPr/>
        </p:nvSpPr>
        <p:spPr>
          <a:xfrm>
            <a:off x="8220456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Власть патрициев</a:t>
            </a:r>
            <a:endParaRPr lang="en-US" sz="1900" dirty="0"/>
          </a:p>
        </p:txBody>
      </p:sp>
      <p:sp>
        <p:nvSpPr>
          <p:cNvPr id="57" name="!!c2_14"/>
          <p:cNvSpPr txBox="1"/>
          <p:nvPr/>
        </p:nvSpPr>
        <p:spPr>
          <a:xfrm>
            <a:off x="8220456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Городами правили немногие знатные семьи. Крестьяне и жители подвластных земель права голоса не имели.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4" name="!!c2_0"/>
          <p:cNvSpPr txBox="1"/>
          <p:nvPr/>
        </p:nvSpPr>
        <p:spPr>
          <a:xfrm>
            <a:off x="-11871655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</a:t>
            </a:r>
            <a:endParaRPr lang="en-US" sz="1300" dirty="0"/>
          </a:p>
        </p:txBody>
      </p:sp>
      <p:sp>
        <p:nvSpPr>
          <p:cNvPr id="5" name="!!c2_1"/>
          <p:cNvSpPr txBox="1"/>
          <p:nvPr/>
        </p:nvSpPr>
        <p:spPr>
          <a:xfrm>
            <a:off x="-11871655" y="2697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Чем жила страна</a:t>
            </a:r>
            <a:endParaRPr lang="en-US" sz="3600" dirty="0"/>
          </a:p>
        </p:txBody>
      </p:sp>
      <p:sp>
        <p:nvSpPr>
          <p:cNvPr id="6" name="!!c2_2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7" name="!!c2_3"/>
          <p:cNvSpPr/>
          <p:nvPr/>
        </p:nvSpPr>
        <p:spPr>
          <a:xfrm>
            <a:off x="-5836615" y="2194560"/>
            <a:ext cx="4617720" cy="1371600"/>
          </a:xfrm>
          <a:prstGeom prst="rect">
            <a:avLst/>
          </a:prstGeom>
          <a:solidFill>
            <a:srgbClr val="F3E8CF">
              <a:alpha val="65000"/>
            </a:srgbClr>
          </a:solidFill>
          <a:ln w="9525">
            <a:solidFill>
              <a:srgbClr val="C9A15A"/>
            </a:solidFill>
            <a:prstDash val="solid"/>
          </a:ln>
        </p:spPr>
      </p:sp>
      <p:sp>
        <p:nvSpPr>
          <p:cNvPr id="8" name="!!c2_4"/>
          <p:cNvSpPr txBox="1"/>
          <p:nvPr/>
        </p:nvSpPr>
        <p:spPr>
          <a:xfrm>
            <a:off x="-5653735" y="2304288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СЛОВАРИК</a:t>
            </a:r>
            <a:endParaRPr lang="en-US" sz="1000" dirty="0"/>
          </a:p>
        </p:txBody>
      </p:sp>
      <p:sp>
        <p:nvSpPr>
          <p:cNvPr id="9" name="!!c2_5"/>
          <p:cNvSpPr txBox="1"/>
          <p:nvPr/>
        </p:nvSpPr>
        <p:spPr>
          <a:xfrm>
            <a:off x="-5653735" y="2578608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Наёмник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солдат, который за плату служит чужой стране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Патриции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знатные богатые семьи, правившие городом</a:t>
            </a:r>
            <a:endParaRPr lang="en-US" sz="1250" dirty="0"/>
          </a:p>
        </p:txBody>
      </p:sp>
      <p:sp>
        <p:nvSpPr>
          <p:cNvPr id="10" name="!!c2_6"/>
          <p:cNvSpPr txBox="1"/>
          <p:nvPr/>
        </p:nvSpPr>
        <p:spPr>
          <a:xfrm>
            <a:off x="-11871655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11" name="!!c2_7"/>
          <p:cNvSpPr txBox="1"/>
          <p:nvPr/>
        </p:nvSpPr>
        <p:spPr>
          <a:xfrm>
            <a:off x="-11871655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Наёмная служба</a:t>
            </a:r>
            <a:endParaRPr lang="en-US" sz="1900" dirty="0"/>
          </a:p>
        </p:txBody>
      </p:sp>
      <p:sp>
        <p:nvSpPr>
          <p:cNvPr id="12" name="!!c2_8"/>
          <p:cNvSpPr txBox="1"/>
          <p:nvPr/>
        </p:nvSpPr>
        <p:spPr>
          <a:xfrm>
            <a:off x="-11871655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служили Франции, Голландии и другим державам. Плата солдатам кормила многие горные деревни.</a:t>
            </a:r>
            <a:endParaRPr lang="en-US" sz="1400" dirty="0"/>
          </a:p>
        </p:txBody>
      </p:sp>
      <p:sp>
        <p:nvSpPr>
          <p:cNvPr id="13" name="!!c2_9"/>
          <p:cNvSpPr txBox="1"/>
          <p:nvPr/>
        </p:nvSpPr>
        <p:spPr>
          <a:xfrm>
            <a:off x="-8150047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4" name="!!c2_10"/>
          <p:cNvSpPr txBox="1"/>
          <p:nvPr/>
        </p:nvSpPr>
        <p:spPr>
          <a:xfrm>
            <a:off x="-8150047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Ремесло и часы</a:t>
            </a:r>
            <a:endParaRPr lang="en-US" sz="1900" dirty="0"/>
          </a:p>
        </p:txBody>
      </p:sp>
      <p:sp>
        <p:nvSpPr>
          <p:cNvPr id="15" name="!!c2_11"/>
          <p:cNvSpPr txBox="1"/>
          <p:nvPr/>
        </p:nvSpPr>
        <p:spPr>
          <a:xfrm>
            <a:off x="-8150047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Крестьяне у Цюриха дома пряли хлопок для купцов. В Женеве и горах Юры мастера делали часы на продажу по всей Европе.</a:t>
            </a:r>
            <a:endParaRPr lang="en-US" sz="1400" dirty="0"/>
          </a:p>
        </p:txBody>
      </p:sp>
      <p:sp>
        <p:nvSpPr>
          <p:cNvPr id="16" name="!!c2_12"/>
          <p:cNvSpPr txBox="1"/>
          <p:nvPr/>
        </p:nvSpPr>
        <p:spPr>
          <a:xfrm>
            <a:off x="-4428439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17" name="!!c2_13"/>
          <p:cNvSpPr txBox="1"/>
          <p:nvPr/>
        </p:nvSpPr>
        <p:spPr>
          <a:xfrm>
            <a:off x="-4428439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Власть патрициев</a:t>
            </a:r>
            <a:endParaRPr lang="en-US" sz="1900" dirty="0"/>
          </a:p>
        </p:txBody>
      </p:sp>
      <p:sp>
        <p:nvSpPr>
          <p:cNvPr id="18" name="!!c2_14"/>
          <p:cNvSpPr txBox="1"/>
          <p:nvPr/>
        </p:nvSpPr>
        <p:spPr>
          <a:xfrm>
            <a:off x="-4428439" y="47548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Городами правили немногие знатные семьи. Крестьяне и жители подвластных земель права голоса не имели.</a:t>
            </a:r>
            <a:endParaRPr lang="en-US" sz="1400" dirty="0"/>
          </a:p>
        </p:txBody>
      </p:sp>
      <p:sp>
        <p:nvSpPr>
          <p:cNvPr id="19" name="!!c4_0"/>
          <p:cNvSpPr txBox="1"/>
          <p:nvPr/>
        </p:nvSpPr>
        <p:spPr>
          <a:xfrm>
            <a:off x="13426135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IV</a:t>
            </a:r>
            <a:endParaRPr lang="en-US" sz="1300" dirty="0"/>
          </a:p>
        </p:txBody>
      </p:sp>
      <p:sp>
        <p:nvSpPr>
          <p:cNvPr id="20" name="!!c4_1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21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9141135" y="777240"/>
            <a:ext cx="4937760" cy="5303520"/>
          </a:xfrm>
          <a:prstGeom prst="rect">
            <a:avLst/>
          </a:prstGeom>
        </p:spPr>
      </p:pic>
      <p:sp>
        <p:nvSpPr>
          <p:cNvPr id="22" name="!!c4_3"/>
          <p:cNvSpPr/>
          <p:nvPr/>
        </p:nvSpPr>
        <p:spPr>
          <a:xfrm>
            <a:off x="19141135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3" name="!!c4_4"/>
          <p:cNvSpPr txBox="1"/>
          <p:nvPr/>
        </p:nvSpPr>
        <p:spPr>
          <a:xfrm>
            <a:off x="19141135" y="11887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10000" dirty="0"/>
          </a:p>
        </p:txBody>
      </p:sp>
      <p:sp>
        <p:nvSpPr>
          <p:cNvPr id="24" name="!!c4_5"/>
          <p:cNvSpPr txBox="1"/>
          <p:nvPr/>
        </p:nvSpPr>
        <p:spPr>
          <a:xfrm>
            <a:off x="19141135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 Базеле родился Эйлер</a:t>
            </a:r>
            <a:endParaRPr lang="en-US" sz="2400" dirty="0"/>
          </a:p>
        </p:txBody>
      </p:sp>
      <p:sp>
        <p:nvSpPr>
          <p:cNvPr id="25" name="!!c4_6"/>
          <p:cNvSpPr txBox="1"/>
          <p:nvPr/>
        </p:nvSpPr>
        <p:spPr>
          <a:xfrm>
            <a:off x="19598335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Леонард Эйлер — один из величайших математиков. С 1727 года он работал в Петербургской академии наук.</a:t>
            </a:r>
            <a:endParaRPr lang="en-US" sz="1500" dirty="0"/>
          </a:p>
        </p:txBody>
      </p:sp>
      <p:sp>
        <p:nvSpPr>
          <p:cNvPr id="26" name="!!c4_7"/>
          <p:cNvSpPr txBox="1"/>
          <p:nvPr/>
        </p:nvSpPr>
        <p:spPr>
          <a:xfrm>
            <a:off x="13426135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Базель и Женева — города учёных</a:t>
            </a:r>
            <a:endParaRPr lang="en-US" sz="3000" dirty="0"/>
          </a:p>
        </p:txBody>
      </p:sp>
      <p:sp>
        <p:nvSpPr>
          <p:cNvPr id="27" name="!!c4_8"/>
          <p:cNvSpPr txBox="1"/>
          <p:nvPr/>
        </p:nvSpPr>
        <p:spPr>
          <a:xfrm>
            <a:off x="13426135" y="301752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Базеле жила знаменитая семья математиков Бернулли, в Берне родился учёный Альбрехт фон Галлер, а в Женеве — философ Жан-Жак Руссо.</a:t>
            </a:r>
            <a:endParaRPr lang="en-US" sz="1500" dirty="0"/>
          </a:p>
        </p:txBody>
      </p:sp>
      <p:sp>
        <p:nvSpPr>
          <p:cNvPr id="28" name="!!c4_9"/>
          <p:cNvSpPr/>
          <p:nvPr/>
        </p:nvSpPr>
        <p:spPr>
          <a:xfrm>
            <a:off x="13426135" y="4160520"/>
            <a:ext cx="5120640" cy="1417320"/>
          </a:xfrm>
          <a:prstGeom prst="rect">
            <a:avLst/>
          </a:prstGeom>
          <a:solidFill>
            <a:srgbClr val="140E0A">
              <a:alpha val="70000"/>
            </a:srgbClr>
          </a:solidFill>
          <a:ln w="9525">
            <a:solidFill>
              <a:srgbClr val="C9A15A"/>
            </a:solidFill>
            <a:prstDash val="solid"/>
          </a:ln>
        </p:spPr>
      </p:sp>
      <p:sp>
        <p:nvSpPr>
          <p:cNvPr id="29" name="!!c4_10"/>
          <p:cNvSpPr txBox="1"/>
          <p:nvPr/>
        </p:nvSpPr>
        <p:spPr>
          <a:xfrm>
            <a:off x="13609015" y="4270248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СЛОВАРИК</a:t>
            </a:r>
            <a:endParaRPr lang="en-US" sz="1000" dirty="0"/>
          </a:p>
        </p:txBody>
      </p:sp>
      <p:sp>
        <p:nvSpPr>
          <p:cNvPr id="30" name="!!c4_11"/>
          <p:cNvSpPr txBox="1"/>
          <p:nvPr/>
        </p:nvSpPr>
        <p:spPr>
          <a:xfrm>
            <a:off x="13609015" y="454456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Академия наук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главное научное учреждение страны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Математик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учёный, который изучает числа, фигуры и расчёты</a:t>
            </a:r>
            <a:endParaRPr lang="en-US" sz="1250" dirty="0"/>
          </a:p>
        </p:txBody>
      </p:sp>
      <p:sp>
        <p:nvSpPr>
          <p:cNvPr id="31" name="!!c3_0"/>
          <p:cNvSpPr txBox="1"/>
          <p:nvPr/>
        </p:nvSpPr>
        <p:spPr>
          <a:xfrm>
            <a:off x="777240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III</a:t>
            </a:r>
            <a:endParaRPr lang="en-US" sz="1300" dirty="0"/>
          </a:p>
        </p:txBody>
      </p:sp>
      <p:sp>
        <p:nvSpPr>
          <p:cNvPr id="32" name="!!c3_1"/>
          <p:cNvSpPr txBox="1"/>
          <p:nvPr/>
        </p:nvSpPr>
        <p:spPr>
          <a:xfrm>
            <a:off x="777240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начала века</a:t>
            </a:r>
            <a:endParaRPr lang="en-US" sz="4000" dirty="0"/>
          </a:p>
        </p:txBody>
      </p:sp>
      <p:sp>
        <p:nvSpPr>
          <p:cNvPr id="33" name="!!c3_2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34" name="!!c3_3"/>
          <p:cNvSpPr/>
          <p:nvPr/>
        </p:nvSpPr>
        <p:spPr>
          <a:xfrm>
            <a:off x="777240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35" name="!!c3_4"/>
          <p:cNvSpPr/>
          <p:nvPr/>
        </p:nvSpPr>
        <p:spPr>
          <a:xfrm>
            <a:off x="786384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6" name="!!c3_5"/>
          <p:cNvSpPr txBox="1"/>
          <p:nvPr/>
        </p:nvSpPr>
        <p:spPr>
          <a:xfrm>
            <a:off x="822960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1701</a:t>
            </a:r>
            <a:endParaRPr lang="en-US" sz="3400" dirty="0"/>
          </a:p>
        </p:txBody>
      </p:sp>
      <p:sp>
        <p:nvSpPr>
          <p:cNvPr id="37" name="!!c3_6"/>
          <p:cNvSpPr txBox="1"/>
          <p:nvPr/>
        </p:nvSpPr>
        <p:spPr>
          <a:xfrm>
            <a:off x="822960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Нейтралитет</a:t>
            </a:r>
            <a:endParaRPr lang="en-US" sz="1400" dirty="0"/>
          </a:p>
        </p:txBody>
      </p:sp>
      <p:sp>
        <p:nvSpPr>
          <p:cNvPr id="38" name="!!c3_7"/>
          <p:cNvSpPr txBox="1"/>
          <p:nvPr/>
        </p:nvSpPr>
        <p:spPr>
          <a:xfrm>
            <a:off x="822960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войне за испанское наследство союз не воюет</a:t>
            </a:r>
            <a:endParaRPr lang="en-US" sz="1300" dirty="0"/>
          </a:p>
        </p:txBody>
      </p:sp>
      <p:sp>
        <p:nvSpPr>
          <p:cNvPr id="39" name="!!c3_8"/>
          <p:cNvSpPr/>
          <p:nvPr/>
        </p:nvSpPr>
        <p:spPr>
          <a:xfrm>
            <a:off x="2999232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40" name="!!c3_9"/>
          <p:cNvSpPr txBox="1"/>
          <p:nvPr/>
        </p:nvSpPr>
        <p:spPr>
          <a:xfrm>
            <a:off x="3035808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3400" dirty="0"/>
          </a:p>
        </p:txBody>
      </p:sp>
      <p:sp>
        <p:nvSpPr>
          <p:cNvPr id="41" name="!!c3_10"/>
          <p:cNvSpPr txBox="1"/>
          <p:nvPr/>
        </p:nvSpPr>
        <p:spPr>
          <a:xfrm>
            <a:off x="3035808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Невшатель</a:t>
            </a:r>
            <a:endParaRPr lang="en-US" sz="1400" dirty="0"/>
          </a:p>
        </p:txBody>
      </p:sp>
      <p:sp>
        <p:nvSpPr>
          <p:cNvPr id="42" name="!!c3_11"/>
          <p:cNvSpPr txBox="1"/>
          <p:nvPr/>
        </p:nvSpPr>
        <p:spPr>
          <a:xfrm>
            <a:off x="3035808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Княжество переходит к королю Пруссии</a:t>
            </a:r>
            <a:endParaRPr lang="en-US" sz="1300" dirty="0"/>
          </a:p>
        </p:txBody>
      </p:sp>
      <p:sp>
        <p:nvSpPr>
          <p:cNvPr id="43" name="!!c3_12"/>
          <p:cNvSpPr/>
          <p:nvPr/>
        </p:nvSpPr>
        <p:spPr>
          <a:xfrm>
            <a:off x="5212080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44" name="!!c3_13"/>
          <p:cNvSpPr txBox="1"/>
          <p:nvPr/>
        </p:nvSpPr>
        <p:spPr>
          <a:xfrm>
            <a:off x="5248656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1709</a:t>
            </a:r>
            <a:endParaRPr lang="en-US" sz="3400" dirty="0"/>
          </a:p>
        </p:txBody>
      </p:sp>
      <p:sp>
        <p:nvSpPr>
          <p:cNvPr id="45" name="!!c3_14"/>
          <p:cNvSpPr txBox="1"/>
          <p:nvPr/>
        </p:nvSpPr>
        <p:spPr>
          <a:xfrm>
            <a:off x="5248656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Мальплаке</a:t>
            </a:r>
            <a:endParaRPr lang="en-US" sz="1400" dirty="0"/>
          </a:p>
        </p:txBody>
      </p:sp>
      <p:sp>
        <p:nvSpPr>
          <p:cNvPr id="46" name="!!c3_15"/>
          <p:cNvSpPr txBox="1"/>
          <p:nvPr/>
        </p:nvSpPr>
        <p:spPr>
          <a:xfrm>
            <a:off x="5248656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сражаются по обе стороны</a:t>
            </a:r>
            <a:endParaRPr lang="en-US" sz="1300" dirty="0"/>
          </a:p>
        </p:txBody>
      </p:sp>
      <p:sp>
        <p:nvSpPr>
          <p:cNvPr id="47" name="!!c3_16"/>
          <p:cNvSpPr/>
          <p:nvPr/>
        </p:nvSpPr>
        <p:spPr>
          <a:xfrm>
            <a:off x="7424928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48" name="!!c3_17"/>
          <p:cNvSpPr txBox="1"/>
          <p:nvPr/>
        </p:nvSpPr>
        <p:spPr>
          <a:xfrm>
            <a:off x="7461504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3400" dirty="0"/>
          </a:p>
        </p:txBody>
      </p:sp>
      <p:sp>
        <p:nvSpPr>
          <p:cNvPr id="49" name="!!c3_18"/>
          <p:cNvSpPr txBox="1"/>
          <p:nvPr/>
        </p:nvSpPr>
        <p:spPr>
          <a:xfrm>
            <a:off x="7461504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Вильмерген</a:t>
            </a:r>
            <a:endParaRPr lang="en-US" sz="1400" dirty="0"/>
          </a:p>
        </p:txBody>
      </p:sp>
      <p:sp>
        <p:nvSpPr>
          <p:cNvPr id="50" name="!!c3_19"/>
          <p:cNvSpPr txBox="1"/>
          <p:nvPr/>
        </p:nvSpPr>
        <p:spPr>
          <a:xfrm>
            <a:off x="7461504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Цюриха и Берна побеждают католиков</a:t>
            </a:r>
            <a:endParaRPr lang="en-US" sz="1300" dirty="0"/>
          </a:p>
        </p:txBody>
      </p:sp>
      <p:sp>
        <p:nvSpPr>
          <p:cNvPr id="51" name="!!c3_20"/>
          <p:cNvSpPr/>
          <p:nvPr/>
        </p:nvSpPr>
        <p:spPr>
          <a:xfrm>
            <a:off x="9637776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52" name="!!c3_21"/>
          <p:cNvSpPr txBox="1"/>
          <p:nvPr/>
        </p:nvSpPr>
        <p:spPr>
          <a:xfrm>
            <a:off x="9674352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1723</a:t>
            </a:r>
            <a:endParaRPr lang="en-US" sz="3400" dirty="0"/>
          </a:p>
        </p:txBody>
      </p:sp>
      <p:sp>
        <p:nvSpPr>
          <p:cNvPr id="53" name="!!c3_22"/>
          <p:cNvSpPr txBox="1"/>
          <p:nvPr/>
        </p:nvSpPr>
        <p:spPr>
          <a:xfrm>
            <a:off x="9674352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Майор Давель</a:t>
            </a:r>
            <a:endParaRPr lang="en-US" sz="1400" dirty="0"/>
          </a:p>
        </p:txBody>
      </p:sp>
      <p:sp>
        <p:nvSpPr>
          <p:cNvPr id="54" name="!!c3_23"/>
          <p:cNvSpPr txBox="1"/>
          <p:nvPr/>
        </p:nvSpPr>
        <p:spPr>
          <a:xfrm>
            <a:off x="9674352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Восстание в земле Во против власти Берна</a:t>
            </a:r>
            <a:endParaRPr lang="en-US" sz="1300" dirty="0"/>
          </a:p>
        </p:txBody>
      </p:sp>
      <p:sp>
        <p:nvSpPr>
          <p:cNvPr id="55" name="!!c3_24"/>
          <p:cNvSpPr txBox="1"/>
          <p:nvPr/>
        </p:nvSpPr>
        <p:spPr>
          <a:xfrm>
            <a:off x="777240" y="48463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Войны шли вокруг, но на землю самой Швейцарии чужие армии не вступали.</a:t>
            </a:r>
            <a:endParaRPr lang="en-US" sz="1200" dirty="0"/>
          </a:p>
        </p:txBody>
      </p:sp>
      <p:sp>
        <p:nvSpPr>
          <p:cNvPr id="56" name="!!c3_25"/>
          <p:cNvSpPr/>
          <p:nvPr/>
        </p:nvSpPr>
        <p:spPr>
          <a:xfrm>
            <a:off x="777240" y="5257800"/>
            <a:ext cx="10607040" cy="868680"/>
          </a:xfrm>
          <a:prstGeom prst="rect">
            <a:avLst/>
          </a:prstGeom>
          <a:solidFill>
            <a:srgbClr val="140E0A">
              <a:alpha val="70000"/>
            </a:srgbClr>
          </a:solidFill>
          <a:ln w="9525">
            <a:solidFill>
              <a:srgbClr val="C9A15A"/>
            </a:solidFill>
            <a:prstDash val="solid"/>
          </a:ln>
        </p:spPr>
      </p:sp>
      <p:sp>
        <p:nvSpPr>
          <p:cNvPr id="57" name="!!c3_26"/>
          <p:cNvSpPr txBox="1"/>
          <p:nvPr/>
        </p:nvSpPr>
        <p:spPr>
          <a:xfrm>
            <a:off x="960120" y="536752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СЛОВАРИК</a:t>
            </a:r>
            <a:endParaRPr lang="en-US" sz="1000" dirty="0"/>
          </a:p>
        </p:txBody>
      </p:sp>
      <p:sp>
        <p:nvSpPr>
          <p:cNvPr id="58" name="!!c3_27"/>
          <p:cNvSpPr txBox="1"/>
          <p:nvPr/>
        </p:nvSpPr>
        <p:spPr>
          <a:xfrm>
            <a:off x="960120" y="564184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Нейтралитет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неучастие в войнах других стран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и католики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христиане разных церквей, которые долго враждовали между собой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1480"/>
            <a:ext cx="566928" cy="668975"/>
          </a:xfrm>
          <a:prstGeom prst="rect">
            <a:avLst/>
          </a:prstGeom>
        </p:spPr>
      </p:pic>
      <p:sp>
        <p:nvSpPr>
          <p:cNvPr id="4" name="!!c3_0"/>
          <p:cNvSpPr txBox="1"/>
          <p:nvPr/>
        </p:nvSpPr>
        <p:spPr>
          <a:xfrm>
            <a:off x="-11871655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III</a:t>
            </a:r>
            <a:endParaRPr lang="en-US" sz="1300" dirty="0"/>
          </a:p>
        </p:txBody>
      </p:sp>
      <p:sp>
        <p:nvSpPr>
          <p:cNvPr id="5" name="!!c3_1"/>
          <p:cNvSpPr txBox="1"/>
          <p:nvPr/>
        </p:nvSpPr>
        <p:spPr>
          <a:xfrm>
            <a:off x="-11871655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начала века</a:t>
            </a:r>
            <a:endParaRPr lang="en-US" sz="4000" dirty="0"/>
          </a:p>
        </p:txBody>
      </p:sp>
      <p:sp>
        <p:nvSpPr>
          <p:cNvPr id="6" name="!!c3_2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7" name="!!c3_3"/>
          <p:cNvSpPr/>
          <p:nvPr/>
        </p:nvSpPr>
        <p:spPr>
          <a:xfrm>
            <a:off x="-11871655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8" name="!!c3_4"/>
          <p:cNvSpPr/>
          <p:nvPr/>
        </p:nvSpPr>
        <p:spPr>
          <a:xfrm>
            <a:off x="-11862511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9" name="!!c3_5"/>
          <p:cNvSpPr txBox="1"/>
          <p:nvPr/>
        </p:nvSpPr>
        <p:spPr>
          <a:xfrm>
            <a:off x="-11825935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1701</a:t>
            </a:r>
            <a:endParaRPr lang="en-US" sz="3400" dirty="0"/>
          </a:p>
        </p:txBody>
      </p:sp>
      <p:sp>
        <p:nvSpPr>
          <p:cNvPr id="10" name="!!c3_6"/>
          <p:cNvSpPr txBox="1"/>
          <p:nvPr/>
        </p:nvSpPr>
        <p:spPr>
          <a:xfrm>
            <a:off x="-11825935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Нейтралитет</a:t>
            </a:r>
            <a:endParaRPr lang="en-US" sz="1400" dirty="0"/>
          </a:p>
        </p:txBody>
      </p:sp>
      <p:sp>
        <p:nvSpPr>
          <p:cNvPr id="11" name="!!c3_7"/>
          <p:cNvSpPr txBox="1"/>
          <p:nvPr/>
        </p:nvSpPr>
        <p:spPr>
          <a:xfrm>
            <a:off x="-11825935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войне за испанское наследство союз не воюет</a:t>
            </a:r>
            <a:endParaRPr lang="en-US" sz="1300" dirty="0"/>
          </a:p>
        </p:txBody>
      </p:sp>
      <p:sp>
        <p:nvSpPr>
          <p:cNvPr id="12" name="!!c3_8"/>
          <p:cNvSpPr/>
          <p:nvPr/>
        </p:nvSpPr>
        <p:spPr>
          <a:xfrm>
            <a:off x="-9649663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3" name="!!c3_9"/>
          <p:cNvSpPr txBox="1"/>
          <p:nvPr/>
        </p:nvSpPr>
        <p:spPr>
          <a:xfrm>
            <a:off x="-9613087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3400" dirty="0"/>
          </a:p>
        </p:txBody>
      </p:sp>
      <p:sp>
        <p:nvSpPr>
          <p:cNvPr id="14" name="!!c3_10"/>
          <p:cNvSpPr txBox="1"/>
          <p:nvPr/>
        </p:nvSpPr>
        <p:spPr>
          <a:xfrm>
            <a:off x="-9613087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Невшатель</a:t>
            </a:r>
            <a:endParaRPr lang="en-US" sz="1400" dirty="0"/>
          </a:p>
        </p:txBody>
      </p:sp>
      <p:sp>
        <p:nvSpPr>
          <p:cNvPr id="15" name="!!c3_11"/>
          <p:cNvSpPr txBox="1"/>
          <p:nvPr/>
        </p:nvSpPr>
        <p:spPr>
          <a:xfrm>
            <a:off x="-9613087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Княжество переходит к королю Пруссии</a:t>
            </a:r>
            <a:endParaRPr lang="en-US" sz="1300" dirty="0"/>
          </a:p>
        </p:txBody>
      </p:sp>
      <p:sp>
        <p:nvSpPr>
          <p:cNvPr id="16" name="!!c3_12"/>
          <p:cNvSpPr/>
          <p:nvPr/>
        </p:nvSpPr>
        <p:spPr>
          <a:xfrm>
            <a:off x="-7436815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7" name="!!c3_13"/>
          <p:cNvSpPr txBox="1"/>
          <p:nvPr/>
        </p:nvSpPr>
        <p:spPr>
          <a:xfrm>
            <a:off x="-7400239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1709</a:t>
            </a:r>
            <a:endParaRPr lang="en-US" sz="3400" dirty="0"/>
          </a:p>
        </p:txBody>
      </p:sp>
      <p:sp>
        <p:nvSpPr>
          <p:cNvPr id="18" name="!!c3_14"/>
          <p:cNvSpPr txBox="1"/>
          <p:nvPr/>
        </p:nvSpPr>
        <p:spPr>
          <a:xfrm>
            <a:off x="-7400239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Мальплаке</a:t>
            </a:r>
            <a:endParaRPr lang="en-US" sz="1400" dirty="0"/>
          </a:p>
        </p:txBody>
      </p:sp>
      <p:sp>
        <p:nvSpPr>
          <p:cNvPr id="19" name="!!c3_15"/>
          <p:cNvSpPr txBox="1"/>
          <p:nvPr/>
        </p:nvSpPr>
        <p:spPr>
          <a:xfrm>
            <a:off x="-7400239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сражаются по обе стороны</a:t>
            </a:r>
            <a:endParaRPr lang="en-US" sz="1300" dirty="0"/>
          </a:p>
        </p:txBody>
      </p:sp>
      <p:sp>
        <p:nvSpPr>
          <p:cNvPr id="20" name="!!c3_16"/>
          <p:cNvSpPr/>
          <p:nvPr/>
        </p:nvSpPr>
        <p:spPr>
          <a:xfrm>
            <a:off x="-5223967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1" name="!!c3_17"/>
          <p:cNvSpPr txBox="1"/>
          <p:nvPr/>
        </p:nvSpPr>
        <p:spPr>
          <a:xfrm>
            <a:off x="-5187391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3400" dirty="0"/>
          </a:p>
        </p:txBody>
      </p:sp>
      <p:sp>
        <p:nvSpPr>
          <p:cNvPr id="22" name="!!c3_18"/>
          <p:cNvSpPr txBox="1"/>
          <p:nvPr/>
        </p:nvSpPr>
        <p:spPr>
          <a:xfrm>
            <a:off x="-5187391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Вильмерген</a:t>
            </a:r>
            <a:endParaRPr lang="en-US" sz="1400" dirty="0"/>
          </a:p>
        </p:txBody>
      </p:sp>
      <p:sp>
        <p:nvSpPr>
          <p:cNvPr id="23" name="!!c3_19"/>
          <p:cNvSpPr txBox="1"/>
          <p:nvPr/>
        </p:nvSpPr>
        <p:spPr>
          <a:xfrm>
            <a:off x="-5187391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Цюриха и Берна побеждают католиков</a:t>
            </a:r>
            <a:endParaRPr lang="en-US" sz="1300" dirty="0"/>
          </a:p>
        </p:txBody>
      </p:sp>
      <p:sp>
        <p:nvSpPr>
          <p:cNvPr id="24" name="!!c3_20"/>
          <p:cNvSpPr/>
          <p:nvPr/>
        </p:nvSpPr>
        <p:spPr>
          <a:xfrm>
            <a:off x="-3011119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5" name="!!c3_21"/>
          <p:cNvSpPr txBox="1"/>
          <p:nvPr/>
        </p:nvSpPr>
        <p:spPr>
          <a:xfrm>
            <a:off x="-2974543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1723</a:t>
            </a:r>
            <a:endParaRPr lang="en-US" sz="3400" dirty="0"/>
          </a:p>
        </p:txBody>
      </p:sp>
      <p:sp>
        <p:nvSpPr>
          <p:cNvPr id="26" name="!!c3_22"/>
          <p:cNvSpPr txBox="1"/>
          <p:nvPr/>
        </p:nvSpPr>
        <p:spPr>
          <a:xfrm>
            <a:off x="-2974543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Майор Давель</a:t>
            </a:r>
            <a:endParaRPr lang="en-US" sz="1400" dirty="0"/>
          </a:p>
        </p:txBody>
      </p:sp>
      <p:sp>
        <p:nvSpPr>
          <p:cNvPr id="27" name="!!c3_23"/>
          <p:cNvSpPr txBox="1"/>
          <p:nvPr/>
        </p:nvSpPr>
        <p:spPr>
          <a:xfrm>
            <a:off x="-2974543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Восстание в земле Во против власти Берна</a:t>
            </a:r>
            <a:endParaRPr lang="en-US" sz="1300" dirty="0"/>
          </a:p>
        </p:txBody>
      </p:sp>
      <p:sp>
        <p:nvSpPr>
          <p:cNvPr id="28" name="!!c3_24"/>
          <p:cNvSpPr txBox="1"/>
          <p:nvPr/>
        </p:nvSpPr>
        <p:spPr>
          <a:xfrm>
            <a:off x="-11871655" y="48463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Войны шли вокруг, но на землю самой Швейцарии чужие армии не вступали.</a:t>
            </a:r>
            <a:endParaRPr lang="en-US" sz="1200" dirty="0"/>
          </a:p>
        </p:txBody>
      </p:sp>
      <p:sp>
        <p:nvSpPr>
          <p:cNvPr id="29" name="!!c3_25"/>
          <p:cNvSpPr/>
          <p:nvPr/>
        </p:nvSpPr>
        <p:spPr>
          <a:xfrm>
            <a:off x="-11871655" y="5257800"/>
            <a:ext cx="10607040" cy="868680"/>
          </a:xfrm>
          <a:prstGeom prst="rect">
            <a:avLst/>
          </a:prstGeom>
          <a:solidFill>
            <a:srgbClr val="140E0A">
              <a:alpha val="70000"/>
            </a:srgbClr>
          </a:solidFill>
          <a:ln w="9525">
            <a:solidFill>
              <a:srgbClr val="C9A15A"/>
            </a:solidFill>
            <a:prstDash val="solid"/>
          </a:ln>
        </p:spPr>
      </p:sp>
      <p:sp>
        <p:nvSpPr>
          <p:cNvPr id="30" name="!!c3_26"/>
          <p:cNvSpPr txBox="1"/>
          <p:nvPr/>
        </p:nvSpPr>
        <p:spPr>
          <a:xfrm>
            <a:off x="-11688775" y="536752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СЛОВАРИК</a:t>
            </a:r>
            <a:endParaRPr lang="en-US" sz="1000" dirty="0"/>
          </a:p>
        </p:txBody>
      </p:sp>
      <p:sp>
        <p:nvSpPr>
          <p:cNvPr id="31" name="!!c3_27"/>
          <p:cNvSpPr txBox="1"/>
          <p:nvPr/>
        </p:nvSpPr>
        <p:spPr>
          <a:xfrm>
            <a:off x="-11688775" y="564184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Нейтралитет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неучастие в войнах других стран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и католики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христиане разных церквей, которые долго враждовали между собой</a:t>
            </a:r>
            <a:endParaRPr lang="en-US" sz="1250" dirty="0"/>
          </a:p>
        </p:txBody>
      </p:sp>
      <p:sp>
        <p:nvSpPr>
          <p:cNvPr id="32" name="!!c5_0"/>
          <p:cNvSpPr txBox="1"/>
          <p:nvPr/>
        </p:nvSpPr>
        <p:spPr>
          <a:xfrm>
            <a:off x="13563295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ИТОГ</a:t>
            </a:r>
            <a:endParaRPr lang="en-US" sz="1400" dirty="0"/>
          </a:p>
        </p:txBody>
      </p:sp>
      <p:sp>
        <p:nvSpPr>
          <p:cNvPr id="33" name="!!c5_1"/>
          <p:cNvSpPr txBox="1"/>
          <p:nvPr/>
        </p:nvSpPr>
        <p:spPr>
          <a:xfrm>
            <a:off x="13563295" y="196596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Спасибо за внимание</a:t>
            </a:r>
            <a:endParaRPr lang="en-US" sz="4600" dirty="0"/>
          </a:p>
        </p:txBody>
      </p:sp>
      <p:sp>
        <p:nvSpPr>
          <p:cNvPr id="34" name="!!c5_2"/>
          <p:cNvSpPr txBox="1"/>
          <p:nvPr/>
        </p:nvSpPr>
        <p:spPr>
          <a:xfrm>
            <a:off x="14660575" y="306324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Швейцария осталась нейтральной в войнах Европы, но внутри спорила из-за веры и власти. Богатела она ремеслом и наёмной службой.</a:t>
            </a:r>
            <a:endParaRPr lang="en-US" sz="1900" dirty="0"/>
          </a:p>
        </p:txBody>
      </p:sp>
      <p:sp>
        <p:nvSpPr>
          <p:cNvPr id="35" name="!!c5_3"/>
          <p:cNvSpPr txBox="1"/>
          <p:nvPr/>
        </p:nvSpPr>
        <p:spPr>
          <a:xfrm>
            <a:off x="14020495" y="402336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Выполнили: ученики 8 «А» класса  ·  Кирилл Ленин и Михаил Луконин</a:t>
            </a:r>
            <a:endParaRPr lang="en-US" sz="1400" dirty="0"/>
          </a:p>
        </p:txBody>
      </p:sp>
      <p:sp>
        <p:nvSpPr>
          <p:cNvPr id="36" name="!!c5_4"/>
          <p:cNvSpPr txBox="1"/>
          <p:nvPr/>
        </p:nvSpPr>
        <p:spPr>
          <a:xfrm>
            <a:off x="14020495" y="61722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  <p:sp>
        <p:nvSpPr>
          <p:cNvPr id="37" name="!!c4_0"/>
          <p:cNvSpPr txBox="1"/>
          <p:nvPr/>
        </p:nvSpPr>
        <p:spPr>
          <a:xfrm>
            <a:off x="77724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IV</a:t>
            </a:r>
            <a:endParaRPr lang="en-US" sz="1300" dirty="0"/>
          </a:p>
        </p:txBody>
      </p:sp>
      <p:sp>
        <p:nvSpPr>
          <p:cNvPr id="38" name="!!c4_1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39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92240" y="777240"/>
            <a:ext cx="4937760" cy="5303520"/>
          </a:xfrm>
          <a:prstGeom prst="rect">
            <a:avLst/>
          </a:prstGeom>
        </p:spPr>
      </p:pic>
      <p:sp>
        <p:nvSpPr>
          <p:cNvPr id="40" name="!!c4_3"/>
          <p:cNvSpPr/>
          <p:nvPr/>
        </p:nvSpPr>
        <p:spPr>
          <a:xfrm>
            <a:off x="6492240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41" name="!!c4_4"/>
          <p:cNvSpPr txBox="1"/>
          <p:nvPr/>
        </p:nvSpPr>
        <p:spPr>
          <a:xfrm>
            <a:off x="6492240" y="11887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10000" dirty="0"/>
          </a:p>
        </p:txBody>
      </p:sp>
      <p:sp>
        <p:nvSpPr>
          <p:cNvPr id="42" name="!!c4_5"/>
          <p:cNvSpPr txBox="1"/>
          <p:nvPr/>
        </p:nvSpPr>
        <p:spPr>
          <a:xfrm>
            <a:off x="649224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 Базеле родился Эйлер</a:t>
            </a:r>
            <a:endParaRPr lang="en-US" sz="2400" dirty="0"/>
          </a:p>
        </p:txBody>
      </p:sp>
      <p:sp>
        <p:nvSpPr>
          <p:cNvPr id="43" name="!!c4_6"/>
          <p:cNvSpPr txBox="1"/>
          <p:nvPr/>
        </p:nvSpPr>
        <p:spPr>
          <a:xfrm>
            <a:off x="6949440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Леонард Эйлер — один из величайших математиков. С 1727 года он работал в Петербургской академии наук.</a:t>
            </a:r>
            <a:endParaRPr lang="en-US" sz="1500" dirty="0"/>
          </a:p>
        </p:txBody>
      </p:sp>
      <p:sp>
        <p:nvSpPr>
          <p:cNvPr id="44" name="!!c4_7"/>
          <p:cNvSpPr txBox="1"/>
          <p:nvPr/>
        </p:nvSpPr>
        <p:spPr>
          <a:xfrm>
            <a:off x="777240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Базель и Женева — города учёных</a:t>
            </a:r>
            <a:endParaRPr lang="en-US" sz="3000" dirty="0"/>
          </a:p>
        </p:txBody>
      </p:sp>
      <p:sp>
        <p:nvSpPr>
          <p:cNvPr id="45" name="!!c4_8"/>
          <p:cNvSpPr txBox="1"/>
          <p:nvPr/>
        </p:nvSpPr>
        <p:spPr>
          <a:xfrm>
            <a:off x="777240" y="301752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Базеле жила знаменитая семья математиков Бернулли, в Берне родился учёный Альбрехт фон Галлер, а в Женеве — философ Жан-Жак Руссо.</a:t>
            </a:r>
            <a:endParaRPr lang="en-US" sz="1500" dirty="0"/>
          </a:p>
        </p:txBody>
      </p:sp>
      <p:sp>
        <p:nvSpPr>
          <p:cNvPr id="46" name="!!c4_9"/>
          <p:cNvSpPr/>
          <p:nvPr/>
        </p:nvSpPr>
        <p:spPr>
          <a:xfrm>
            <a:off x="777240" y="4160520"/>
            <a:ext cx="5120640" cy="1417320"/>
          </a:xfrm>
          <a:prstGeom prst="rect">
            <a:avLst/>
          </a:prstGeom>
          <a:solidFill>
            <a:srgbClr val="140E0A">
              <a:alpha val="70000"/>
            </a:srgbClr>
          </a:solidFill>
          <a:ln w="9525">
            <a:solidFill>
              <a:srgbClr val="C9A15A"/>
            </a:solidFill>
            <a:prstDash val="solid"/>
          </a:ln>
        </p:spPr>
      </p:sp>
      <p:sp>
        <p:nvSpPr>
          <p:cNvPr id="47" name="!!c4_10"/>
          <p:cNvSpPr txBox="1"/>
          <p:nvPr/>
        </p:nvSpPr>
        <p:spPr>
          <a:xfrm>
            <a:off x="960120" y="4270248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СЛОВАРИК</a:t>
            </a:r>
            <a:endParaRPr lang="en-US" sz="1000" dirty="0"/>
          </a:p>
        </p:txBody>
      </p:sp>
      <p:sp>
        <p:nvSpPr>
          <p:cNvPr id="48" name="!!c4_11"/>
          <p:cNvSpPr txBox="1"/>
          <p:nvPr/>
        </p:nvSpPr>
        <p:spPr>
          <a:xfrm>
            <a:off x="960120" y="454456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Академия наук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главное научное учреждение страны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Математик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учёный, который изучает числа, фигуры и расчёты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648" y="411480"/>
            <a:ext cx="914400" cy="1078992"/>
          </a:xfrm>
          <a:prstGeom prst="rect">
            <a:avLst/>
          </a:prstGeom>
        </p:spPr>
      </p:pic>
      <p:sp>
        <p:nvSpPr>
          <p:cNvPr id="6" name="!!c4_0"/>
          <p:cNvSpPr txBox="1"/>
          <p:nvPr/>
        </p:nvSpPr>
        <p:spPr>
          <a:xfrm>
            <a:off x="-11871655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ГЛАВА  IV</a:t>
            </a:r>
            <a:endParaRPr lang="en-US" sz="1300" dirty="0"/>
          </a:p>
        </p:txBody>
      </p:sp>
      <p:sp>
        <p:nvSpPr>
          <p:cNvPr id="7" name="!!c4_1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8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-6156655" y="777240"/>
            <a:ext cx="4937760" cy="5303520"/>
          </a:xfrm>
          <a:prstGeom prst="rect">
            <a:avLst/>
          </a:prstGeom>
        </p:spPr>
      </p:pic>
      <p:sp>
        <p:nvSpPr>
          <p:cNvPr id="9" name="!!c4_3"/>
          <p:cNvSpPr/>
          <p:nvPr/>
        </p:nvSpPr>
        <p:spPr>
          <a:xfrm>
            <a:off x="-6156655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0" name="!!c4_4"/>
          <p:cNvSpPr txBox="1"/>
          <p:nvPr/>
        </p:nvSpPr>
        <p:spPr>
          <a:xfrm>
            <a:off x="-6156655" y="11887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10000" dirty="0"/>
          </a:p>
        </p:txBody>
      </p:sp>
      <p:sp>
        <p:nvSpPr>
          <p:cNvPr id="11" name="!!c4_5"/>
          <p:cNvSpPr txBox="1"/>
          <p:nvPr/>
        </p:nvSpPr>
        <p:spPr>
          <a:xfrm>
            <a:off x="-6156655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 Базеле родился Эйлер</a:t>
            </a:r>
            <a:endParaRPr lang="en-US" sz="2400" dirty="0"/>
          </a:p>
        </p:txBody>
      </p:sp>
      <p:sp>
        <p:nvSpPr>
          <p:cNvPr id="12" name="!!c4_6"/>
          <p:cNvSpPr txBox="1"/>
          <p:nvPr/>
        </p:nvSpPr>
        <p:spPr>
          <a:xfrm>
            <a:off x="-5699455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Леонард Эйлер — один из величайших математиков. С 1727 года он работал в Петербургской академии наук.</a:t>
            </a:r>
            <a:endParaRPr lang="en-US" sz="1500" dirty="0"/>
          </a:p>
        </p:txBody>
      </p:sp>
      <p:sp>
        <p:nvSpPr>
          <p:cNvPr id="13" name="!!c4_7"/>
          <p:cNvSpPr txBox="1"/>
          <p:nvPr/>
        </p:nvSpPr>
        <p:spPr>
          <a:xfrm>
            <a:off x="-11871655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Базель и Женева — города учёных</a:t>
            </a:r>
            <a:endParaRPr lang="en-US" sz="3000" dirty="0"/>
          </a:p>
        </p:txBody>
      </p:sp>
      <p:sp>
        <p:nvSpPr>
          <p:cNvPr id="14" name="!!c4_8"/>
          <p:cNvSpPr txBox="1"/>
          <p:nvPr/>
        </p:nvSpPr>
        <p:spPr>
          <a:xfrm>
            <a:off x="-11871655" y="301752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Базеле жила знаменитая семья математиков Бернулли, в Берне родился учёный Альбрехт фон Галлер, а в Женеве — философ Жан-Жак Руссо.</a:t>
            </a:r>
            <a:endParaRPr lang="en-US" sz="1500" dirty="0"/>
          </a:p>
        </p:txBody>
      </p:sp>
      <p:sp>
        <p:nvSpPr>
          <p:cNvPr id="15" name="!!c4_9"/>
          <p:cNvSpPr/>
          <p:nvPr/>
        </p:nvSpPr>
        <p:spPr>
          <a:xfrm>
            <a:off x="-11871655" y="4160520"/>
            <a:ext cx="5120640" cy="1417320"/>
          </a:xfrm>
          <a:prstGeom prst="rect">
            <a:avLst/>
          </a:prstGeom>
          <a:solidFill>
            <a:srgbClr val="140E0A">
              <a:alpha val="70000"/>
            </a:srgbClr>
          </a:solidFill>
          <a:ln w="9525">
            <a:solidFill>
              <a:srgbClr val="C9A15A"/>
            </a:solidFill>
            <a:prstDash val="solid"/>
          </a:ln>
        </p:spPr>
      </p:sp>
      <p:sp>
        <p:nvSpPr>
          <p:cNvPr id="16" name="!!c4_10"/>
          <p:cNvSpPr txBox="1"/>
          <p:nvPr/>
        </p:nvSpPr>
        <p:spPr>
          <a:xfrm>
            <a:off x="-11688775" y="4270248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СЛОВАРИК</a:t>
            </a:r>
            <a:endParaRPr lang="en-US" sz="1000" dirty="0"/>
          </a:p>
        </p:txBody>
      </p:sp>
      <p:sp>
        <p:nvSpPr>
          <p:cNvPr id="17" name="!!c4_11"/>
          <p:cNvSpPr txBox="1"/>
          <p:nvPr/>
        </p:nvSpPr>
        <p:spPr>
          <a:xfrm>
            <a:off x="-11688775" y="454456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Академия наук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главное научное учреждение страны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Математик</a:t>
            </a:r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E6D8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учёный, который изучает числа, фигуры и расчёты</a:t>
            </a:r>
            <a:endParaRPr lang="en-US" sz="1250" dirty="0"/>
          </a:p>
        </p:txBody>
      </p:sp>
      <p:sp>
        <p:nvSpPr>
          <p:cNvPr id="18" name="!!c5_0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ИТОГ</a:t>
            </a:r>
            <a:endParaRPr lang="en-US" sz="1400" dirty="0"/>
          </a:p>
        </p:txBody>
      </p:sp>
      <p:sp>
        <p:nvSpPr>
          <p:cNvPr id="19" name="!!c5_1"/>
          <p:cNvSpPr txBox="1"/>
          <p:nvPr/>
        </p:nvSpPr>
        <p:spPr>
          <a:xfrm>
            <a:off x="914400" y="196596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Спасибо за внимание</a:t>
            </a:r>
            <a:endParaRPr lang="en-US" sz="4600" dirty="0"/>
          </a:p>
        </p:txBody>
      </p:sp>
      <p:sp>
        <p:nvSpPr>
          <p:cNvPr id="20" name="!!c5_2"/>
          <p:cNvSpPr txBox="1"/>
          <p:nvPr/>
        </p:nvSpPr>
        <p:spPr>
          <a:xfrm>
            <a:off x="2011680" y="306324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Швейцария осталась нейтральной в войнах Европы, но внутри спорила из-за веры и власти. Богатела она ремеслом и наёмной службой.</a:t>
            </a:r>
            <a:endParaRPr lang="en-US" sz="1900" dirty="0"/>
          </a:p>
        </p:txBody>
      </p:sp>
      <p:sp>
        <p:nvSpPr>
          <p:cNvPr id="21" name="!!c5_3"/>
          <p:cNvSpPr txBox="1"/>
          <p:nvPr/>
        </p:nvSpPr>
        <p:spPr>
          <a:xfrm>
            <a:off x="1371600" y="402336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Выполнили: ученики 8 «А» класса  ·  Кирилл Ленин и Михаил Луконин</a:t>
            </a:r>
            <a:endParaRPr lang="en-US" sz="1400" dirty="0"/>
          </a:p>
        </p:txBody>
      </p:sp>
      <p:sp>
        <p:nvSpPr>
          <p:cNvPr id="22" name="!!c5_4"/>
          <p:cNvSpPr txBox="1"/>
          <p:nvPr/>
        </p:nvSpPr>
        <p:spPr>
          <a:xfrm>
            <a:off x="1371600" y="61722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Швейцария в начале XVIII века</dc:title>
  <dc:subject>PptxGenJS Presentation</dc:subject>
  <dc:creator>PptxGenJS</dc:creator>
  <cp:lastModifiedBy>PptxGenJS</cp:lastModifiedBy>
  <cp:revision>1</cp:revision>
  <dcterms:created xsi:type="dcterms:W3CDTF">2026-10-01T18:51:22Z</dcterms:created>
  <dcterms:modified xsi:type="dcterms:W3CDTF">2026-10-01T18:51:22Z</dcterms:modified>
</cp:coreProperties>
</file>