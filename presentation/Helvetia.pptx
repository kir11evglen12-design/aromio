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Тема моего проекта — «Швейцария до XVIII века». Сегодня Швейцарию знают по часам, сыру, банкам и тому, что она не участвует в войнах. Но как маленькая горная страна без моря и без короля смогла стать независимой среди больших империй? Официальное название страны по-латыни — Confoederatio Helvetica, то есть Гельветическая конфедерация: в древности здесь жило кельтское племя гельветов. Я расскажу, как появился швейцарский союз, на чём держалась его сила и как к 1648 году его независимость признала вся Европа.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конце XIII века горные долины у Фирвальдштетского озера — Ури, Швиц и Унтервальден — пытались подчинить австрийские Габсбурги. Через эти земли шла важная торговая дорога через перевал Сен-Готард из Германии в Италию. В начале августа 1291 года жители трёх долин заключили «Вечный союз»: они пообещали помогать друг другу против любого врага и не признавать чужих судей. Поэтому 1 августа сегодня — национальный праздник Швейцарии. С этим временем связана легенда о Вильгельме Телле — стрелке, которого жестокий наместник Гесслер заставил сбить стрелой яблоко с головы собственного сына. Телль справился, а потом отомстил наместнику. Историки считают Телля легендарным героем, но он стал символом борьбы швейцарцев за свободу. А само название страны произошло от кантона Швиц.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союз выжил? Я выделяю три причины. Первая — свобода общин. В кантонах не было короля: важные вопросы решало ландсгемайнде — собрание всех свободных мужчин кантона под открытым небом, где голосовали поднятием руки. Такие собрания до сих пор проходят в кантонах Гларус и Аппенцелль-Иннерроден. Вторая — сильная армия. Швейцарская пехота с длинными пиками и алебардами научилась побеждать рыцарскую конницу. Швейцарцев охотно нанимали короли и папы, а с 1506 года папу римского охраняет Швейцарская гвардия — она служит в Ватикане и сегодня. Третья — вера и ремесло. В XVI веке в Цюрихе Реформацию начал Ульрих Цвингли, а Женева при Жане Кальвине стала «протестантским Римом». Кальвинисты ценили труд и бережливость, а строгие законы против роскоши заставили женевских ювелиров перейти к изготовлению часов — так началась слава швейцарских часов.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Пройдём по главным датам. 1291 год — «Вечный союз» трёх лесных кантонов. 1315 год — битва при Моргартене: крестьяне-ополченцы устроили засаду в горном проходе, сбрасывали на рыцарей герцога Леопольда Австрийского камни и брёвна и разгромили их. Это первая большая победа конфедератов. 1476 год — победы при Грансоне и Муртене над герцогом Бургундии Карлом Смелым, одним из самых богатых правителей Европы; в 1477 году он погиб в битве при Нанси. После этого швейцарскую пехоту стали считать лучшей в Европе. 1515 год — поражение при Мариньяно от французского короля Франциска I. Швейцарцы поняли, что большие завоевательные войны им не по силам, и постепенно перешли к политике нейтралитета. И наконец, 1648 год: по Вестфальскому миру, завершившему Тридцатилетнюю войну, независимость Швейцарии от Священной Римской империи признали официально. На деле империи она не подчинялась уже с 1499 года — после Швабской войны.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 1513 году союз вырос до тринадцати кантонов: Ури, Швиц, Унтервальден, Люцерн, Цюрих, Гларус, Цуг, Берн, Фрибур, Золотурн, Базель, Шаффхаузен и Аппенцелль. Союз тринадцати кантонов просуществовал почти триста лет — до 1798 года. У каждого кантона были свои законы и своё правительство, а общие дела обсуждали послы кантонов на общем собрании — сейме, по-немецки Tagsatzung. Итальянский мыслитель Никколо Макиавелли в книге «Государь» (1513) писал: «Швейцарцы превосходно вооружены и пользуются полной свободой». Эти слова хорошо объясняют, почему соседям было так трудно покорить Швейцарию.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Подведём итог. Швейцария до XVIII века — это союз небольших горных общин, которые объединились, чтобы защищать свою свободу. Её силу составляли самоуправление, отличная пехота, а затем — трудолюбие и ремесло, которые укрепила Реформация. Пройдя путь от «Вечного союза» 1291 года до признания независимости в 1648 году, Швейцария показала, что маленькая страна может отстоять себя рядом с великими державами. Спасибо за внимание! Готов(а) ответить на ваши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0A">
              <a:alpha val="55000"/>
            </a:srgbClr>
          </a:solidFill>
          <a:ln/>
        </p:spPr>
      </p:sp>
      <p:sp>
        <p:nvSpPr>
          <p:cNvPr id="3" name="!!framea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ln w="15875">
            <a:solidFill>
              <a:srgbClr val="C9A15A"/>
            </a:solidFill>
            <a:prstDash val="solid"/>
          </a:ln>
        </p:spPr>
      </p:sp>
      <p:sp>
        <p:nvSpPr>
          <p:cNvPr id="4" name="!!frameb"/>
          <p:cNvSpPr/>
          <p:nvPr/>
        </p:nvSpPr>
        <p:spPr>
          <a:xfrm>
            <a:off x="402336" y="402336"/>
            <a:ext cx="11387023" cy="6053328"/>
          </a:xfrm>
          <a:prstGeom prst="rect">
            <a:avLst/>
          </a:prstGeom>
          <a:ln w="6350">
            <a:solidFill>
              <a:srgbClr val="C9A15A"/>
            </a:solidFill>
            <a:prstDash val="solid"/>
          </a:ln>
        </p:spPr>
      </p:sp>
      <p:pic>
        <p:nvPicPr>
          <p:cNvPr id="5" name="!!shield" descr="img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928" y="777240"/>
            <a:ext cx="1005840" cy="1186891"/>
          </a:xfrm>
          <a:prstGeom prst="rect">
            <a:avLst/>
          </a:prstGeom>
        </p:spPr>
      </p:pic>
      <p:sp>
        <p:nvSpPr>
          <p:cNvPr id="6" name="!!c1_0"/>
          <p:cNvSpPr txBox="1"/>
          <p:nvPr/>
        </p:nvSpPr>
        <p:spPr>
          <a:xfrm>
            <a:off x="13426135" y="6263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Фирвальдштетское озеро — колыбель союза (иллюстрация)</a:t>
            </a:r>
            <a:endParaRPr lang="en-US" sz="1000" dirty="0"/>
          </a:p>
        </p:txBody>
      </p:sp>
      <p:sp>
        <p:nvSpPr>
          <p:cNvPr id="7" name="!!c1_1"/>
          <p:cNvSpPr txBox="1"/>
          <p:nvPr/>
        </p:nvSpPr>
        <p:spPr>
          <a:xfrm>
            <a:off x="19186855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CAPUT  I  ·  1291</a:t>
            </a:r>
            <a:endParaRPr lang="en-US" sz="1300" dirty="0"/>
          </a:p>
        </p:txBody>
      </p:sp>
      <p:sp>
        <p:nvSpPr>
          <p:cNvPr id="8" name="!!c1_2"/>
          <p:cNvSpPr txBox="1"/>
          <p:nvPr/>
        </p:nvSpPr>
        <p:spPr>
          <a:xfrm>
            <a:off x="19186855" y="12344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Как всё началось</a:t>
            </a:r>
            <a:endParaRPr lang="en-US" sz="3200" dirty="0"/>
          </a:p>
        </p:txBody>
      </p:sp>
      <p:sp>
        <p:nvSpPr>
          <p:cNvPr id="9" name="!!c1_3"/>
          <p:cNvSpPr txBox="1"/>
          <p:nvPr/>
        </p:nvSpPr>
        <p:spPr>
          <a:xfrm>
            <a:off x="22981615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56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  ·  VI</a:t>
            </a:r>
            <a:endParaRPr lang="en-US" sz="1000" dirty="0"/>
          </a:p>
        </p:txBody>
      </p:sp>
      <p:sp>
        <p:nvSpPr>
          <p:cNvPr id="10" name="!!c1_4"/>
          <p:cNvSpPr txBox="1"/>
          <p:nvPr/>
        </p:nvSpPr>
        <p:spPr>
          <a:xfrm>
            <a:off x="19186855" y="228600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</a:t>
            </a:r>
            <a:endParaRPr lang="en-US" sz="6600" dirty="0"/>
          </a:p>
        </p:txBody>
      </p:sp>
      <p:sp>
        <p:nvSpPr>
          <p:cNvPr id="11" name="!!c1_5"/>
          <p:cNvSpPr txBox="1"/>
          <p:nvPr/>
        </p:nvSpPr>
        <p:spPr>
          <a:xfrm>
            <a:off x="20101255" y="233172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1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1291 году три горные долины — Ури, Швиц и Унтервальден — заключили «Вечный союз» против власти Габсбургов.</a:t>
            </a:r>
            <a:endParaRPr lang="en-US" sz="1500" dirty="0"/>
          </a:p>
        </p:txBody>
      </p:sp>
      <p:sp>
        <p:nvSpPr>
          <p:cNvPr id="12" name="!!c1_6"/>
          <p:cNvSpPr txBox="1"/>
          <p:nvPr/>
        </p:nvSpPr>
        <p:spPr>
          <a:xfrm>
            <a:off x="19186855" y="35204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1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Через их земли шла дорога через перевал Сен-Готард из Германии в Италию. Название страны дал кантон Швиц, а 1 августа — её национальный праздник.</a:t>
            </a:r>
            <a:endParaRPr lang="en-US" sz="1500" dirty="0"/>
          </a:p>
        </p:txBody>
      </p:sp>
      <p:sp>
        <p:nvSpPr>
          <p:cNvPr id="13" name="!!c1_7"/>
          <p:cNvSpPr txBox="1"/>
          <p:nvPr/>
        </p:nvSpPr>
        <p:spPr>
          <a:xfrm>
            <a:off x="19186855" y="48463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7A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Легенда о Вильгельме Телле, сбившем стрелой яблоко с головы сына, стала символом свободы швейцарцев.</a:t>
            </a:r>
            <a:endParaRPr lang="en-US" sz="1600" dirty="0"/>
          </a:p>
        </p:txBody>
      </p:sp>
      <p:sp>
        <p:nvSpPr>
          <p:cNvPr id="14" name="!!c0_0"/>
          <p:cNvSpPr txBox="1"/>
          <p:nvPr/>
        </p:nvSpPr>
        <p:spPr>
          <a:xfrm>
            <a:off x="914400" y="21488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6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CONFOEDERATIO  HELVETICA  ·  MCCXCI — MDCXLVIII</a:t>
            </a:r>
            <a:endParaRPr lang="en-US" sz="1300" dirty="0"/>
          </a:p>
        </p:txBody>
      </p:sp>
      <p:sp>
        <p:nvSpPr>
          <p:cNvPr id="15" name="!!c0_1"/>
          <p:cNvSpPr txBox="1"/>
          <p:nvPr/>
        </p:nvSpPr>
        <p:spPr>
          <a:xfrm>
            <a:off x="914400" y="260604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Швейцария до XVIII века</a:t>
            </a:r>
            <a:endParaRPr lang="en-US" sz="5200" dirty="0"/>
          </a:p>
        </p:txBody>
      </p:sp>
      <p:sp>
        <p:nvSpPr>
          <p:cNvPr id="16" name="!!c0_2"/>
          <p:cNvSpPr txBox="1"/>
          <p:nvPr/>
        </p:nvSpPr>
        <p:spPr>
          <a:xfrm>
            <a:off x="1828800" y="384048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E2D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горные общины создали союз, который не смогла покорить ни одна империя</a:t>
            </a:r>
            <a:endParaRPr lang="en-US" sz="2100" dirty="0"/>
          </a:p>
        </p:txBody>
      </p:sp>
      <p:sp>
        <p:nvSpPr>
          <p:cNvPr id="17" name="!!c0_3"/>
          <p:cNvSpPr txBox="1"/>
          <p:nvPr/>
        </p:nvSpPr>
        <p:spPr>
          <a:xfrm>
            <a:off x="1371600" y="52578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 по истории  ·  8 класс  ·  Фамилия Имя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ilt"/>
          <p:cNvSpPr/>
          <p:nvPr/>
        </p:nvSpPr>
        <p:spPr>
          <a:xfrm>
            <a:off x="630936" y="630936"/>
            <a:ext cx="5413248" cy="5596128"/>
          </a:xfrm>
          <a:prstGeom prst="rect">
            <a:avLst/>
          </a:prstGeom>
          <a:solidFill>
            <a:srgbClr val="8E6A2E"/>
          </a:solidFill>
          <a:ln w="25400">
            <a:solidFill>
              <a:srgbClr val="C9A15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3" name="!!scene" descr="img/lak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" y="777240"/>
            <a:ext cx="5120640" cy="5303520"/>
          </a:xfrm>
          <a:prstGeom prst="rect">
            <a:avLst/>
          </a:prstGeom>
        </p:spPr>
      </p:pic>
      <p:pic>
        <p:nvPicPr>
          <p:cNvPr id="4" name="!!shield" descr="img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668975"/>
          </a:xfrm>
          <a:prstGeom prst="rect">
            <a:avLst/>
          </a:prstGeom>
        </p:spPr>
      </p:pic>
      <p:sp>
        <p:nvSpPr>
          <p:cNvPr id="5" name="!!c0_0"/>
          <p:cNvSpPr txBox="1"/>
          <p:nvPr/>
        </p:nvSpPr>
        <p:spPr>
          <a:xfrm>
            <a:off x="-11734495" y="21488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6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CONFOEDERATIO  HELVETICA  ·  MCCXCI — MDCXLVIII</a:t>
            </a:r>
            <a:endParaRPr lang="en-US" sz="1300" dirty="0"/>
          </a:p>
        </p:txBody>
      </p:sp>
      <p:sp>
        <p:nvSpPr>
          <p:cNvPr id="6" name="!!c0_1"/>
          <p:cNvSpPr txBox="1"/>
          <p:nvPr/>
        </p:nvSpPr>
        <p:spPr>
          <a:xfrm>
            <a:off x="-11734495" y="260604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Швейцария до XVIII века</a:t>
            </a:r>
            <a:endParaRPr lang="en-US" sz="5200" dirty="0"/>
          </a:p>
        </p:txBody>
      </p:sp>
      <p:sp>
        <p:nvSpPr>
          <p:cNvPr id="7" name="!!c0_2"/>
          <p:cNvSpPr txBox="1"/>
          <p:nvPr/>
        </p:nvSpPr>
        <p:spPr>
          <a:xfrm>
            <a:off x="-10820095" y="384048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E2D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горные общины создали союз, который не смогла покорить ни одна империя</a:t>
            </a:r>
            <a:endParaRPr lang="en-US" sz="2100" dirty="0"/>
          </a:p>
        </p:txBody>
      </p:sp>
      <p:sp>
        <p:nvSpPr>
          <p:cNvPr id="8" name="!!c0_3"/>
          <p:cNvSpPr txBox="1"/>
          <p:nvPr/>
        </p:nvSpPr>
        <p:spPr>
          <a:xfrm>
            <a:off x="-11277295" y="52578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 по истории  ·  8 класс  ·  Фамилия Имя</a:t>
            </a:r>
            <a:endParaRPr lang="en-US" sz="1400" dirty="0"/>
          </a:p>
        </p:txBody>
      </p:sp>
      <p:sp>
        <p:nvSpPr>
          <p:cNvPr id="9" name="!!c2_0"/>
          <p:cNvSpPr txBox="1"/>
          <p:nvPr/>
        </p:nvSpPr>
        <p:spPr>
          <a:xfrm>
            <a:off x="13426135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CAPUT  II</a:t>
            </a:r>
            <a:endParaRPr lang="en-US" sz="1300" dirty="0"/>
          </a:p>
        </p:txBody>
      </p:sp>
      <p:sp>
        <p:nvSpPr>
          <p:cNvPr id="10" name="!!c2_1"/>
          <p:cNvSpPr txBox="1"/>
          <p:nvPr/>
        </p:nvSpPr>
        <p:spPr>
          <a:xfrm>
            <a:off x="13426135" y="2697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Три опоры Швейцарии</a:t>
            </a:r>
            <a:endParaRPr lang="en-US" sz="3600" dirty="0"/>
          </a:p>
        </p:txBody>
      </p:sp>
      <p:sp>
        <p:nvSpPr>
          <p:cNvPr id="11" name="!!c2_2"/>
          <p:cNvSpPr txBox="1"/>
          <p:nvPr/>
        </p:nvSpPr>
        <p:spPr>
          <a:xfrm>
            <a:off x="22981615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56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III  ·  VI</a:t>
            </a:r>
            <a:endParaRPr lang="en-US" sz="1000" dirty="0"/>
          </a:p>
        </p:txBody>
      </p:sp>
      <p:sp>
        <p:nvSpPr>
          <p:cNvPr id="12" name="!!c2_3"/>
          <p:cNvSpPr txBox="1"/>
          <p:nvPr/>
        </p:nvSpPr>
        <p:spPr>
          <a:xfrm>
            <a:off x="13426135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3600" dirty="0"/>
          </a:p>
        </p:txBody>
      </p:sp>
      <p:sp>
        <p:nvSpPr>
          <p:cNvPr id="13" name="!!c2_4"/>
          <p:cNvSpPr txBox="1"/>
          <p:nvPr/>
        </p:nvSpPr>
        <p:spPr>
          <a:xfrm>
            <a:off x="13426135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Свобода общин</a:t>
            </a:r>
            <a:endParaRPr lang="en-US" sz="1900" dirty="0"/>
          </a:p>
        </p:txBody>
      </p:sp>
      <p:sp>
        <p:nvSpPr>
          <p:cNvPr id="14" name="!!c2_5"/>
          <p:cNvSpPr txBox="1"/>
          <p:nvPr/>
        </p:nvSpPr>
        <p:spPr>
          <a:xfrm>
            <a:off x="13426135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Вместо короля — ландсгемайнде: собрание всех свободных мужчин кантона, голосование поднятием руки.</a:t>
            </a:r>
            <a:endParaRPr lang="en-US" sz="1400" dirty="0"/>
          </a:p>
        </p:txBody>
      </p:sp>
      <p:sp>
        <p:nvSpPr>
          <p:cNvPr id="15" name="!!c2_6"/>
          <p:cNvSpPr txBox="1"/>
          <p:nvPr/>
        </p:nvSpPr>
        <p:spPr>
          <a:xfrm>
            <a:off x="17147743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</a:t>
            </a:r>
            <a:endParaRPr lang="en-US" sz="3600" dirty="0"/>
          </a:p>
        </p:txBody>
      </p:sp>
      <p:sp>
        <p:nvSpPr>
          <p:cNvPr id="16" name="!!c2_7"/>
          <p:cNvSpPr txBox="1"/>
          <p:nvPr/>
        </p:nvSpPr>
        <p:spPr>
          <a:xfrm>
            <a:off x="17147743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Сильная пехота</a:t>
            </a:r>
            <a:endParaRPr lang="en-US" sz="1900" dirty="0"/>
          </a:p>
        </p:txBody>
      </p:sp>
      <p:sp>
        <p:nvSpPr>
          <p:cNvPr id="17" name="!!c2_8"/>
          <p:cNvSpPr txBox="1"/>
          <p:nvPr/>
        </p:nvSpPr>
        <p:spPr>
          <a:xfrm>
            <a:off x="17147743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Пики и алебарды против рыцарской конницы. С 1506 года папу римского охраняет Швейцарская гвардия.</a:t>
            </a:r>
            <a:endParaRPr lang="en-US" sz="1400" dirty="0"/>
          </a:p>
        </p:txBody>
      </p:sp>
      <p:sp>
        <p:nvSpPr>
          <p:cNvPr id="18" name="!!c2_9"/>
          <p:cNvSpPr txBox="1"/>
          <p:nvPr/>
        </p:nvSpPr>
        <p:spPr>
          <a:xfrm>
            <a:off x="20869351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III</a:t>
            </a:r>
            <a:endParaRPr lang="en-US" sz="3600" dirty="0"/>
          </a:p>
        </p:txBody>
      </p:sp>
      <p:sp>
        <p:nvSpPr>
          <p:cNvPr id="19" name="!!c2_10"/>
          <p:cNvSpPr txBox="1"/>
          <p:nvPr/>
        </p:nvSpPr>
        <p:spPr>
          <a:xfrm>
            <a:off x="20869351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Вера и ремесло</a:t>
            </a:r>
            <a:endParaRPr lang="en-US" sz="1900" dirty="0"/>
          </a:p>
        </p:txBody>
      </p:sp>
      <p:sp>
        <p:nvSpPr>
          <p:cNvPr id="20" name="!!c2_11"/>
          <p:cNvSpPr txBox="1"/>
          <p:nvPr/>
        </p:nvSpPr>
        <p:spPr>
          <a:xfrm>
            <a:off x="20869351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Реформация Цвингли в Цюрихе и Кальвина в Женеве. Женевские ювелиры стали часовщиками.</a:t>
            </a:r>
            <a:endParaRPr lang="en-US" sz="1400" dirty="0"/>
          </a:p>
        </p:txBody>
      </p:sp>
      <p:sp>
        <p:nvSpPr>
          <p:cNvPr id="21" name="!!c1_0"/>
          <p:cNvSpPr txBox="1"/>
          <p:nvPr/>
        </p:nvSpPr>
        <p:spPr>
          <a:xfrm>
            <a:off x="777240" y="6263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Фирвальдштетское озеро — колыбель союза (иллюстрация)</a:t>
            </a:r>
            <a:endParaRPr lang="en-US" sz="1000" dirty="0"/>
          </a:p>
        </p:txBody>
      </p:sp>
      <p:sp>
        <p:nvSpPr>
          <p:cNvPr id="22" name="!!c1_1"/>
          <p:cNvSpPr txBox="1"/>
          <p:nvPr/>
        </p:nvSpPr>
        <p:spPr>
          <a:xfrm>
            <a:off x="65379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CAPUT  I  ·  1291</a:t>
            </a:r>
            <a:endParaRPr lang="en-US" sz="1300" dirty="0"/>
          </a:p>
        </p:txBody>
      </p:sp>
      <p:sp>
        <p:nvSpPr>
          <p:cNvPr id="23" name="!!c1_2"/>
          <p:cNvSpPr txBox="1"/>
          <p:nvPr/>
        </p:nvSpPr>
        <p:spPr>
          <a:xfrm>
            <a:off x="6537960" y="12344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Как всё началось</a:t>
            </a:r>
            <a:endParaRPr lang="en-US" sz="3200" dirty="0"/>
          </a:p>
        </p:txBody>
      </p:sp>
      <p:sp>
        <p:nvSpPr>
          <p:cNvPr id="24" name="!!c1_3"/>
          <p:cNvSpPr txBox="1"/>
          <p:nvPr/>
        </p:nvSpPr>
        <p:spPr>
          <a:xfrm>
            <a:off x="10332720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56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  ·  VI</a:t>
            </a:r>
            <a:endParaRPr lang="en-US" sz="1000" dirty="0"/>
          </a:p>
        </p:txBody>
      </p:sp>
      <p:sp>
        <p:nvSpPr>
          <p:cNvPr id="25" name="!!c1_4"/>
          <p:cNvSpPr txBox="1"/>
          <p:nvPr/>
        </p:nvSpPr>
        <p:spPr>
          <a:xfrm>
            <a:off x="6537960" y="228600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</a:t>
            </a:r>
            <a:endParaRPr lang="en-US" sz="6600" dirty="0"/>
          </a:p>
        </p:txBody>
      </p:sp>
      <p:sp>
        <p:nvSpPr>
          <p:cNvPr id="26" name="!!c1_5"/>
          <p:cNvSpPr txBox="1"/>
          <p:nvPr/>
        </p:nvSpPr>
        <p:spPr>
          <a:xfrm>
            <a:off x="7452360" y="233172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1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1291 году три горные долины — Ури, Швиц и Унтервальден — заключили «Вечный союз» против власти Габсбургов.</a:t>
            </a:r>
            <a:endParaRPr lang="en-US" sz="1500" dirty="0"/>
          </a:p>
        </p:txBody>
      </p:sp>
      <p:sp>
        <p:nvSpPr>
          <p:cNvPr id="27" name="!!c1_6"/>
          <p:cNvSpPr txBox="1"/>
          <p:nvPr/>
        </p:nvSpPr>
        <p:spPr>
          <a:xfrm>
            <a:off x="6537960" y="35204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1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Через их земли шла дорога через перевал Сен-Готард из Германии в Италию. Название страны дал кантон Швиц, а 1 августа — её национальный праздник.</a:t>
            </a:r>
            <a:endParaRPr lang="en-US" sz="1500" dirty="0"/>
          </a:p>
        </p:txBody>
      </p:sp>
      <p:sp>
        <p:nvSpPr>
          <p:cNvPr id="28" name="!!c1_7"/>
          <p:cNvSpPr txBox="1"/>
          <p:nvPr/>
        </p:nvSpPr>
        <p:spPr>
          <a:xfrm>
            <a:off x="6537960" y="48463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7A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Легенда о Вильгельме Телле, сбившем стрелой яблоко с головы сына, стала символом свободы швейцарцев.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2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ilt"/>
          <p:cNvSpPr/>
          <p:nvPr/>
        </p:nvSpPr>
        <p:spPr>
          <a:xfrm>
            <a:off x="0" y="0"/>
            <a:ext cx="12191695" cy="2057400"/>
          </a:xfrm>
          <a:prstGeom prst="rect">
            <a:avLst/>
          </a:prstGeom>
          <a:solidFill>
            <a:srgbClr val="8E6A2E"/>
          </a:solidFill>
          <a:ln w="25400">
            <a:solidFill>
              <a:srgbClr val="C9A15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3" name="!!scene" descr="img/lak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pic>
        <p:nvPicPr>
          <p:cNvPr id="4" name="!!shield" descr="img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668975"/>
          </a:xfrm>
          <a:prstGeom prst="rect">
            <a:avLst/>
          </a:prstGeom>
        </p:spPr>
      </p:pic>
      <p:sp>
        <p:nvSpPr>
          <p:cNvPr id="5" name="!!c1_0"/>
          <p:cNvSpPr txBox="1"/>
          <p:nvPr/>
        </p:nvSpPr>
        <p:spPr>
          <a:xfrm>
            <a:off x="-11871655" y="6263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Фирвальдштетское озеро — колыбель союза (иллюстрация)</a:t>
            </a:r>
            <a:endParaRPr lang="en-US" sz="1000" dirty="0"/>
          </a:p>
        </p:txBody>
      </p:sp>
      <p:sp>
        <p:nvSpPr>
          <p:cNvPr id="6" name="!!c1_1"/>
          <p:cNvSpPr txBox="1"/>
          <p:nvPr/>
        </p:nvSpPr>
        <p:spPr>
          <a:xfrm>
            <a:off x="-6110935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CAPUT  I  ·  1291</a:t>
            </a:r>
            <a:endParaRPr lang="en-US" sz="1300" dirty="0"/>
          </a:p>
        </p:txBody>
      </p:sp>
      <p:sp>
        <p:nvSpPr>
          <p:cNvPr id="7" name="!!c1_2"/>
          <p:cNvSpPr txBox="1"/>
          <p:nvPr/>
        </p:nvSpPr>
        <p:spPr>
          <a:xfrm>
            <a:off x="-6110935" y="12344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Как всё началось</a:t>
            </a:r>
            <a:endParaRPr lang="en-US" sz="3200" dirty="0"/>
          </a:p>
        </p:txBody>
      </p:sp>
      <p:sp>
        <p:nvSpPr>
          <p:cNvPr id="8" name="!!c1_3"/>
          <p:cNvSpPr txBox="1"/>
          <p:nvPr/>
        </p:nvSpPr>
        <p:spPr>
          <a:xfrm>
            <a:off x="-2316175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56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  ·  VI</a:t>
            </a:r>
            <a:endParaRPr lang="en-US" sz="1000" dirty="0"/>
          </a:p>
        </p:txBody>
      </p:sp>
      <p:sp>
        <p:nvSpPr>
          <p:cNvPr id="9" name="!!c1_4"/>
          <p:cNvSpPr txBox="1"/>
          <p:nvPr/>
        </p:nvSpPr>
        <p:spPr>
          <a:xfrm>
            <a:off x="-6110935" y="228600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</a:t>
            </a:r>
            <a:endParaRPr lang="en-US" sz="6600" dirty="0"/>
          </a:p>
        </p:txBody>
      </p:sp>
      <p:sp>
        <p:nvSpPr>
          <p:cNvPr id="10" name="!!c1_5"/>
          <p:cNvSpPr txBox="1"/>
          <p:nvPr/>
        </p:nvSpPr>
        <p:spPr>
          <a:xfrm>
            <a:off x="-5196535" y="233172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1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1291 году три горные долины — Ури, Швиц и Унтервальден — заключили «Вечный союз» против власти Габсбургов.</a:t>
            </a:r>
            <a:endParaRPr lang="en-US" sz="1500" dirty="0"/>
          </a:p>
        </p:txBody>
      </p:sp>
      <p:sp>
        <p:nvSpPr>
          <p:cNvPr id="11" name="!!c1_6"/>
          <p:cNvSpPr txBox="1"/>
          <p:nvPr/>
        </p:nvSpPr>
        <p:spPr>
          <a:xfrm>
            <a:off x="-6110935" y="35204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1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Через их земли шла дорога через перевал Сен-Готард из Германии в Италию. Название страны дал кантон Швиц, а 1 августа — её национальный праздник.</a:t>
            </a:r>
            <a:endParaRPr lang="en-US" sz="1500" dirty="0"/>
          </a:p>
        </p:txBody>
      </p:sp>
      <p:sp>
        <p:nvSpPr>
          <p:cNvPr id="12" name="!!c1_7"/>
          <p:cNvSpPr txBox="1"/>
          <p:nvPr/>
        </p:nvSpPr>
        <p:spPr>
          <a:xfrm>
            <a:off x="-6110935" y="48463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7A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Легенда о Вильгельме Телле, сбившем стрелой яблоко с головы сына, стала символом свободы швейцарцев.</a:t>
            </a:r>
            <a:endParaRPr lang="en-US" sz="1600" dirty="0"/>
          </a:p>
        </p:txBody>
      </p:sp>
      <p:sp>
        <p:nvSpPr>
          <p:cNvPr id="13" name="!!c3_0"/>
          <p:cNvSpPr txBox="1"/>
          <p:nvPr/>
        </p:nvSpPr>
        <p:spPr>
          <a:xfrm>
            <a:off x="13426135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CAPUT  III</a:t>
            </a:r>
            <a:endParaRPr lang="en-US" sz="1300" dirty="0"/>
          </a:p>
        </p:txBody>
      </p:sp>
      <p:sp>
        <p:nvSpPr>
          <p:cNvPr id="14" name="!!c3_1"/>
          <p:cNvSpPr txBox="1"/>
          <p:nvPr/>
        </p:nvSpPr>
        <p:spPr>
          <a:xfrm>
            <a:off x="13426135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Хроника свободы</a:t>
            </a:r>
            <a:endParaRPr lang="en-US" sz="4000" dirty="0"/>
          </a:p>
        </p:txBody>
      </p:sp>
      <p:sp>
        <p:nvSpPr>
          <p:cNvPr id="15" name="!!c3_2"/>
          <p:cNvSpPr txBox="1"/>
          <p:nvPr/>
        </p:nvSpPr>
        <p:spPr>
          <a:xfrm>
            <a:off x="22981615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IV  ·  VI</a:t>
            </a:r>
            <a:endParaRPr lang="en-US" sz="1000" dirty="0"/>
          </a:p>
        </p:txBody>
      </p:sp>
      <p:sp>
        <p:nvSpPr>
          <p:cNvPr id="16" name="!!c3_3"/>
          <p:cNvSpPr/>
          <p:nvPr/>
        </p:nvSpPr>
        <p:spPr>
          <a:xfrm>
            <a:off x="13426135" y="3429000"/>
            <a:ext cx="10637215" cy="0"/>
          </a:xfrm>
          <a:prstGeom prst="line">
            <a:avLst/>
          </a:prstGeom>
          <a:noFill/>
          <a:ln w="12700">
            <a:solidFill>
              <a:srgbClr val="C9A15A"/>
            </a:solidFill>
            <a:prstDash val="solid"/>
          </a:ln>
        </p:spPr>
      </p:sp>
      <p:sp>
        <p:nvSpPr>
          <p:cNvPr id="17" name="!!c3_4"/>
          <p:cNvSpPr/>
          <p:nvPr/>
        </p:nvSpPr>
        <p:spPr>
          <a:xfrm>
            <a:off x="13435279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18" name="!!c3_5"/>
          <p:cNvSpPr txBox="1"/>
          <p:nvPr/>
        </p:nvSpPr>
        <p:spPr>
          <a:xfrm>
            <a:off x="13471855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1291</a:t>
            </a:r>
            <a:endParaRPr lang="en-US" sz="3400" dirty="0"/>
          </a:p>
        </p:txBody>
      </p:sp>
      <p:sp>
        <p:nvSpPr>
          <p:cNvPr id="19" name="!!c3_6"/>
          <p:cNvSpPr txBox="1"/>
          <p:nvPr/>
        </p:nvSpPr>
        <p:spPr>
          <a:xfrm>
            <a:off x="13471855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Вечный союз</a:t>
            </a:r>
            <a:endParaRPr lang="en-US" sz="1400" dirty="0"/>
          </a:p>
        </p:txBody>
      </p:sp>
      <p:sp>
        <p:nvSpPr>
          <p:cNvPr id="20" name="!!c3_7"/>
          <p:cNvSpPr txBox="1"/>
          <p:nvPr/>
        </p:nvSpPr>
        <p:spPr>
          <a:xfrm>
            <a:off x="13471855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Ури, Швиц и Унтервальден объединяются</a:t>
            </a:r>
            <a:endParaRPr lang="en-US" sz="1300" dirty="0"/>
          </a:p>
        </p:txBody>
      </p:sp>
      <p:sp>
        <p:nvSpPr>
          <p:cNvPr id="21" name="!!c3_8"/>
          <p:cNvSpPr/>
          <p:nvPr/>
        </p:nvSpPr>
        <p:spPr>
          <a:xfrm>
            <a:off x="15648127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22" name="!!c3_9"/>
          <p:cNvSpPr txBox="1"/>
          <p:nvPr/>
        </p:nvSpPr>
        <p:spPr>
          <a:xfrm>
            <a:off x="15684703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1315</a:t>
            </a:r>
            <a:endParaRPr lang="en-US" sz="3400" dirty="0"/>
          </a:p>
        </p:txBody>
      </p:sp>
      <p:sp>
        <p:nvSpPr>
          <p:cNvPr id="23" name="!!c3_10"/>
          <p:cNvSpPr txBox="1"/>
          <p:nvPr/>
        </p:nvSpPr>
        <p:spPr>
          <a:xfrm>
            <a:off x="15684703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Моргартен</a:t>
            </a:r>
            <a:endParaRPr lang="en-US" sz="1400" dirty="0"/>
          </a:p>
        </p:txBody>
      </p:sp>
      <p:sp>
        <p:nvSpPr>
          <p:cNvPr id="24" name="!!c3_11"/>
          <p:cNvSpPr txBox="1"/>
          <p:nvPr/>
        </p:nvSpPr>
        <p:spPr>
          <a:xfrm>
            <a:off x="15684703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Ополченцы разбили австрийских рыцарей</a:t>
            </a:r>
            <a:endParaRPr lang="en-US" sz="1300" dirty="0"/>
          </a:p>
        </p:txBody>
      </p:sp>
      <p:sp>
        <p:nvSpPr>
          <p:cNvPr id="25" name="!!c3_12"/>
          <p:cNvSpPr/>
          <p:nvPr/>
        </p:nvSpPr>
        <p:spPr>
          <a:xfrm>
            <a:off x="17860975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26" name="!!c3_13"/>
          <p:cNvSpPr txBox="1"/>
          <p:nvPr/>
        </p:nvSpPr>
        <p:spPr>
          <a:xfrm>
            <a:off x="17897551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1476</a:t>
            </a:r>
            <a:endParaRPr lang="en-US" sz="3400" dirty="0"/>
          </a:p>
        </p:txBody>
      </p:sp>
      <p:sp>
        <p:nvSpPr>
          <p:cNvPr id="27" name="!!c3_14"/>
          <p:cNvSpPr txBox="1"/>
          <p:nvPr/>
        </p:nvSpPr>
        <p:spPr>
          <a:xfrm>
            <a:off x="17897551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Грансон и Муртен</a:t>
            </a:r>
            <a:endParaRPr lang="en-US" sz="1400" dirty="0"/>
          </a:p>
        </p:txBody>
      </p:sp>
      <p:sp>
        <p:nvSpPr>
          <p:cNvPr id="28" name="!!c3_15"/>
          <p:cNvSpPr txBox="1"/>
          <p:nvPr/>
        </p:nvSpPr>
        <p:spPr>
          <a:xfrm>
            <a:off x="17897551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Разгром Карла Смелого Бургундского</a:t>
            </a:r>
            <a:endParaRPr lang="en-US" sz="1300" dirty="0"/>
          </a:p>
        </p:txBody>
      </p:sp>
      <p:sp>
        <p:nvSpPr>
          <p:cNvPr id="29" name="!!c3_16"/>
          <p:cNvSpPr/>
          <p:nvPr/>
        </p:nvSpPr>
        <p:spPr>
          <a:xfrm>
            <a:off x="20073823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30" name="!!c3_17"/>
          <p:cNvSpPr txBox="1"/>
          <p:nvPr/>
        </p:nvSpPr>
        <p:spPr>
          <a:xfrm>
            <a:off x="20110399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1515</a:t>
            </a:r>
            <a:endParaRPr lang="en-US" sz="3400" dirty="0"/>
          </a:p>
        </p:txBody>
      </p:sp>
      <p:sp>
        <p:nvSpPr>
          <p:cNvPr id="31" name="!!c3_18"/>
          <p:cNvSpPr txBox="1"/>
          <p:nvPr/>
        </p:nvSpPr>
        <p:spPr>
          <a:xfrm>
            <a:off x="20110399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Мариньяно</a:t>
            </a:r>
            <a:endParaRPr lang="en-US" sz="1400" dirty="0"/>
          </a:p>
        </p:txBody>
      </p:sp>
      <p:sp>
        <p:nvSpPr>
          <p:cNvPr id="32" name="!!c3_19"/>
          <p:cNvSpPr txBox="1"/>
          <p:nvPr/>
        </p:nvSpPr>
        <p:spPr>
          <a:xfrm>
            <a:off x="20110399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Поражение от Франции — курс на нейтралитет</a:t>
            </a:r>
            <a:endParaRPr lang="en-US" sz="1300" dirty="0"/>
          </a:p>
        </p:txBody>
      </p:sp>
      <p:sp>
        <p:nvSpPr>
          <p:cNvPr id="33" name="!!c3_20"/>
          <p:cNvSpPr/>
          <p:nvPr/>
        </p:nvSpPr>
        <p:spPr>
          <a:xfrm>
            <a:off x="22286671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34" name="!!c3_21"/>
          <p:cNvSpPr txBox="1"/>
          <p:nvPr/>
        </p:nvSpPr>
        <p:spPr>
          <a:xfrm>
            <a:off x="22323247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1648</a:t>
            </a:r>
            <a:endParaRPr lang="en-US" sz="3400" dirty="0"/>
          </a:p>
        </p:txBody>
      </p:sp>
      <p:sp>
        <p:nvSpPr>
          <p:cNvPr id="35" name="!!c3_22"/>
          <p:cNvSpPr txBox="1"/>
          <p:nvPr/>
        </p:nvSpPr>
        <p:spPr>
          <a:xfrm>
            <a:off x="22323247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Вестфальский мир</a:t>
            </a:r>
            <a:endParaRPr lang="en-US" sz="1400" dirty="0"/>
          </a:p>
        </p:txBody>
      </p:sp>
      <p:sp>
        <p:nvSpPr>
          <p:cNvPr id="36" name="!!c3_23"/>
          <p:cNvSpPr txBox="1"/>
          <p:nvPr/>
        </p:nvSpPr>
        <p:spPr>
          <a:xfrm>
            <a:off x="22323247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Европа признала независимость</a:t>
            </a:r>
            <a:endParaRPr lang="en-US" sz="1300" dirty="0"/>
          </a:p>
        </p:txBody>
      </p:sp>
      <p:sp>
        <p:nvSpPr>
          <p:cNvPr id="37" name="!!c3_24"/>
          <p:cNvSpPr txBox="1"/>
          <p:nvPr/>
        </p:nvSpPr>
        <p:spPr>
          <a:xfrm>
            <a:off x="13426135" y="57150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Швабской войны 1499 года Швейцария фактически не подчинялась Империи.</a:t>
            </a:r>
            <a:endParaRPr lang="en-US" sz="1200" dirty="0"/>
          </a:p>
        </p:txBody>
      </p:sp>
      <p:sp>
        <p:nvSpPr>
          <p:cNvPr id="38" name="!!c2_0"/>
          <p:cNvSpPr txBox="1"/>
          <p:nvPr/>
        </p:nvSpPr>
        <p:spPr>
          <a:xfrm>
            <a:off x="77724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CAPUT  II</a:t>
            </a:r>
            <a:endParaRPr lang="en-US" sz="1300" dirty="0"/>
          </a:p>
        </p:txBody>
      </p:sp>
      <p:sp>
        <p:nvSpPr>
          <p:cNvPr id="39" name="!!c2_1"/>
          <p:cNvSpPr txBox="1"/>
          <p:nvPr/>
        </p:nvSpPr>
        <p:spPr>
          <a:xfrm>
            <a:off x="777240" y="2697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Три опоры Швейцарии</a:t>
            </a:r>
            <a:endParaRPr lang="en-US" sz="3600" dirty="0"/>
          </a:p>
        </p:txBody>
      </p:sp>
      <p:sp>
        <p:nvSpPr>
          <p:cNvPr id="40" name="!!c2_2"/>
          <p:cNvSpPr txBox="1"/>
          <p:nvPr/>
        </p:nvSpPr>
        <p:spPr>
          <a:xfrm>
            <a:off x="10332720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56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III  ·  VI</a:t>
            </a:r>
            <a:endParaRPr lang="en-US" sz="1000" dirty="0"/>
          </a:p>
        </p:txBody>
      </p:sp>
      <p:sp>
        <p:nvSpPr>
          <p:cNvPr id="41" name="!!c2_3"/>
          <p:cNvSpPr txBox="1"/>
          <p:nvPr/>
        </p:nvSpPr>
        <p:spPr>
          <a:xfrm>
            <a:off x="777240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3600" dirty="0"/>
          </a:p>
        </p:txBody>
      </p:sp>
      <p:sp>
        <p:nvSpPr>
          <p:cNvPr id="42" name="!!c2_4"/>
          <p:cNvSpPr txBox="1"/>
          <p:nvPr/>
        </p:nvSpPr>
        <p:spPr>
          <a:xfrm>
            <a:off x="77724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Свобода общин</a:t>
            </a:r>
            <a:endParaRPr lang="en-US" sz="1900" dirty="0"/>
          </a:p>
        </p:txBody>
      </p:sp>
      <p:sp>
        <p:nvSpPr>
          <p:cNvPr id="43" name="!!c2_5"/>
          <p:cNvSpPr txBox="1"/>
          <p:nvPr/>
        </p:nvSpPr>
        <p:spPr>
          <a:xfrm>
            <a:off x="777240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Вместо короля — ландсгемайнде: собрание всех свободных мужчин кантона, голосование поднятием руки.</a:t>
            </a:r>
            <a:endParaRPr lang="en-US" sz="1400" dirty="0"/>
          </a:p>
        </p:txBody>
      </p:sp>
      <p:sp>
        <p:nvSpPr>
          <p:cNvPr id="44" name="!!c2_6"/>
          <p:cNvSpPr txBox="1"/>
          <p:nvPr/>
        </p:nvSpPr>
        <p:spPr>
          <a:xfrm>
            <a:off x="4498848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</a:t>
            </a:r>
            <a:endParaRPr lang="en-US" sz="3600" dirty="0"/>
          </a:p>
        </p:txBody>
      </p:sp>
      <p:sp>
        <p:nvSpPr>
          <p:cNvPr id="45" name="!!c2_7"/>
          <p:cNvSpPr txBox="1"/>
          <p:nvPr/>
        </p:nvSpPr>
        <p:spPr>
          <a:xfrm>
            <a:off x="4498848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Сильная пехота</a:t>
            </a:r>
            <a:endParaRPr lang="en-US" sz="1900" dirty="0"/>
          </a:p>
        </p:txBody>
      </p:sp>
      <p:sp>
        <p:nvSpPr>
          <p:cNvPr id="46" name="!!c2_8"/>
          <p:cNvSpPr txBox="1"/>
          <p:nvPr/>
        </p:nvSpPr>
        <p:spPr>
          <a:xfrm>
            <a:off x="4498848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Пики и алебарды против рыцарской конницы. С 1506 года папу римского охраняет Швейцарская гвардия.</a:t>
            </a:r>
            <a:endParaRPr lang="en-US" sz="1400" dirty="0"/>
          </a:p>
        </p:txBody>
      </p:sp>
      <p:sp>
        <p:nvSpPr>
          <p:cNvPr id="47" name="!!c2_9"/>
          <p:cNvSpPr txBox="1"/>
          <p:nvPr/>
        </p:nvSpPr>
        <p:spPr>
          <a:xfrm>
            <a:off x="8220456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III</a:t>
            </a:r>
            <a:endParaRPr lang="en-US" sz="3600" dirty="0"/>
          </a:p>
        </p:txBody>
      </p:sp>
      <p:sp>
        <p:nvSpPr>
          <p:cNvPr id="48" name="!!c2_10"/>
          <p:cNvSpPr txBox="1"/>
          <p:nvPr/>
        </p:nvSpPr>
        <p:spPr>
          <a:xfrm>
            <a:off x="8220456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Вера и ремесло</a:t>
            </a:r>
            <a:endParaRPr lang="en-US" sz="1900" dirty="0"/>
          </a:p>
        </p:txBody>
      </p:sp>
      <p:sp>
        <p:nvSpPr>
          <p:cNvPr id="49" name="!!c2_11"/>
          <p:cNvSpPr txBox="1"/>
          <p:nvPr/>
        </p:nvSpPr>
        <p:spPr>
          <a:xfrm>
            <a:off x="8220456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Реформация Цвингли в Цюрихе и Кальвина в Женеве. Женевские ювелиры стали часовщиками.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2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ilt"/>
          <p:cNvSpPr/>
          <p:nvPr/>
        </p:nvSpPr>
        <p:spPr>
          <a:xfrm>
            <a:off x="-146304" y="-146304"/>
            <a:ext cx="12484303" cy="7150608"/>
          </a:xfrm>
          <a:prstGeom prst="rect">
            <a:avLst/>
          </a:prstGeom>
          <a:solidFill>
            <a:srgbClr val="8E6A2E"/>
          </a:solidFill>
          <a:ln/>
        </p:spPr>
      </p:sp>
      <p:pic>
        <p:nvPicPr>
          <p:cNvPr id="3" name="!!scene" descr="img/lak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0A">
              <a:alpha val="55000"/>
            </a:srgbClr>
          </a:solidFill>
          <a:ln/>
        </p:spPr>
      </p:sp>
      <p:pic>
        <p:nvPicPr>
          <p:cNvPr id="5" name="!!shield" descr="img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566928" cy="668975"/>
          </a:xfrm>
          <a:prstGeom prst="rect">
            <a:avLst/>
          </a:prstGeom>
        </p:spPr>
      </p:pic>
      <p:sp>
        <p:nvSpPr>
          <p:cNvPr id="6" name="!!c2_0"/>
          <p:cNvSpPr txBox="1"/>
          <p:nvPr/>
        </p:nvSpPr>
        <p:spPr>
          <a:xfrm>
            <a:off x="-11871655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CAPUT  II</a:t>
            </a:r>
            <a:endParaRPr lang="en-US" sz="1300" dirty="0"/>
          </a:p>
        </p:txBody>
      </p:sp>
      <p:sp>
        <p:nvSpPr>
          <p:cNvPr id="7" name="!!c2_1"/>
          <p:cNvSpPr txBox="1"/>
          <p:nvPr/>
        </p:nvSpPr>
        <p:spPr>
          <a:xfrm>
            <a:off x="-11871655" y="2697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Три опоры Швейцарии</a:t>
            </a:r>
            <a:endParaRPr lang="en-US" sz="3600" dirty="0"/>
          </a:p>
        </p:txBody>
      </p:sp>
      <p:sp>
        <p:nvSpPr>
          <p:cNvPr id="8" name="!!c2_2"/>
          <p:cNvSpPr txBox="1"/>
          <p:nvPr/>
        </p:nvSpPr>
        <p:spPr>
          <a:xfrm>
            <a:off x="-2316175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56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III  ·  VI</a:t>
            </a:r>
            <a:endParaRPr lang="en-US" sz="1000" dirty="0"/>
          </a:p>
        </p:txBody>
      </p:sp>
      <p:sp>
        <p:nvSpPr>
          <p:cNvPr id="9" name="!!c2_3"/>
          <p:cNvSpPr txBox="1"/>
          <p:nvPr/>
        </p:nvSpPr>
        <p:spPr>
          <a:xfrm>
            <a:off x="-11871655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3600" dirty="0"/>
          </a:p>
        </p:txBody>
      </p:sp>
      <p:sp>
        <p:nvSpPr>
          <p:cNvPr id="10" name="!!c2_4"/>
          <p:cNvSpPr txBox="1"/>
          <p:nvPr/>
        </p:nvSpPr>
        <p:spPr>
          <a:xfrm>
            <a:off x="-11871655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Свобода общин</a:t>
            </a:r>
            <a:endParaRPr lang="en-US" sz="1900" dirty="0"/>
          </a:p>
        </p:txBody>
      </p:sp>
      <p:sp>
        <p:nvSpPr>
          <p:cNvPr id="11" name="!!c2_5"/>
          <p:cNvSpPr txBox="1"/>
          <p:nvPr/>
        </p:nvSpPr>
        <p:spPr>
          <a:xfrm>
            <a:off x="-11871655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Вместо короля — ландсгемайнде: собрание всех свободных мужчин кантона, голосование поднятием руки.</a:t>
            </a:r>
            <a:endParaRPr lang="en-US" sz="1400" dirty="0"/>
          </a:p>
        </p:txBody>
      </p:sp>
      <p:sp>
        <p:nvSpPr>
          <p:cNvPr id="12" name="!!c2_6"/>
          <p:cNvSpPr txBox="1"/>
          <p:nvPr/>
        </p:nvSpPr>
        <p:spPr>
          <a:xfrm>
            <a:off x="-8150047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</a:t>
            </a:r>
            <a:endParaRPr lang="en-US" sz="3600" dirty="0"/>
          </a:p>
        </p:txBody>
      </p:sp>
      <p:sp>
        <p:nvSpPr>
          <p:cNvPr id="13" name="!!c2_7"/>
          <p:cNvSpPr txBox="1"/>
          <p:nvPr/>
        </p:nvSpPr>
        <p:spPr>
          <a:xfrm>
            <a:off x="-8150047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Сильная пехота</a:t>
            </a:r>
            <a:endParaRPr lang="en-US" sz="1900" dirty="0"/>
          </a:p>
        </p:txBody>
      </p:sp>
      <p:sp>
        <p:nvSpPr>
          <p:cNvPr id="14" name="!!c2_8"/>
          <p:cNvSpPr txBox="1"/>
          <p:nvPr/>
        </p:nvSpPr>
        <p:spPr>
          <a:xfrm>
            <a:off x="-8150047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Пики и алебарды против рыцарской конницы. С 1506 года папу римского охраняет Швейцарская гвардия.</a:t>
            </a:r>
            <a:endParaRPr lang="en-US" sz="1400" dirty="0"/>
          </a:p>
        </p:txBody>
      </p:sp>
      <p:sp>
        <p:nvSpPr>
          <p:cNvPr id="15" name="!!c2_9"/>
          <p:cNvSpPr txBox="1"/>
          <p:nvPr/>
        </p:nvSpPr>
        <p:spPr>
          <a:xfrm>
            <a:off x="-4428439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III</a:t>
            </a:r>
            <a:endParaRPr lang="en-US" sz="3600" dirty="0"/>
          </a:p>
        </p:txBody>
      </p:sp>
      <p:sp>
        <p:nvSpPr>
          <p:cNvPr id="16" name="!!c2_10"/>
          <p:cNvSpPr txBox="1"/>
          <p:nvPr/>
        </p:nvSpPr>
        <p:spPr>
          <a:xfrm>
            <a:off x="-4428439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Вера и ремесло</a:t>
            </a:r>
            <a:endParaRPr lang="en-US" sz="1900" dirty="0"/>
          </a:p>
        </p:txBody>
      </p:sp>
      <p:sp>
        <p:nvSpPr>
          <p:cNvPr id="17" name="!!c2_11"/>
          <p:cNvSpPr txBox="1"/>
          <p:nvPr/>
        </p:nvSpPr>
        <p:spPr>
          <a:xfrm>
            <a:off x="-4428439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Реформация Цвингли в Цюрихе и Кальвина в Женеве. Женевские ювелиры стали часовщиками.</a:t>
            </a:r>
            <a:endParaRPr lang="en-US" sz="1400" dirty="0"/>
          </a:p>
        </p:txBody>
      </p:sp>
      <p:sp>
        <p:nvSpPr>
          <p:cNvPr id="18" name="!!c4_0"/>
          <p:cNvSpPr txBox="1"/>
          <p:nvPr/>
        </p:nvSpPr>
        <p:spPr>
          <a:xfrm>
            <a:off x="13426135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CAPUT  IV</a:t>
            </a:r>
            <a:endParaRPr lang="en-US" sz="1300" dirty="0"/>
          </a:p>
        </p:txBody>
      </p:sp>
      <p:sp>
        <p:nvSpPr>
          <p:cNvPr id="19" name="!!c4_1"/>
          <p:cNvSpPr txBox="1"/>
          <p:nvPr/>
        </p:nvSpPr>
        <p:spPr>
          <a:xfrm>
            <a:off x="22981615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  ·  VI</a:t>
            </a:r>
            <a:endParaRPr lang="en-US" sz="1000" dirty="0"/>
          </a:p>
        </p:txBody>
      </p:sp>
      <p:pic>
        <p:nvPicPr>
          <p:cNvPr id="20" name="!!c4_2" descr="img/parchment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9141135" y="777240"/>
            <a:ext cx="4937760" cy="5303520"/>
          </a:xfrm>
          <a:prstGeom prst="rect">
            <a:avLst/>
          </a:prstGeom>
        </p:spPr>
      </p:pic>
      <p:sp>
        <p:nvSpPr>
          <p:cNvPr id="21" name="!!c4_3"/>
          <p:cNvSpPr/>
          <p:nvPr/>
        </p:nvSpPr>
        <p:spPr>
          <a:xfrm>
            <a:off x="19141135" y="777240"/>
            <a:ext cx="4937760" cy="5303520"/>
          </a:xfrm>
          <a:prstGeom prst="rect">
            <a:avLst/>
          </a:prstGeom>
          <a:ln w="19050">
            <a:solidFill>
              <a:srgbClr val="C9A15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!!c4_4"/>
          <p:cNvSpPr txBox="1"/>
          <p:nvPr/>
        </p:nvSpPr>
        <p:spPr>
          <a:xfrm>
            <a:off x="19141135" y="10972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XIII</a:t>
            </a:r>
            <a:endParaRPr lang="en-US" sz="12000" dirty="0"/>
          </a:p>
        </p:txBody>
      </p:sp>
      <p:sp>
        <p:nvSpPr>
          <p:cNvPr id="23" name="!!c4_5"/>
          <p:cNvSpPr txBox="1"/>
          <p:nvPr/>
        </p:nvSpPr>
        <p:spPr>
          <a:xfrm>
            <a:off x="19141135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кантонов к 1513 году</a:t>
            </a:r>
            <a:endParaRPr lang="en-US" sz="2400" dirty="0"/>
          </a:p>
        </p:txBody>
      </p:sp>
      <p:sp>
        <p:nvSpPr>
          <p:cNvPr id="24" name="!!c4_6"/>
          <p:cNvSpPr txBox="1"/>
          <p:nvPr/>
        </p:nvSpPr>
        <p:spPr>
          <a:xfrm>
            <a:off x="19598335" y="37490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Союз тринадцати кантонов просуществовал до 1798 года. У каждого — свои законы, а общие дела решал сейм (Tagsatzung).</a:t>
            </a:r>
            <a:endParaRPr lang="en-US" sz="1500" dirty="0"/>
          </a:p>
        </p:txBody>
      </p:sp>
      <p:sp>
        <p:nvSpPr>
          <p:cNvPr id="25" name="!!c4_7"/>
          <p:cNvSpPr txBox="1"/>
          <p:nvPr/>
        </p:nvSpPr>
        <p:spPr>
          <a:xfrm>
            <a:off x="13426135" y="228600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«Швейцарцы превосходно вооружены и пользуются полной свободой»</a:t>
            </a:r>
            <a:endParaRPr lang="en-US" sz="3000" dirty="0"/>
          </a:p>
        </p:txBody>
      </p:sp>
      <p:sp>
        <p:nvSpPr>
          <p:cNvPr id="26" name="!!c4_8"/>
          <p:cNvSpPr txBox="1"/>
          <p:nvPr/>
        </p:nvSpPr>
        <p:spPr>
          <a:xfrm>
            <a:off x="13426135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Никколо Макиавелли, «Государь», 1513</a:t>
            </a:r>
            <a:endParaRPr lang="en-US" sz="1500" dirty="0"/>
          </a:p>
        </p:txBody>
      </p:sp>
      <p:sp>
        <p:nvSpPr>
          <p:cNvPr id="27" name="!!c3_0"/>
          <p:cNvSpPr txBox="1"/>
          <p:nvPr/>
        </p:nvSpPr>
        <p:spPr>
          <a:xfrm>
            <a:off x="77724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CAPUT  III</a:t>
            </a:r>
            <a:endParaRPr lang="en-US" sz="1300" dirty="0"/>
          </a:p>
        </p:txBody>
      </p:sp>
      <p:sp>
        <p:nvSpPr>
          <p:cNvPr id="28" name="!!c3_1"/>
          <p:cNvSpPr txBox="1"/>
          <p:nvPr/>
        </p:nvSpPr>
        <p:spPr>
          <a:xfrm>
            <a:off x="77724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Хроника свободы</a:t>
            </a:r>
            <a:endParaRPr lang="en-US" sz="4000" dirty="0"/>
          </a:p>
        </p:txBody>
      </p:sp>
      <p:sp>
        <p:nvSpPr>
          <p:cNvPr id="29" name="!!c3_2"/>
          <p:cNvSpPr txBox="1"/>
          <p:nvPr/>
        </p:nvSpPr>
        <p:spPr>
          <a:xfrm>
            <a:off x="10332720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IV  ·  VI</a:t>
            </a:r>
            <a:endParaRPr lang="en-US" sz="1000" dirty="0"/>
          </a:p>
        </p:txBody>
      </p:sp>
      <p:sp>
        <p:nvSpPr>
          <p:cNvPr id="30" name="!!c3_3"/>
          <p:cNvSpPr/>
          <p:nvPr/>
        </p:nvSpPr>
        <p:spPr>
          <a:xfrm>
            <a:off x="777240" y="3429000"/>
            <a:ext cx="10637215" cy="0"/>
          </a:xfrm>
          <a:prstGeom prst="line">
            <a:avLst/>
          </a:prstGeom>
          <a:noFill/>
          <a:ln w="12700">
            <a:solidFill>
              <a:srgbClr val="C9A15A"/>
            </a:solidFill>
            <a:prstDash val="solid"/>
          </a:ln>
        </p:spPr>
      </p:sp>
      <p:sp>
        <p:nvSpPr>
          <p:cNvPr id="31" name="!!c3_4"/>
          <p:cNvSpPr/>
          <p:nvPr/>
        </p:nvSpPr>
        <p:spPr>
          <a:xfrm>
            <a:off x="786384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32" name="!!c3_5"/>
          <p:cNvSpPr txBox="1"/>
          <p:nvPr/>
        </p:nvSpPr>
        <p:spPr>
          <a:xfrm>
            <a:off x="822960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1291</a:t>
            </a:r>
            <a:endParaRPr lang="en-US" sz="3400" dirty="0"/>
          </a:p>
        </p:txBody>
      </p:sp>
      <p:sp>
        <p:nvSpPr>
          <p:cNvPr id="33" name="!!c3_6"/>
          <p:cNvSpPr txBox="1"/>
          <p:nvPr/>
        </p:nvSpPr>
        <p:spPr>
          <a:xfrm>
            <a:off x="82296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Вечный союз</a:t>
            </a:r>
            <a:endParaRPr lang="en-US" sz="1400" dirty="0"/>
          </a:p>
        </p:txBody>
      </p:sp>
      <p:sp>
        <p:nvSpPr>
          <p:cNvPr id="34" name="!!c3_7"/>
          <p:cNvSpPr txBox="1"/>
          <p:nvPr/>
        </p:nvSpPr>
        <p:spPr>
          <a:xfrm>
            <a:off x="822960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Ури, Швиц и Унтервальден объединяются</a:t>
            </a:r>
            <a:endParaRPr lang="en-US" sz="1300" dirty="0"/>
          </a:p>
        </p:txBody>
      </p:sp>
      <p:sp>
        <p:nvSpPr>
          <p:cNvPr id="35" name="!!c3_8"/>
          <p:cNvSpPr/>
          <p:nvPr/>
        </p:nvSpPr>
        <p:spPr>
          <a:xfrm>
            <a:off x="2999232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36" name="!!c3_9"/>
          <p:cNvSpPr txBox="1"/>
          <p:nvPr/>
        </p:nvSpPr>
        <p:spPr>
          <a:xfrm>
            <a:off x="3035808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1315</a:t>
            </a:r>
            <a:endParaRPr lang="en-US" sz="3400" dirty="0"/>
          </a:p>
        </p:txBody>
      </p:sp>
      <p:sp>
        <p:nvSpPr>
          <p:cNvPr id="37" name="!!c3_10"/>
          <p:cNvSpPr txBox="1"/>
          <p:nvPr/>
        </p:nvSpPr>
        <p:spPr>
          <a:xfrm>
            <a:off x="3035808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Моргартен</a:t>
            </a:r>
            <a:endParaRPr lang="en-US" sz="1400" dirty="0"/>
          </a:p>
        </p:txBody>
      </p:sp>
      <p:sp>
        <p:nvSpPr>
          <p:cNvPr id="38" name="!!c3_11"/>
          <p:cNvSpPr txBox="1"/>
          <p:nvPr/>
        </p:nvSpPr>
        <p:spPr>
          <a:xfrm>
            <a:off x="3035808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Ополченцы разбили австрийских рыцарей</a:t>
            </a:r>
            <a:endParaRPr lang="en-US" sz="1300" dirty="0"/>
          </a:p>
        </p:txBody>
      </p:sp>
      <p:sp>
        <p:nvSpPr>
          <p:cNvPr id="39" name="!!c3_12"/>
          <p:cNvSpPr/>
          <p:nvPr/>
        </p:nvSpPr>
        <p:spPr>
          <a:xfrm>
            <a:off x="5212080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40" name="!!c3_13"/>
          <p:cNvSpPr txBox="1"/>
          <p:nvPr/>
        </p:nvSpPr>
        <p:spPr>
          <a:xfrm>
            <a:off x="5248656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1476</a:t>
            </a:r>
            <a:endParaRPr lang="en-US" sz="3400" dirty="0"/>
          </a:p>
        </p:txBody>
      </p:sp>
      <p:sp>
        <p:nvSpPr>
          <p:cNvPr id="41" name="!!c3_14"/>
          <p:cNvSpPr txBox="1"/>
          <p:nvPr/>
        </p:nvSpPr>
        <p:spPr>
          <a:xfrm>
            <a:off x="5248656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Грансон и Муртен</a:t>
            </a:r>
            <a:endParaRPr lang="en-US" sz="1400" dirty="0"/>
          </a:p>
        </p:txBody>
      </p:sp>
      <p:sp>
        <p:nvSpPr>
          <p:cNvPr id="42" name="!!c3_15"/>
          <p:cNvSpPr txBox="1"/>
          <p:nvPr/>
        </p:nvSpPr>
        <p:spPr>
          <a:xfrm>
            <a:off x="5248656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Разгром Карла Смелого Бургундского</a:t>
            </a:r>
            <a:endParaRPr lang="en-US" sz="1300" dirty="0"/>
          </a:p>
        </p:txBody>
      </p:sp>
      <p:sp>
        <p:nvSpPr>
          <p:cNvPr id="43" name="!!c3_16"/>
          <p:cNvSpPr/>
          <p:nvPr/>
        </p:nvSpPr>
        <p:spPr>
          <a:xfrm>
            <a:off x="7424928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44" name="!!c3_17"/>
          <p:cNvSpPr txBox="1"/>
          <p:nvPr/>
        </p:nvSpPr>
        <p:spPr>
          <a:xfrm>
            <a:off x="7461504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1515</a:t>
            </a:r>
            <a:endParaRPr lang="en-US" sz="3400" dirty="0"/>
          </a:p>
        </p:txBody>
      </p:sp>
      <p:sp>
        <p:nvSpPr>
          <p:cNvPr id="45" name="!!c3_18"/>
          <p:cNvSpPr txBox="1"/>
          <p:nvPr/>
        </p:nvSpPr>
        <p:spPr>
          <a:xfrm>
            <a:off x="7461504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Мариньяно</a:t>
            </a:r>
            <a:endParaRPr lang="en-US" sz="1400" dirty="0"/>
          </a:p>
        </p:txBody>
      </p:sp>
      <p:sp>
        <p:nvSpPr>
          <p:cNvPr id="46" name="!!c3_19"/>
          <p:cNvSpPr txBox="1"/>
          <p:nvPr/>
        </p:nvSpPr>
        <p:spPr>
          <a:xfrm>
            <a:off x="7461504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Поражение от Франции — курс на нейтралитет</a:t>
            </a:r>
            <a:endParaRPr lang="en-US" sz="1300" dirty="0"/>
          </a:p>
        </p:txBody>
      </p:sp>
      <p:sp>
        <p:nvSpPr>
          <p:cNvPr id="47" name="!!c3_20"/>
          <p:cNvSpPr/>
          <p:nvPr/>
        </p:nvSpPr>
        <p:spPr>
          <a:xfrm>
            <a:off x="9637776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48" name="!!c3_21"/>
          <p:cNvSpPr txBox="1"/>
          <p:nvPr/>
        </p:nvSpPr>
        <p:spPr>
          <a:xfrm>
            <a:off x="9674352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1648</a:t>
            </a:r>
            <a:endParaRPr lang="en-US" sz="3400" dirty="0"/>
          </a:p>
        </p:txBody>
      </p:sp>
      <p:sp>
        <p:nvSpPr>
          <p:cNvPr id="49" name="!!c3_22"/>
          <p:cNvSpPr txBox="1"/>
          <p:nvPr/>
        </p:nvSpPr>
        <p:spPr>
          <a:xfrm>
            <a:off x="9674352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Вестфальский мир</a:t>
            </a:r>
            <a:endParaRPr lang="en-US" sz="1400" dirty="0"/>
          </a:p>
        </p:txBody>
      </p:sp>
      <p:sp>
        <p:nvSpPr>
          <p:cNvPr id="50" name="!!c3_23"/>
          <p:cNvSpPr txBox="1"/>
          <p:nvPr/>
        </p:nvSpPr>
        <p:spPr>
          <a:xfrm>
            <a:off x="9674352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Европа признала независимость</a:t>
            </a:r>
            <a:endParaRPr lang="en-US" sz="1300" dirty="0"/>
          </a:p>
        </p:txBody>
      </p:sp>
      <p:sp>
        <p:nvSpPr>
          <p:cNvPr id="51" name="!!c3_24"/>
          <p:cNvSpPr txBox="1"/>
          <p:nvPr/>
        </p:nvSpPr>
        <p:spPr>
          <a:xfrm>
            <a:off x="777240" y="57150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Швабской войны 1499 года Швейцария фактически не подчинялась Империи.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2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0A">
              <a:alpha val="30000"/>
            </a:srgbClr>
          </a:solidFill>
          <a:ln/>
        </p:spPr>
      </p:sp>
      <p:pic>
        <p:nvPicPr>
          <p:cNvPr id="3" name="!!shield" descr="img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77240"/>
            <a:ext cx="566928" cy="668975"/>
          </a:xfrm>
          <a:prstGeom prst="rect">
            <a:avLst/>
          </a:prstGeom>
        </p:spPr>
      </p:pic>
      <p:sp>
        <p:nvSpPr>
          <p:cNvPr id="4" name="!!c3_0"/>
          <p:cNvSpPr txBox="1"/>
          <p:nvPr/>
        </p:nvSpPr>
        <p:spPr>
          <a:xfrm>
            <a:off x="-11871655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CAPUT  III</a:t>
            </a:r>
            <a:endParaRPr lang="en-US" sz="1300" dirty="0"/>
          </a:p>
        </p:txBody>
      </p:sp>
      <p:sp>
        <p:nvSpPr>
          <p:cNvPr id="5" name="!!c3_1"/>
          <p:cNvSpPr txBox="1"/>
          <p:nvPr/>
        </p:nvSpPr>
        <p:spPr>
          <a:xfrm>
            <a:off x="-11871655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Хроника свободы</a:t>
            </a:r>
            <a:endParaRPr lang="en-US" sz="4000" dirty="0"/>
          </a:p>
        </p:txBody>
      </p:sp>
      <p:sp>
        <p:nvSpPr>
          <p:cNvPr id="6" name="!!c3_2"/>
          <p:cNvSpPr txBox="1"/>
          <p:nvPr/>
        </p:nvSpPr>
        <p:spPr>
          <a:xfrm>
            <a:off x="-2316175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IV  ·  VI</a:t>
            </a:r>
            <a:endParaRPr lang="en-US" sz="1000" dirty="0"/>
          </a:p>
        </p:txBody>
      </p:sp>
      <p:sp>
        <p:nvSpPr>
          <p:cNvPr id="7" name="!!c3_3"/>
          <p:cNvSpPr/>
          <p:nvPr/>
        </p:nvSpPr>
        <p:spPr>
          <a:xfrm>
            <a:off x="-11871655" y="3429000"/>
            <a:ext cx="10637215" cy="0"/>
          </a:xfrm>
          <a:prstGeom prst="line">
            <a:avLst/>
          </a:prstGeom>
          <a:noFill/>
          <a:ln w="12700">
            <a:solidFill>
              <a:srgbClr val="C9A15A"/>
            </a:solidFill>
            <a:prstDash val="solid"/>
          </a:ln>
        </p:spPr>
      </p:sp>
      <p:sp>
        <p:nvSpPr>
          <p:cNvPr id="8" name="!!c3_4"/>
          <p:cNvSpPr/>
          <p:nvPr/>
        </p:nvSpPr>
        <p:spPr>
          <a:xfrm>
            <a:off x="-11862511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9" name="!!c3_5"/>
          <p:cNvSpPr txBox="1"/>
          <p:nvPr/>
        </p:nvSpPr>
        <p:spPr>
          <a:xfrm>
            <a:off x="-11825935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1291</a:t>
            </a:r>
            <a:endParaRPr lang="en-US" sz="3400" dirty="0"/>
          </a:p>
        </p:txBody>
      </p:sp>
      <p:sp>
        <p:nvSpPr>
          <p:cNvPr id="10" name="!!c3_6"/>
          <p:cNvSpPr txBox="1"/>
          <p:nvPr/>
        </p:nvSpPr>
        <p:spPr>
          <a:xfrm>
            <a:off x="-11825935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Вечный союз</a:t>
            </a:r>
            <a:endParaRPr lang="en-US" sz="1400" dirty="0"/>
          </a:p>
        </p:txBody>
      </p:sp>
      <p:sp>
        <p:nvSpPr>
          <p:cNvPr id="11" name="!!c3_7"/>
          <p:cNvSpPr txBox="1"/>
          <p:nvPr/>
        </p:nvSpPr>
        <p:spPr>
          <a:xfrm>
            <a:off x="-11825935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Ури, Швиц и Унтервальден объединяются</a:t>
            </a:r>
            <a:endParaRPr lang="en-US" sz="1300" dirty="0"/>
          </a:p>
        </p:txBody>
      </p:sp>
      <p:sp>
        <p:nvSpPr>
          <p:cNvPr id="12" name="!!c3_8"/>
          <p:cNvSpPr/>
          <p:nvPr/>
        </p:nvSpPr>
        <p:spPr>
          <a:xfrm>
            <a:off x="-9649663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13" name="!!c3_9"/>
          <p:cNvSpPr txBox="1"/>
          <p:nvPr/>
        </p:nvSpPr>
        <p:spPr>
          <a:xfrm>
            <a:off x="-9613087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1315</a:t>
            </a:r>
            <a:endParaRPr lang="en-US" sz="3400" dirty="0"/>
          </a:p>
        </p:txBody>
      </p:sp>
      <p:sp>
        <p:nvSpPr>
          <p:cNvPr id="14" name="!!c3_10"/>
          <p:cNvSpPr txBox="1"/>
          <p:nvPr/>
        </p:nvSpPr>
        <p:spPr>
          <a:xfrm>
            <a:off x="-9613087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Моргартен</a:t>
            </a:r>
            <a:endParaRPr lang="en-US" sz="1400" dirty="0"/>
          </a:p>
        </p:txBody>
      </p:sp>
      <p:sp>
        <p:nvSpPr>
          <p:cNvPr id="15" name="!!c3_11"/>
          <p:cNvSpPr txBox="1"/>
          <p:nvPr/>
        </p:nvSpPr>
        <p:spPr>
          <a:xfrm>
            <a:off x="-9613087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Ополченцы разбили австрийских рыцарей</a:t>
            </a:r>
            <a:endParaRPr lang="en-US" sz="1300" dirty="0"/>
          </a:p>
        </p:txBody>
      </p:sp>
      <p:sp>
        <p:nvSpPr>
          <p:cNvPr id="16" name="!!c3_12"/>
          <p:cNvSpPr/>
          <p:nvPr/>
        </p:nvSpPr>
        <p:spPr>
          <a:xfrm>
            <a:off x="-7436815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17" name="!!c3_13"/>
          <p:cNvSpPr txBox="1"/>
          <p:nvPr/>
        </p:nvSpPr>
        <p:spPr>
          <a:xfrm>
            <a:off x="-7400239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1476</a:t>
            </a:r>
            <a:endParaRPr lang="en-US" sz="3400" dirty="0"/>
          </a:p>
        </p:txBody>
      </p:sp>
      <p:sp>
        <p:nvSpPr>
          <p:cNvPr id="18" name="!!c3_14"/>
          <p:cNvSpPr txBox="1"/>
          <p:nvPr/>
        </p:nvSpPr>
        <p:spPr>
          <a:xfrm>
            <a:off x="-7400239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Грансон и Муртен</a:t>
            </a:r>
            <a:endParaRPr lang="en-US" sz="1400" dirty="0"/>
          </a:p>
        </p:txBody>
      </p:sp>
      <p:sp>
        <p:nvSpPr>
          <p:cNvPr id="19" name="!!c3_15"/>
          <p:cNvSpPr txBox="1"/>
          <p:nvPr/>
        </p:nvSpPr>
        <p:spPr>
          <a:xfrm>
            <a:off x="-7400239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Разгром Карла Смелого Бургундского</a:t>
            </a:r>
            <a:endParaRPr lang="en-US" sz="1300" dirty="0"/>
          </a:p>
        </p:txBody>
      </p:sp>
      <p:sp>
        <p:nvSpPr>
          <p:cNvPr id="20" name="!!c3_16"/>
          <p:cNvSpPr/>
          <p:nvPr/>
        </p:nvSpPr>
        <p:spPr>
          <a:xfrm>
            <a:off x="-5223967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21" name="!!c3_17"/>
          <p:cNvSpPr txBox="1"/>
          <p:nvPr/>
        </p:nvSpPr>
        <p:spPr>
          <a:xfrm>
            <a:off x="-5187391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1515</a:t>
            </a:r>
            <a:endParaRPr lang="en-US" sz="3400" dirty="0"/>
          </a:p>
        </p:txBody>
      </p:sp>
      <p:sp>
        <p:nvSpPr>
          <p:cNvPr id="22" name="!!c3_18"/>
          <p:cNvSpPr txBox="1"/>
          <p:nvPr/>
        </p:nvSpPr>
        <p:spPr>
          <a:xfrm>
            <a:off x="-5187391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Мариньяно</a:t>
            </a:r>
            <a:endParaRPr lang="en-US" sz="1400" dirty="0"/>
          </a:p>
        </p:txBody>
      </p:sp>
      <p:sp>
        <p:nvSpPr>
          <p:cNvPr id="23" name="!!c3_19"/>
          <p:cNvSpPr txBox="1"/>
          <p:nvPr/>
        </p:nvSpPr>
        <p:spPr>
          <a:xfrm>
            <a:off x="-5187391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Поражение от Франции — курс на нейтралитет</a:t>
            </a:r>
            <a:endParaRPr lang="en-US" sz="1300" dirty="0"/>
          </a:p>
        </p:txBody>
      </p:sp>
      <p:sp>
        <p:nvSpPr>
          <p:cNvPr id="24" name="!!c3_20"/>
          <p:cNvSpPr/>
          <p:nvPr/>
        </p:nvSpPr>
        <p:spPr>
          <a:xfrm>
            <a:off x="-3011119" y="3300984"/>
            <a:ext cx="256032" cy="256032"/>
          </a:xfrm>
          <a:prstGeom prst="diamond">
            <a:avLst/>
          </a:prstGeom>
          <a:solidFill>
            <a:srgbClr val="7A1C1A"/>
          </a:solidFill>
          <a:ln w="15875">
            <a:solidFill>
              <a:srgbClr val="C9A15A"/>
            </a:solidFill>
            <a:prstDash val="solid"/>
          </a:ln>
        </p:spPr>
      </p:sp>
      <p:sp>
        <p:nvSpPr>
          <p:cNvPr id="25" name="!!c3_21"/>
          <p:cNvSpPr txBox="1"/>
          <p:nvPr/>
        </p:nvSpPr>
        <p:spPr>
          <a:xfrm>
            <a:off x="-2974543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1648</a:t>
            </a:r>
            <a:endParaRPr lang="en-US" sz="3400" dirty="0"/>
          </a:p>
        </p:txBody>
      </p:sp>
      <p:sp>
        <p:nvSpPr>
          <p:cNvPr id="26" name="!!c3_22"/>
          <p:cNvSpPr txBox="1"/>
          <p:nvPr/>
        </p:nvSpPr>
        <p:spPr>
          <a:xfrm>
            <a:off x="-2974543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Вестфальский мир</a:t>
            </a:r>
            <a:endParaRPr lang="en-US" sz="1400" dirty="0"/>
          </a:p>
        </p:txBody>
      </p:sp>
      <p:sp>
        <p:nvSpPr>
          <p:cNvPr id="27" name="!!c3_23"/>
          <p:cNvSpPr txBox="1"/>
          <p:nvPr/>
        </p:nvSpPr>
        <p:spPr>
          <a:xfrm>
            <a:off x="-2974543" y="4160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Европа признала независимость</a:t>
            </a:r>
            <a:endParaRPr lang="en-US" sz="1300" dirty="0"/>
          </a:p>
        </p:txBody>
      </p:sp>
      <p:sp>
        <p:nvSpPr>
          <p:cNvPr id="28" name="!!c3_24"/>
          <p:cNvSpPr txBox="1"/>
          <p:nvPr/>
        </p:nvSpPr>
        <p:spPr>
          <a:xfrm>
            <a:off x="-11871655" y="57150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Швабской войны 1499 года Швейцария фактически не подчинялась Империи.</a:t>
            </a:r>
            <a:endParaRPr lang="en-US" sz="1200" dirty="0"/>
          </a:p>
        </p:txBody>
      </p:sp>
      <p:sp>
        <p:nvSpPr>
          <p:cNvPr id="29" name="!!c5_0"/>
          <p:cNvSpPr txBox="1"/>
          <p:nvPr/>
        </p:nvSpPr>
        <p:spPr>
          <a:xfrm>
            <a:off x="13563295" y="228600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FINIS</a:t>
            </a:r>
            <a:endParaRPr lang="en-US" sz="1400" dirty="0"/>
          </a:p>
        </p:txBody>
      </p:sp>
      <p:sp>
        <p:nvSpPr>
          <p:cNvPr id="30" name="!!c5_1"/>
          <p:cNvSpPr txBox="1"/>
          <p:nvPr/>
        </p:nvSpPr>
        <p:spPr>
          <a:xfrm>
            <a:off x="13563295" y="269748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Спасибо за внимание</a:t>
            </a:r>
            <a:endParaRPr lang="en-US" sz="4600" dirty="0"/>
          </a:p>
        </p:txBody>
      </p:sp>
      <p:sp>
        <p:nvSpPr>
          <p:cNvPr id="31" name="!!c5_2"/>
          <p:cNvSpPr txBox="1"/>
          <p:nvPr/>
        </p:nvSpPr>
        <p:spPr>
          <a:xfrm>
            <a:off x="14660575" y="3840480"/>
            <a:ext cx="8168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E2D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Свобода общин, сильная пехота и честный труд помогли маленькой горной стране отстоять независимость среди великих держав.</a:t>
            </a:r>
            <a:endParaRPr lang="en-US" sz="1900" dirty="0"/>
          </a:p>
        </p:txBody>
      </p:sp>
      <p:sp>
        <p:nvSpPr>
          <p:cNvPr id="32" name="!!c5_3"/>
          <p:cNvSpPr txBox="1"/>
          <p:nvPr/>
        </p:nvSpPr>
        <p:spPr>
          <a:xfrm>
            <a:off x="14020495" y="4892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Выполнил(а): ученик(ца) 8 «__» класса  ·  Фамилия Имя</a:t>
            </a:r>
            <a:endParaRPr lang="en-US" sz="1400" dirty="0"/>
          </a:p>
        </p:txBody>
      </p:sp>
      <p:sp>
        <p:nvSpPr>
          <p:cNvPr id="33" name="!!c5_4"/>
          <p:cNvSpPr txBox="1"/>
          <p:nvPr/>
        </p:nvSpPr>
        <p:spPr>
          <a:xfrm>
            <a:off x="14020495" y="57150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A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Источники: А. Я. Юдовская и др. «Всеобщая история. История Нового времени», 7–8 кл.; энциклопедические статьи о Швейцарской конфедерации</a:t>
            </a:r>
            <a:endParaRPr lang="en-US" sz="1000" dirty="0"/>
          </a:p>
        </p:txBody>
      </p:sp>
      <p:sp>
        <p:nvSpPr>
          <p:cNvPr id="34" name="!!c4_0"/>
          <p:cNvSpPr txBox="1"/>
          <p:nvPr/>
        </p:nvSpPr>
        <p:spPr>
          <a:xfrm>
            <a:off x="77724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CAPUT  IV</a:t>
            </a:r>
            <a:endParaRPr lang="en-US" sz="1300" dirty="0"/>
          </a:p>
        </p:txBody>
      </p:sp>
      <p:sp>
        <p:nvSpPr>
          <p:cNvPr id="35" name="!!c4_1"/>
          <p:cNvSpPr txBox="1"/>
          <p:nvPr/>
        </p:nvSpPr>
        <p:spPr>
          <a:xfrm>
            <a:off x="10332720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  ·  VI</a:t>
            </a:r>
            <a:endParaRPr lang="en-US" sz="1000" dirty="0"/>
          </a:p>
        </p:txBody>
      </p:sp>
      <p:pic>
        <p:nvPicPr>
          <p:cNvPr id="36" name="!!c4_2" descr="img/parchmen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92240" y="777240"/>
            <a:ext cx="4937760" cy="5303520"/>
          </a:xfrm>
          <a:prstGeom prst="rect">
            <a:avLst/>
          </a:prstGeom>
        </p:spPr>
      </p:pic>
      <p:sp>
        <p:nvSpPr>
          <p:cNvPr id="37" name="!!c4_3"/>
          <p:cNvSpPr/>
          <p:nvPr/>
        </p:nvSpPr>
        <p:spPr>
          <a:xfrm>
            <a:off x="6492240" y="777240"/>
            <a:ext cx="4937760" cy="5303520"/>
          </a:xfrm>
          <a:prstGeom prst="rect">
            <a:avLst/>
          </a:prstGeom>
          <a:ln w="19050">
            <a:solidFill>
              <a:srgbClr val="C9A15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38" name="!!c4_4"/>
          <p:cNvSpPr txBox="1"/>
          <p:nvPr/>
        </p:nvSpPr>
        <p:spPr>
          <a:xfrm>
            <a:off x="6492240" y="10972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XIII</a:t>
            </a:r>
            <a:endParaRPr lang="en-US" sz="12000" dirty="0"/>
          </a:p>
        </p:txBody>
      </p:sp>
      <p:sp>
        <p:nvSpPr>
          <p:cNvPr id="39" name="!!c4_5"/>
          <p:cNvSpPr txBox="1"/>
          <p:nvPr/>
        </p:nvSpPr>
        <p:spPr>
          <a:xfrm>
            <a:off x="649224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кантонов к 1513 году</a:t>
            </a:r>
            <a:endParaRPr lang="en-US" sz="2400" dirty="0"/>
          </a:p>
        </p:txBody>
      </p:sp>
      <p:sp>
        <p:nvSpPr>
          <p:cNvPr id="40" name="!!c4_6"/>
          <p:cNvSpPr txBox="1"/>
          <p:nvPr/>
        </p:nvSpPr>
        <p:spPr>
          <a:xfrm>
            <a:off x="6949440" y="37490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Союз тринадцати кантонов просуществовал до 1798 года. У каждого — свои законы, а общие дела решал сейм (Tagsatzung).</a:t>
            </a:r>
            <a:endParaRPr lang="en-US" sz="1500" dirty="0"/>
          </a:p>
        </p:txBody>
      </p:sp>
      <p:sp>
        <p:nvSpPr>
          <p:cNvPr id="41" name="!!c4_7"/>
          <p:cNvSpPr txBox="1"/>
          <p:nvPr/>
        </p:nvSpPr>
        <p:spPr>
          <a:xfrm>
            <a:off x="777240" y="228600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«Швейцарцы превосходно вооружены и пользуются полной свободой»</a:t>
            </a:r>
            <a:endParaRPr lang="en-US" sz="3000" dirty="0"/>
          </a:p>
        </p:txBody>
      </p:sp>
      <p:sp>
        <p:nvSpPr>
          <p:cNvPr id="42" name="!!c4_8"/>
          <p:cNvSpPr txBox="1"/>
          <p:nvPr/>
        </p:nvSpPr>
        <p:spPr>
          <a:xfrm>
            <a:off x="77724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Никколо Макиавелли, «Государь», 1513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2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0A">
              <a:alpha val="60000"/>
            </a:srgbClr>
          </a:solidFill>
          <a:ln/>
        </p:spPr>
      </p:sp>
      <p:sp>
        <p:nvSpPr>
          <p:cNvPr id="3" name="!!framea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ln w="15875">
            <a:solidFill>
              <a:srgbClr val="C9A15A"/>
            </a:solidFill>
            <a:prstDash val="solid"/>
          </a:ln>
        </p:spPr>
      </p:sp>
      <p:sp>
        <p:nvSpPr>
          <p:cNvPr id="4" name="!!frameb"/>
          <p:cNvSpPr/>
          <p:nvPr/>
        </p:nvSpPr>
        <p:spPr>
          <a:xfrm>
            <a:off x="402336" y="402336"/>
            <a:ext cx="11387023" cy="6053328"/>
          </a:xfrm>
          <a:prstGeom prst="rect">
            <a:avLst/>
          </a:prstGeom>
          <a:ln w="6350">
            <a:solidFill>
              <a:srgbClr val="C9A15A"/>
            </a:solidFill>
            <a:prstDash val="solid"/>
          </a:ln>
        </p:spPr>
      </p:sp>
      <p:pic>
        <p:nvPicPr>
          <p:cNvPr id="5" name="!!shield" descr="img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88" y="685800"/>
            <a:ext cx="1188720" cy="1402690"/>
          </a:xfrm>
          <a:prstGeom prst="rect">
            <a:avLst/>
          </a:prstGeom>
        </p:spPr>
      </p:pic>
      <p:sp>
        <p:nvSpPr>
          <p:cNvPr id="6" name="!!c4_0"/>
          <p:cNvSpPr txBox="1"/>
          <p:nvPr/>
        </p:nvSpPr>
        <p:spPr>
          <a:xfrm>
            <a:off x="-11871655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CAPUT  IV</a:t>
            </a:r>
            <a:endParaRPr lang="en-US" sz="1300" dirty="0"/>
          </a:p>
        </p:txBody>
      </p:sp>
      <p:sp>
        <p:nvSpPr>
          <p:cNvPr id="7" name="!!c4_1"/>
          <p:cNvSpPr txBox="1"/>
          <p:nvPr/>
        </p:nvSpPr>
        <p:spPr>
          <a:xfrm>
            <a:off x="-2316175" y="6263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  ·  VI</a:t>
            </a:r>
            <a:endParaRPr lang="en-US" sz="1000" dirty="0"/>
          </a:p>
        </p:txBody>
      </p:sp>
      <p:pic>
        <p:nvPicPr>
          <p:cNvPr id="8" name="!!c4_2" descr="img/parchmen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-6156655" y="777240"/>
            <a:ext cx="4937760" cy="5303520"/>
          </a:xfrm>
          <a:prstGeom prst="rect">
            <a:avLst/>
          </a:prstGeom>
        </p:spPr>
      </p:pic>
      <p:sp>
        <p:nvSpPr>
          <p:cNvPr id="9" name="!!c4_3"/>
          <p:cNvSpPr/>
          <p:nvPr/>
        </p:nvSpPr>
        <p:spPr>
          <a:xfrm>
            <a:off x="-6156655" y="777240"/>
            <a:ext cx="4937760" cy="5303520"/>
          </a:xfrm>
          <a:prstGeom prst="rect">
            <a:avLst/>
          </a:prstGeom>
          <a:ln w="19050">
            <a:solidFill>
              <a:srgbClr val="C9A15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!!c4_4"/>
          <p:cNvSpPr txBox="1"/>
          <p:nvPr/>
        </p:nvSpPr>
        <p:spPr>
          <a:xfrm>
            <a:off x="-6156655" y="10972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7A1C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XIII</a:t>
            </a:r>
            <a:endParaRPr lang="en-US" sz="12000" dirty="0"/>
          </a:p>
        </p:txBody>
      </p:sp>
      <p:sp>
        <p:nvSpPr>
          <p:cNvPr id="11" name="!!c4_5"/>
          <p:cNvSpPr txBox="1"/>
          <p:nvPr/>
        </p:nvSpPr>
        <p:spPr>
          <a:xfrm>
            <a:off x="-6156655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A1E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кантонов к 1513 году</a:t>
            </a:r>
            <a:endParaRPr lang="en-US" sz="2400" dirty="0"/>
          </a:p>
        </p:txBody>
      </p:sp>
      <p:sp>
        <p:nvSpPr>
          <p:cNvPr id="12" name="!!c4_6"/>
          <p:cNvSpPr txBox="1"/>
          <p:nvPr/>
        </p:nvSpPr>
        <p:spPr>
          <a:xfrm>
            <a:off x="-5699455" y="37490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5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Союз тринадцати кантонов просуществовал до 1798 года. У каждого — свои законы, а общие дела решал сейм (Tagsatzung).</a:t>
            </a:r>
            <a:endParaRPr lang="en-US" sz="1500" dirty="0"/>
          </a:p>
        </p:txBody>
      </p:sp>
      <p:sp>
        <p:nvSpPr>
          <p:cNvPr id="13" name="!!c4_7"/>
          <p:cNvSpPr txBox="1"/>
          <p:nvPr/>
        </p:nvSpPr>
        <p:spPr>
          <a:xfrm>
            <a:off x="-11871655" y="228600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«Швейцарцы превосходно вооружены и пользуются полной свободой»</a:t>
            </a:r>
            <a:endParaRPr lang="en-US" sz="3000" dirty="0"/>
          </a:p>
        </p:txBody>
      </p:sp>
      <p:sp>
        <p:nvSpPr>
          <p:cNvPr id="14" name="!!c4_8"/>
          <p:cNvSpPr txBox="1"/>
          <p:nvPr/>
        </p:nvSpPr>
        <p:spPr>
          <a:xfrm>
            <a:off x="-11871655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Никколо Макиавелли, «Государь», 1513</a:t>
            </a:r>
            <a:endParaRPr lang="en-US" sz="1500" dirty="0"/>
          </a:p>
        </p:txBody>
      </p:sp>
      <p:sp>
        <p:nvSpPr>
          <p:cNvPr id="15" name="!!c5_0"/>
          <p:cNvSpPr txBox="1"/>
          <p:nvPr/>
        </p:nvSpPr>
        <p:spPr>
          <a:xfrm>
            <a:off x="914400" y="228600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0" kern="0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FINIS</a:t>
            </a:r>
            <a:endParaRPr lang="en-US" sz="1400" dirty="0"/>
          </a:p>
        </p:txBody>
      </p:sp>
      <p:sp>
        <p:nvSpPr>
          <p:cNvPr id="16" name="!!c5_1"/>
          <p:cNvSpPr txBox="1"/>
          <p:nvPr/>
        </p:nvSpPr>
        <p:spPr>
          <a:xfrm>
            <a:off x="914400" y="269748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1E6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Спасибо за внимание</a:t>
            </a:r>
            <a:endParaRPr lang="en-US" sz="4600" dirty="0"/>
          </a:p>
        </p:txBody>
      </p:sp>
      <p:sp>
        <p:nvSpPr>
          <p:cNvPr id="17" name="!!c5_2"/>
          <p:cNvSpPr txBox="1"/>
          <p:nvPr/>
        </p:nvSpPr>
        <p:spPr>
          <a:xfrm>
            <a:off x="2011680" y="3840480"/>
            <a:ext cx="8168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E2D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Свобода общин, сильная пехота и честный труд помогли маленькой горной стране отстоять независимость среди великих держав.</a:t>
            </a:r>
            <a:endParaRPr lang="en-US" sz="1900" dirty="0"/>
          </a:p>
        </p:txBody>
      </p:sp>
      <p:sp>
        <p:nvSpPr>
          <p:cNvPr id="18" name="!!c5_3"/>
          <p:cNvSpPr txBox="1"/>
          <p:nvPr/>
        </p:nvSpPr>
        <p:spPr>
          <a:xfrm>
            <a:off x="1371600" y="4892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Выполнил(а): ученик(ца) 8 «__» класса  ·  Фамилия Имя</a:t>
            </a:r>
            <a:endParaRPr lang="en-US" sz="1400" dirty="0"/>
          </a:p>
        </p:txBody>
      </p:sp>
      <p:sp>
        <p:nvSpPr>
          <p:cNvPr id="19" name="!!c5_4"/>
          <p:cNvSpPr txBox="1"/>
          <p:nvPr/>
        </p:nvSpPr>
        <p:spPr>
          <a:xfrm>
            <a:off x="1371600" y="57150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A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Источники: А. Я. Юдовская и др. «Всеобщая история. История Нового времени», 7–8 кл.; энциклопедические статьи о Швейцарской конфедерации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2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Швейцария до XVIII века</dc:title>
  <dc:subject>PptxGenJS Presentation</dc:subject>
  <dc:creator>PptxGenJS</dc:creator>
  <cp:lastModifiedBy>PptxGenJS</cp:lastModifiedBy>
  <cp:revision>1</cp:revision>
  <dcterms:created xsi:type="dcterms:W3CDTF">2026-10-01T13:02:58Z</dcterms:created>
  <dcterms:modified xsi:type="dcterms:W3CDTF">2026-10-01T13:02:58Z</dcterms:modified>
</cp:coreProperties>
</file>