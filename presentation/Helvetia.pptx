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</p:sldIdLst>
  <p:notesMasterIdLst>
    <p:notesMasterId r:id="rId8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notesMaster" Target="notesMasters/notesMaster1.xml"/><Relationship Id="rId9" Type="http://schemas.openxmlformats.org/officeDocument/2006/relationships/presProps" Target="presProps.xml"/><Relationship Id="rId10" Type="http://schemas.openxmlformats.org/officeDocument/2006/relationships/viewProps" Target="viewProps.xml"/><Relationship Id="rId11" Type="http://schemas.openxmlformats.org/officeDocument/2006/relationships/theme" Target="theme/theme1.xml"/><Relationship Id="rId12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Здравствуйте! Тема нашего проекта — «Швейцария в начале XVIII века». Это время, когда по Европе шли большие войны: за испанское наследство, Северная война. Швейцария была маленьким союзом горных кантонов без короля и общей армии. Мы расскажем, как она была устроена, чем жили её люди, какие события произошли в начале века и почему Швейцария смогла остаться в стороне от войн.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К 1700 году Швейцария — это союз тринадцати кантонов: Ури, Швиц, Унтервальден, Люцерн, Цюрих, Гларус, Цуг, Берн, Фрибур, Золотурн, Базель, Шаффхаузен и Аппенцелль. Общего правительства и столицы не было. Общие дела обсуждал сейм — съезд послов от кантонов, а решения каждый кантон мог принять или не принять. Рядом с кантонами были их союзники — Женева, Граубюнден, Вале, Невшатель. А ещё были подвластные земли, например Тургау или земли на юге, в Тичино: ими кантоны управляли сообща и присылали туда своих наместников.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Чем жила страна? Первое — наёмная служба. Швейцарские полки служили Франции, Голландии, Испании и другим странам. Деньги, которые получали солдаты и их командиры, кормили многие горные деревни. Второе — ремесло. В деревнях вокруг Цюриха крестьяне дома пряли хлопок и ткали ткани для городских купцов. В Женеве и в горах Юры делали часы; на рубеже XVII и XVIII веков часовое дело в Юре начал развивать мастер Даниэль Жанришар. Третье — власть патрициев. В Берне, Люцерне и других городах правили немногие знатные семьи. В Берне их называли «милостивые господа». Крестьяне и жители подвластных земель права голоса не имели.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Теперь главные события начала века. С 1701 года шла война за испанское наследство, но Швейцарский союз в ней не участвовал и сохранил нейтралитет. В 1707 году княжество Невшатель выбрало своим правителем короля Пруссии. В 1709 году в битве при Мальплаке швейцарские полки на французской и на голландской службе сражались друг против друга — это показывает, как необычно жила страна наёмников. В 1712 году между кантонами вспыхнула война из-за веры: протестанты Цюриха и Берна разбили католические кантоны при Вильмергене и стали сильнейшими в союзе. А в 1723 году майор Давель поднял в земле Во восстание против власти Берна; восстание не удалось, и Давеля казнили.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Начало XVIII века — время швейцарских учёных. В Базеле жила знаменитая семья математиков Бернулли. В 1707 году в Базеле родился Леонард Эйлер, ученик Иоганна Бернулли. С 1727 года он работал в Петербургской академии наук и большую часть жизни провёл в России. В 1708 году в Берне родился учёный и поэт Альбрехт фон Галлер, а в 1712 году в Женеве — философ Жан-Жак Руссо. Так маленькая страна дала Европе великих мыслителей.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Подведём итог. В начале XVIII века Швейцария оставалась нейтральной, хотя вокруг шли большие войны, а её солдаты служили чужим армиям. Внутри страны были споры из-за веры и власти — как Вильмергенская война и восстание Давеля. Богатела Швейцария ремеслом, торговлей и наёмной службой, а её учёные, как Эйлер, прославились на всю Европу. Спасибо за внимание! Готовы ответить на ваши вопросы.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-image-1.jpeg"/><Relationship Id="rId2" Type="http://schemas.openxmlformats.org/officeDocument/2006/relationships/image" Target="../media/image-1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-image-1.jpeg"/><Relationship Id="rId2" Type="http://schemas.openxmlformats.org/officeDocument/2006/relationships/image" Target="../media/image-2-2.jpg"/><Relationship Id="rId3" Type="http://schemas.openxmlformats.org/officeDocument/2006/relationships/image" Target="../media/image-2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Slide-3-image-1.jpeg"/><Relationship Id="rId2" Type="http://schemas.openxmlformats.org/officeDocument/2006/relationships/image" Target="../media/image-3-2.jpg"/><Relationship Id="rId3" Type="http://schemas.openxmlformats.org/officeDocument/2006/relationships/image" Target="../media/image-3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Slide-4-image-1.jpeg"/><Relationship Id="rId2" Type="http://schemas.openxmlformats.org/officeDocument/2006/relationships/image" Target="../media/image-4-2.png"/><Relationship Id="rId3" Type="http://schemas.openxmlformats.org/officeDocument/2006/relationships/image" Target="../media/image-4-3.png"/><Relationship Id="rId4" Type="http://schemas.openxmlformats.org/officeDocument/2006/relationships/image" Target="../media/image-4-4.jpg"/><Relationship Id="rId5" Type="http://schemas.openxmlformats.org/officeDocument/2006/relationships/slideLayout" Target="../slideLayouts/slideLayout1.xml"/><Relationship Id="rId6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Slide-5-image-1.jpeg"/><Relationship Id="rId2" Type="http://schemas.openxmlformats.org/officeDocument/2006/relationships/image" Target="../media/image-5-2.png"/><Relationship Id="rId3" Type="http://schemas.openxmlformats.org/officeDocument/2006/relationships/image" Target="../media/image-5-3.png"/><Relationship Id="rId4" Type="http://schemas.openxmlformats.org/officeDocument/2006/relationships/image" Target="../media/image-5-4.jpg"/><Relationship Id="rId5" Type="http://schemas.openxmlformats.org/officeDocument/2006/relationships/slideLayout" Target="../slideLayouts/slideLayout1.xml"/><Relationship Id="rId6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Slide-6-image-1.jpeg"/><Relationship Id="rId2" Type="http://schemas.openxmlformats.org/officeDocument/2006/relationships/image" Target="../media/image-6-2.png"/><Relationship Id="rId3" Type="http://schemas.openxmlformats.org/officeDocument/2006/relationships/image" Target="../media/image-6-3.png"/><Relationship Id="rId4" Type="http://schemas.openxmlformats.org/officeDocument/2006/relationships/image" Target="../media/image-6-4.jpg"/><Relationship Id="rId5" Type="http://schemas.openxmlformats.org/officeDocument/2006/relationships/slideLayout" Target="../slideLayouts/slideLayout1.xml"/><Relationship Id="rId6" Type="http://schemas.openxmlformats.org/officeDocument/2006/relationships/notesSlide" Target="../notesSlides/notesSlide6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il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40E0A">
              <a:alpha val="68000"/>
            </a:srgbClr>
          </a:solidFill>
          <a:ln/>
        </p:spPr>
      </p:sp>
      <p:sp>
        <p:nvSpPr>
          <p:cNvPr id="3" name="!!framea"/>
          <p:cNvSpPr/>
          <p:nvPr/>
        </p:nvSpPr>
        <p:spPr>
          <a:xfrm>
            <a:off x="320040" y="320040"/>
            <a:ext cx="11551615" cy="6217920"/>
          </a:xfrm>
          <a:prstGeom prst="rect">
            <a:avLst/>
          </a:prstGeom>
          <a:ln w="15875">
            <a:solidFill>
              <a:srgbClr val="C9A15A"/>
            </a:solidFill>
            <a:prstDash val="solid"/>
          </a:ln>
        </p:spPr>
      </p:sp>
      <p:sp>
        <p:nvSpPr>
          <p:cNvPr id="4" name="!!frameb"/>
          <p:cNvSpPr/>
          <p:nvPr/>
        </p:nvSpPr>
        <p:spPr>
          <a:xfrm>
            <a:off x="402336" y="402336"/>
            <a:ext cx="11387023" cy="6053328"/>
          </a:xfrm>
          <a:prstGeom prst="rect">
            <a:avLst/>
          </a:prstGeom>
          <a:ln w="6350">
            <a:solidFill>
              <a:srgbClr val="C9A15A"/>
            </a:solidFill>
            <a:prstDash val="solid"/>
          </a:ln>
        </p:spPr>
      </p:sp>
      <p:pic>
        <p:nvPicPr>
          <p:cNvPr id="5" name="!!shield" descr="img/shiel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592928" y="777240"/>
            <a:ext cx="1005840" cy="1186891"/>
          </a:xfrm>
          <a:prstGeom prst="rect">
            <a:avLst/>
          </a:prstGeom>
        </p:spPr>
      </p:pic>
      <p:sp>
        <p:nvSpPr>
          <p:cNvPr id="6" name="!!c1_0"/>
          <p:cNvSpPr txBox="1"/>
          <p:nvPr/>
        </p:nvSpPr>
        <p:spPr>
          <a:xfrm>
            <a:off x="13426135" y="6263640"/>
            <a:ext cx="5120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i="1" dirty="0">
                <a:solidFill>
                  <a:srgbClr val="6B564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Горное озеро в сердце Швейцарии (иллюстрация)</a:t>
            </a:r>
            <a:endParaRPr lang="en-US" sz="1000" dirty="0"/>
          </a:p>
        </p:txBody>
      </p:sp>
      <p:sp>
        <p:nvSpPr>
          <p:cNvPr id="7" name="!!c1_1"/>
          <p:cNvSpPr txBox="1"/>
          <p:nvPr/>
        </p:nvSpPr>
        <p:spPr>
          <a:xfrm>
            <a:off x="19186855" y="868680"/>
            <a:ext cx="41148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spc="600" kern="0" dirty="0">
                <a:solidFill>
                  <a:srgbClr val="7A1C1A"/>
                </a:solidFill>
                <a:latin typeface="Bookman Old Style" pitchFamily="34" charset="0"/>
                <a:ea typeface="Bookman Old Style" pitchFamily="34" charset="-122"/>
                <a:cs typeface="Bookman Old Style" pitchFamily="34" charset="-120"/>
              </a:rPr>
              <a:t>CAPUT  I  ·  1700</a:t>
            </a:r>
            <a:endParaRPr lang="en-US" sz="1300" dirty="0"/>
          </a:p>
        </p:txBody>
      </p:sp>
      <p:sp>
        <p:nvSpPr>
          <p:cNvPr id="8" name="!!c1_2"/>
          <p:cNvSpPr txBox="1"/>
          <p:nvPr/>
        </p:nvSpPr>
        <p:spPr>
          <a:xfrm>
            <a:off x="19186855" y="1234440"/>
            <a:ext cx="498348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2A1E16"/>
                </a:solidFill>
                <a:latin typeface="Bookman Old Style" pitchFamily="34" charset="0"/>
                <a:ea typeface="Bookman Old Style" pitchFamily="34" charset="-122"/>
                <a:cs typeface="Bookman Old Style" pitchFamily="34" charset="-120"/>
              </a:rPr>
              <a:t>Каким был союз</a:t>
            </a:r>
            <a:endParaRPr lang="en-US" sz="3200" dirty="0"/>
          </a:p>
        </p:txBody>
      </p:sp>
      <p:sp>
        <p:nvSpPr>
          <p:cNvPr id="9" name="!!c1_3"/>
          <p:cNvSpPr txBox="1"/>
          <p:nvPr/>
        </p:nvSpPr>
        <p:spPr>
          <a:xfrm>
            <a:off x="22981615" y="6263640"/>
            <a:ext cx="10972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spc="300" kern="0" dirty="0">
                <a:solidFill>
                  <a:srgbClr val="6B5640"/>
                </a:solidFill>
                <a:latin typeface="Bookman Old Style" pitchFamily="34" charset="0"/>
                <a:ea typeface="Bookman Old Style" pitchFamily="34" charset="-122"/>
                <a:cs typeface="Bookman Old Style" pitchFamily="34" charset="-120"/>
              </a:rPr>
              <a:t>II  ·  VI</a:t>
            </a:r>
            <a:endParaRPr lang="en-US" sz="1000" dirty="0"/>
          </a:p>
        </p:txBody>
      </p:sp>
      <p:sp>
        <p:nvSpPr>
          <p:cNvPr id="10" name="!!c1_4"/>
          <p:cNvSpPr txBox="1"/>
          <p:nvPr/>
        </p:nvSpPr>
        <p:spPr>
          <a:xfrm>
            <a:off x="19186855" y="2286000"/>
            <a:ext cx="86868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600" b="1" dirty="0">
                <a:solidFill>
                  <a:srgbClr val="7A1C1A"/>
                </a:solidFill>
                <a:latin typeface="Bookman Old Style" pitchFamily="34" charset="0"/>
                <a:ea typeface="Bookman Old Style" pitchFamily="34" charset="-122"/>
                <a:cs typeface="Bookman Old Style" pitchFamily="34" charset="-120"/>
              </a:rPr>
              <a:t>К</a:t>
            </a:r>
            <a:endParaRPr lang="en-US" sz="6600" dirty="0"/>
          </a:p>
        </p:txBody>
      </p:sp>
      <p:sp>
        <p:nvSpPr>
          <p:cNvPr id="11" name="!!c1_5"/>
          <p:cNvSpPr txBox="1"/>
          <p:nvPr/>
        </p:nvSpPr>
        <p:spPr>
          <a:xfrm>
            <a:off x="20101255" y="2331720"/>
            <a:ext cx="406908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0000"/>
              </a:lnSpc>
              <a:buNone/>
            </a:pPr>
            <a:r>
              <a:rPr lang="en-US" sz="1500" dirty="0">
                <a:solidFill>
                  <a:srgbClr val="2A1E16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1700 году Швейцарию составляли 13 кантонов. Общего правительства не было: дела решал сейм — съезд послов кантонов.</a:t>
            </a:r>
            <a:endParaRPr lang="en-US" sz="1500" dirty="0"/>
          </a:p>
        </p:txBody>
      </p:sp>
      <p:sp>
        <p:nvSpPr>
          <p:cNvPr id="12" name="!!c1_6"/>
          <p:cNvSpPr txBox="1"/>
          <p:nvPr/>
        </p:nvSpPr>
        <p:spPr>
          <a:xfrm>
            <a:off x="19186855" y="3520440"/>
            <a:ext cx="498348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0000"/>
              </a:lnSpc>
              <a:buNone/>
            </a:pPr>
            <a:r>
              <a:rPr lang="en-US" sz="1500" dirty="0">
                <a:solidFill>
                  <a:srgbClr val="2A1E16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Рядом были союзники — Женева, Граубюнден, Вале, Невшатель — и подвластные земли, которыми кантоны управляли сообща.</a:t>
            </a:r>
            <a:endParaRPr lang="en-US" sz="1500" dirty="0"/>
          </a:p>
        </p:txBody>
      </p:sp>
      <p:sp>
        <p:nvSpPr>
          <p:cNvPr id="13" name="!!c1_7"/>
          <p:cNvSpPr txBox="1"/>
          <p:nvPr/>
        </p:nvSpPr>
        <p:spPr>
          <a:xfrm>
            <a:off x="19186855" y="4846320"/>
            <a:ext cx="498348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i="1" dirty="0">
                <a:solidFill>
                  <a:srgbClr val="7A1C1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Каждый кантон жил по своим законам и сам решал, с кем дружить.</a:t>
            </a:r>
            <a:endParaRPr lang="en-US" sz="1600" dirty="0"/>
          </a:p>
        </p:txBody>
      </p:sp>
      <p:sp>
        <p:nvSpPr>
          <p:cNvPr id="14" name="!!c0_0"/>
          <p:cNvSpPr txBox="1"/>
          <p:nvPr/>
        </p:nvSpPr>
        <p:spPr>
          <a:xfrm>
            <a:off x="914400" y="2148840"/>
            <a:ext cx="10362895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spc="600" kern="0" dirty="0">
                <a:solidFill>
                  <a:srgbClr val="C9A15A"/>
                </a:solidFill>
                <a:latin typeface="Bookman Old Style" pitchFamily="34" charset="0"/>
                <a:ea typeface="Bookman Old Style" pitchFamily="34" charset="-122"/>
                <a:cs typeface="Bookman Old Style" pitchFamily="34" charset="-120"/>
              </a:rPr>
              <a:t>CONFOEDERATIO  HELVETICA  ·  MDCC — MDCCXXX</a:t>
            </a:r>
            <a:endParaRPr lang="en-US" sz="1300" dirty="0"/>
          </a:p>
        </p:txBody>
      </p:sp>
      <p:sp>
        <p:nvSpPr>
          <p:cNvPr id="15" name="!!c0_1"/>
          <p:cNvSpPr txBox="1"/>
          <p:nvPr/>
        </p:nvSpPr>
        <p:spPr>
          <a:xfrm>
            <a:off x="640080" y="2651760"/>
            <a:ext cx="10911535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4400" b="1" dirty="0">
                <a:solidFill>
                  <a:srgbClr val="F1E6CF"/>
                </a:solidFill>
                <a:latin typeface="Bookman Old Style" pitchFamily="34" charset="0"/>
                <a:ea typeface="Bookman Old Style" pitchFamily="34" charset="-122"/>
                <a:cs typeface="Bookman Old Style" pitchFamily="34" charset="-120"/>
              </a:rPr>
              <a:t>Швейцария в начале XVIII века</a:t>
            </a:r>
            <a:endParaRPr lang="en-US" sz="4400" dirty="0"/>
          </a:p>
        </p:txBody>
      </p:sp>
      <p:sp>
        <p:nvSpPr>
          <p:cNvPr id="16" name="!!c0_2"/>
          <p:cNvSpPr txBox="1"/>
          <p:nvPr/>
        </p:nvSpPr>
        <p:spPr>
          <a:xfrm>
            <a:off x="1828800" y="3840480"/>
            <a:ext cx="8534095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2100" i="1" dirty="0">
                <a:solidFill>
                  <a:srgbClr val="E2D2B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Союз тринадцати кантонов среди больших войн Европы</a:t>
            </a:r>
            <a:endParaRPr lang="en-US" sz="2100" dirty="0"/>
          </a:p>
        </p:txBody>
      </p:sp>
      <p:sp>
        <p:nvSpPr>
          <p:cNvPr id="17" name="!!c0_3"/>
          <p:cNvSpPr txBox="1"/>
          <p:nvPr/>
        </p:nvSpPr>
        <p:spPr>
          <a:xfrm>
            <a:off x="1371600" y="5257800"/>
            <a:ext cx="9448495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spc="300" kern="0" dirty="0">
                <a:solidFill>
                  <a:srgbClr val="C9A15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Проект по истории  ·  8 «А» класс  ·  Кирилл Ленин и Михаил Луконин</a:t>
            </a:r>
            <a:endParaRPr lang="en-US" sz="14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!!gilt"/>
          <p:cNvSpPr/>
          <p:nvPr/>
        </p:nvSpPr>
        <p:spPr>
          <a:xfrm>
            <a:off x="630936" y="630936"/>
            <a:ext cx="5413248" cy="5596128"/>
          </a:xfrm>
          <a:prstGeom prst="rect">
            <a:avLst/>
          </a:prstGeom>
          <a:solidFill>
            <a:srgbClr val="8E6A2E"/>
          </a:solidFill>
          <a:ln w="25400">
            <a:solidFill>
              <a:srgbClr val="C9A15A"/>
            </a:solidFill>
            <a:prstDash val="solid"/>
          </a:ln>
          <a:effectLst>
            <a:outerShdw sx="100000" sy="100000" kx="0" ky="0" algn="bl" rotWithShape="0" blurRad="177800" dist="50800" dir="5400000">
              <a:srgbClr val="000000">
                <a:alpha val="45000"/>
              </a:srgbClr>
            </a:outerShdw>
          </a:effectLst>
        </p:spPr>
      </p:sp>
      <p:pic>
        <p:nvPicPr>
          <p:cNvPr id="3" name="!!scene" descr="img/lake.jpg">    </p:cNvPr>
          <p:cNvPicPr>
            <a:picLocks noChangeAspect="1"/>
          </p:cNvPicPr>
          <p:nvPr/>
        </p:nvPicPr>
        <p:blipFill>
          <a:blip r:embed="rId2"/>
          <a:srcRect l="0" r="0" t="0" b="0"/>
          <a:stretch/>
        </p:blipFill>
        <p:spPr>
          <a:xfrm>
            <a:off x="777240" y="777240"/>
            <a:ext cx="5120640" cy="5303520"/>
          </a:xfrm>
          <a:prstGeom prst="rect">
            <a:avLst/>
          </a:prstGeom>
        </p:spPr>
      </p:pic>
      <p:pic>
        <p:nvPicPr>
          <p:cNvPr id="4" name="!!shield" descr="img/shiel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972800" y="502920"/>
            <a:ext cx="566928" cy="668975"/>
          </a:xfrm>
          <a:prstGeom prst="rect">
            <a:avLst/>
          </a:prstGeom>
        </p:spPr>
      </p:pic>
      <p:sp>
        <p:nvSpPr>
          <p:cNvPr id="5" name="!!c0_0"/>
          <p:cNvSpPr txBox="1"/>
          <p:nvPr/>
        </p:nvSpPr>
        <p:spPr>
          <a:xfrm>
            <a:off x="-11734495" y="2148840"/>
            <a:ext cx="10362895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spc="600" kern="0" dirty="0">
                <a:solidFill>
                  <a:srgbClr val="C9A15A"/>
                </a:solidFill>
                <a:latin typeface="Bookman Old Style" pitchFamily="34" charset="0"/>
                <a:ea typeface="Bookman Old Style" pitchFamily="34" charset="-122"/>
                <a:cs typeface="Bookman Old Style" pitchFamily="34" charset="-120"/>
              </a:rPr>
              <a:t>CONFOEDERATIO  HELVETICA  ·  MDCC — MDCCXXX</a:t>
            </a:r>
            <a:endParaRPr lang="en-US" sz="1300" dirty="0"/>
          </a:p>
        </p:txBody>
      </p:sp>
      <p:sp>
        <p:nvSpPr>
          <p:cNvPr id="6" name="!!c0_1"/>
          <p:cNvSpPr txBox="1"/>
          <p:nvPr/>
        </p:nvSpPr>
        <p:spPr>
          <a:xfrm>
            <a:off x="-12008815" y="2651760"/>
            <a:ext cx="10911535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4400" b="1" dirty="0">
                <a:solidFill>
                  <a:srgbClr val="F1E6CF"/>
                </a:solidFill>
                <a:latin typeface="Bookman Old Style" pitchFamily="34" charset="0"/>
                <a:ea typeface="Bookman Old Style" pitchFamily="34" charset="-122"/>
                <a:cs typeface="Bookman Old Style" pitchFamily="34" charset="-120"/>
              </a:rPr>
              <a:t>Швейцария в начале XVIII века</a:t>
            </a:r>
            <a:endParaRPr lang="en-US" sz="4400" dirty="0"/>
          </a:p>
        </p:txBody>
      </p:sp>
      <p:sp>
        <p:nvSpPr>
          <p:cNvPr id="7" name="!!c0_2"/>
          <p:cNvSpPr txBox="1"/>
          <p:nvPr/>
        </p:nvSpPr>
        <p:spPr>
          <a:xfrm>
            <a:off x="-10820095" y="3840480"/>
            <a:ext cx="8534095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2100" i="1" dirty="0">
                <a:solidFill>
                  <a:srgbClr val="E2D2B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Союз тринадцати кантонов среди больших войн Европы</a:t>
            </a:r>
            <a:endParaRPr lang="en-US" sz="2100" dirty="0"/>
          </a:p>
        </p:txBody>
      </p:sp>
      <p:sp>
        <p:nvSpPr>
          <p:cNvPr id="8" name="!!c0_3"/>
          <p:cNvSpPr txBox="1"/>
          <p:nvPr/>
        </p:nvSpPr>
        <p:spPr>
          <a:xfrm>
            <a:off x="-11277295" y="5257800"/>
            <a:ext cx="9448495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spc="300" kern="0" dirty="0">
                <a:solidFill>
                  <a:srgbClr val="C9A15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Проект по истории  ·  8 «А» класс  ·  Кирилл Ленин и Михаил Луконин</a:t>
            </a:r>
            <a:endParaRPr lang="en-US" sz="1400" dirty="0"/>
          </a:p>
        </p:txBody>
      </p:sp>
      <p:sp>
        <p:nvSpPr>
          <p:cNvPr id="9" name="!!c2_0"/>
          <p:cNvSpPr txBox="1"/>
          <p:nvPr/>
        </p:nvSpPr>
        <p:spPr>
          <a:xfrm>
            <a:off x="13426135" y="2377440"/>
            <a:ext cx="45720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spc="600" kern="0" dirty="0">
                <a:solidFill>
                  <a:srgbClr val="7A1C1A"/>
                </a:solidFill>
                <a:latin typeface="Bookman Old Style" pitchFamily="34" charset="0"/>
                <a:ea typeface="Bookman Old Style" pitchFamily="34" charset="-122"/>
                <a:cs typeface="Bookman Old Style" pitchFamily="34" charset="-120"/>
              </a:rPr>
              <a:t>CAPUT  II</a:t>
            </a:r>
            <a:endParaRPr lang="en-US" sz="1300" dirty="0"/>
          </a:p>
        </p:txBody>
      </p:sp>
      <p:sp>
        <p:nvSpPr>
          <p:cNvPr id="10" name="!!c2_1"/>
          <p:cNvSpPr txBox="1"/>
          <p:nvPr/>
        </p:nvSpPr>
        <p:spPr>
          <a:xfrm>
            <a:off x="13426135" y="2697480"/>
            <a:ext cx="8229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600" b="1" dirty="0">
                <a:solidFill>
                  <a:srgbClr val="2A1E16"/>
                </a:solidFill>
                <a:latin typeface="Bookman Old Style" pitchFamily="34" charset="0"/>
                <a:ea typeface="Bookman Old Style" pitchFamily="34" charset="-122"/>
                <a:cs typeface="Bookman Old Style" pitchFamily="34" charset="-120"/>
              </a:rPr>
              <a:t>Чем жила страна</a:t>
            </a:r>
            <a:endParaRPr lang="en-US" sz="3600" dirty="0"/>
          </a:p>
        </p:txBody>
      </p:sp>
      <p:sp>
        <p:nvSpPr>
          <p:cNvPr id="11" name="!!c2_2"/>
          <p:cNvSpPr txBox="1"/>
          <p:nvPr/>
        </p:nvSpPr>
        <p:spPr>
          <a:xfrm>
            <a:off x="22981615" y="6263640"/>
            <a:ext cx="10972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spc="300" kern="0" dirty="0">
                <a:solidFill>
                  <a:srgbClr val="6B5640"/>
                </a:solidFill>
                <a:latin typeface="Bookman Old Style" pitchFamily="34" charset="0"/>
                <a:ea typeface="Bookman Old Style" pitchFamily="34" charset="-122"/>
                <a:cs typeface="Bookman Old Style" pitchFamily="34" charset="-120"/>
              </a:rPr>
              <a:t>III  ·  VI</a:t>
            </a:r>
            <a:endParaRPr lang="en-US" sz="1000" dirty="0"/>
          </a:p>
        </p:txBody>
      </p:sp>
      <p:sp>
        <p:nvSpPr>
          <p:cNvPr id="12" name="!!c2_3"/>
          <p:cNvSpPr txBox="1"/>
          <p:nvPr/>
        </p:nvSpPr>
        <p:spPr>
          <a:xfrm>
            <a:off x="13426135" y="3611880"/>
            <a:ext cx="11887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600" b="1" dirty="0">
                <a:solidFill>
                  <a:srgbClr val="7A1C1A"/>
                </a:solidFill>
                <a:latin typeface="Bookman Old Style" pitchFamily="34" charset="0"/>
                <a:ea typeface="Bookman Old Style" pitchFamily="34" charset="-122"/>
                <a:cs typeface="Bookman Old Style" pitchFamily="34" charset="-120"/>
              </a:rPr>
              <a:t>I</a:t>
            </a:r>
            <a:endParaRPr lang="en-US" sz="3600" dirty="0"/>
          </a:p>
        </p:txBody>
      </p:sp>
      <p:sp>
        <p:nvSpPr>
          <p:cNvPr id="13" name="!!c2_4"/>
          <p:cNvSpPr txBox="1"/>
          <p:nvPr/>
        </p:nvSpPr>
        <p:spPr>
          <a:xfrm>
            <a:off x="13426135" y="4297680"/>
            <a:ext cx="32918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rgbClr val="2A1E16"/>
                </a:solidFill>
                <a:latin typeface="Bookman Old Style" pitchFamily="34" charset="0"/>
                <a:ea typeface="Bookman Old Style" pitchFamily="34" charset="-122"/>
                <a:cs typeface="Bookman Old Style" pitchFamily="34" charset="-120"/>
              </a:rPr>
              <a:t>Наёмная служба</a:t>
            </a:r>
            <a:endParaRPr lang="en-US" sz="1900" dirty="0"/>
          </a:p>
        </p:txBody>
      </p:sp>
      <p:sp>
        <p:nvSpPr>
          <p:cNvPr id="14" name="!!c2_5"/>
          <p:cNvSpPr txBox="1"/>
          <p:nvPr/>
        </p:nvSpPr>
        <p:spPr>
          <a:xfrm>
            <a:off x="13426135" y="4754880"/>
            <a:ext cx="3291840" cy="1234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5000"/>
              </a:lnSpc>
              <a:buNone/>
            </a:pPr>
            <a:r>
              <a:rPr lang="en-US" sz="1400" dirty="0">
                <a:solidFill>
                  <a:srgbClr val="6B564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Швейцарские полки служили Франции, Голландии и другим державам. Плата солдатам кормила многие деревни.</a:t>
            </a:r>
            <a:endParaRPr lang="en-US" sz="1400" dirty="0"/>
          </a:p>
        </p:txBody>
      </p:sp>
      <p:sp>
        <p:nvSpPr>
          <p:cNvPr id="15" name="!!c2_6"/>
          <p:cNvSpPr txBox="1"/>
          <p:nvPr/>
        </p:nvSpPr>
        <p:spPr>
          <a:xfrm>
            <a:off x="17147743" y="3611880"/>
            <a:ext cx="11887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600" b="1" dirty="0">
                <a:solidFill>
                  <a:srgbClr val="7A1C1A"/>
                </a:solidFill>
                <a:latin typeface="Bookman Old Style" pitchFamily="34" charset="0"/>
                <a:ea typeface="Bookman Old Style" pitchFamily="34" charset="-122"/>
                <a:cs typeface="Bookman Old Style" pitchFamily="34" charset="-120"/>
              </a:rPr>
              <a:t>II</a:t>
            </a:r>
            <a:endParaRPr lang="en-US" sz="3600" dirty="0"/>
          </a:p>
        </p:txBody>
      </p:sp>
      <p:sp>
        <p:nvSpPr>
          <p:cNvPr id="16" name="!!c2_7"/>
          <p:cNvSpPr txBox="1"/>
          <p:nvPr/>
        </p:nvSpPr>
        <p:spPr>
          <a:xfrm>
            <a:off x="17147743" y="4297680"/>
            <a:ext cx="32918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rgbClr val="2A1E16"/>
                </a:solidFill>
                <a:latin typeface="Bookman Old Style" pitchFamily="34" charset="0"/>
                <a:ea typeface="Bookman Old Style" pitchFamily="34" charset="-122"/>
                <a:cs typeface="Bookman Old Style" pitchFamily="34" charset="-120"/>
              </a:rPr>
              <a:t>Ремесло и часы</a:t>
            </a:r>
            <a:endParaRPr lang="en-US" sz="1900" dirty="0"/>
          </a:p>
        </p:txBody>
      </p:sp>
      <p:sp>
        <p:nvSpPr>
          <p:cNvPr id="17" name="!!c2_8"/>
          <p:cNvSpPr txBox="1"/>
          <p:nvPr/>
        </p:nvSpPr>
        <p:spPr>
          <a:xfrm>
            <a:off x="17147743" y="4754880"/>
            <a:ext cx="3291840" cy="1234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5000"/>
              </a:lnSpc>
              <a:buNone/>
            </a:pPr>
            <a:r>
              <a:rPr lang="en-US" sz="1400" dirty="0">
                <a:solidFill>
                  <a:srgbClr val="6B564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Крестьяне у Цюриха пряли хлопок для купцов. В Женеве и горах Юры делали часы.</a:t>
            </a:r>
            <a:endParaRPr lang="en-US" sz="1400" dirty="0"/>
          </a:p>
        </p:txBody>
      </p:sp>
      <p:sp>
        <p:nvSpPr>
          <p:cNvPr id="18" name="!!c2_9"/>
          <p:cNvSpPr txBox="1"/>
          <p:nvPr/>
        </p:nvSpPr>
        <p:spPr>
          <a:xfrm>
            <a:off x="20869351" y="3611880"/>
            <a:ext cx="11887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600" b="1" dirty="0">
                <a:solidFill>
                  <a:srgbClr val="7A1C1A"/>
                </a:solidFill>
                <a:latin typeface="Bookman Old Style" pitchFamily="34" charset="0"/>
                <a:ea typeface="Bookman Old Style" pitchFamily="34" charset="-122"/>
                <a:cs typeface="Bookman Old Style" pitchFamily="34" charset="-120"/>
              </a:rPr>
              <a:t>III</a:t>
            </a:r>
            <a:endParaRPr lang="en-US" sz="3600" dirty="0"/>
          </a:p>
        </p:txBody>
      </p:sp>
      <p:sp>
        <p:nvSpPr>
          <p:cNvPr id="19" name="!!c2_10"/>
          <p:cNvSpPr txBox="1"/>
          <p:nvPr/>
        </p:nvSpPr>
        <p:spPr>
          <a:xfrm>
            <a:off x="20869351" y="4297680"/>
            <a:ext cx="32918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rgbClr val="2A1E16"/>
                </a:solidFill>
                <a:latin typeface="Bookman Old Style" pitchFamily="34" charset="0"/>
                <a:ea typeface="Bookman Old Style" pitchFamily="34" charset="-122"/>
                <a:cs typeface="Bookman Old Style" pitchFamily="34" charset="-120"/>
              </a:rPr>
              <a:t>Власть патрициев</a:t>
            </a:r>
            <a:endParaRPr lang="en-US" sz="1900" dirty="0"/>
          </a:p>
        </p:txBody>
      </p:sp>
      <p:sp>
        <p:nvSpPr>
          <p:cNvPr id="20" name="!!c2_11"/>
          <p:cNvSpPr txBox="1"/>
          <p:nvPr/>
        </p:nvSpPr>
        <p:spPr>
          <a:xfrm>
            <a:off x="20869351" y="4754880"/>
            <a:ext cx="3291840" cy="1234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5000"/>
              </a:lnSpc>
              <a:buNone/>
            </a:pPr>
            <a:r>
              <a:rPr lang="en-US" sz="1400" dirty="0">
                <a:solidFill>
                  <a:srgbClr val="6B564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Городами правили немногие знатные семьи. Крестьяне и подвластные земли права голоса не имели.</a:t>
            </a:r>
            <a:endParaRPr lang="en-US" sz="1400" dirty="0"/>
          </a:p>
        </p:txBody>
      </p:sp>
      <p:sp>
        <p:nvSpPr>
          <p:cNvPr id="21" name="!!c1_0"/>
          <p:cNvSpPr txBox="1"/>
          <p:nvPr/>
        </p:nvSpPr>
        <p:spPr>
          <a:xfrm>
            <a:off x="777240" y="6263640"/>
            <a:ext cx="5120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i="1" dirty="0">
                <a:solidFill>
                  <a:srgbClr val="6B564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Горное озеро в сердце Швейцарии (иллюстрация)</a:t>
            </a:r>
            <a:endParaRPr lang="en-US" sz="1000" dirty="0"/>
          </a:p>
        </p:txBody>
      </p:sp>
      <p:sp>
        <p:nvSpPr>
          <p:cNvPr id="22" name="!!c1_1"/>
          <p:cNvSpPr txBox="1"/>
          <p:nvPr/>
        </p:nvSpPr>
        <p:spPr>
          <a:xfrm>
            <a:off x="6537960" y="868680"/>
            <a:ext cx="41148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spc="600" kern="0" dirty="0">
                <a:solidFill>
                  <a:srgbClr val="7A1C1A"/>
                </a:solidFill>
                <a:latin typeface="Bookman Old Style" pitchFamily="34" charset="0"/>
                <a:ea typeface="Bookman Old Style" pitchFamily="34" charset="-122"/>
                <a:cs typeface="Bookman Old Style" pitchFamily="34" charset="-120"/>
              </a:rPr>
              <a:t>CAPUT  I  ·  1700</a:t>
            </a:r>
            <a:endParaRPr lang="en-US" sz="1300" dirty="0"/>
          </a:p>
        </p:txBody>
      </p:sp>
      <p:sp>
        <p:nvSpPr>
          <p:cNvPr id="23" name="!!c1_2"/>
          <p:cNvSpPr txBox="1"/>
          <p:nvPr/>
        </p:nvSpPr>
        <p:spPr>
          <a:xfrm>
            <a:off x="6537960" y="1234440"/>
            <a:ext cx="498348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2A1E16"/>
                </a:solidFill>
                <a:latin typeface="Bookman Old Style" pitchFamily="34" charset="0"/>
                <a:ea typeface="Bookman Old Style" pitchFamily="34" charset="-122"/>
                <a:cs typeface="Bookman Old Style" pitchFamily="34" charset="-120"/>
              </a:rPr>
              <a:t>Каким был союз</a:t>
            </a:r>
            <a:endParaRPr lang="en-US" sz="3200" dirty="0"/>
          </a:p>
        </p:txBody>
      </p:sp>
      <p:sp>
        <p:nvSpPr>
          <p:cNvPr id="24" name="!!c1_3"/>
          <p:cNvSpPr txBox="1"/>
          <p:nvPr/>
        </p:nvSpPr>
        <p:spPr>
          <a:xfrm>
            <a:off x="10332720" y="6263640"/>
            <a:ext cx="10972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spc="300" kern="0" dirty="0">
                <a:solidFill>
                  <a:srgbClr val="6B5640"/>
                </a:solidFill>
                <a:latin typeface="Bookman Old Style" pitchFamily="34" charset="0"/>
                <a:ea typeface="Bookman Old Style" pitchFamily="34" charset="-122"/>
                <a:cs typeface="Bookman Old Style" pitchFamily="34" charset="-120"/>
              </a:rPr>
              <a:t>II  ·  VI</a:t>
            </a:r>
            <a:endParaRPr lang="en-US" sz="1000" dirty="0"/>
          </a:p>
        </p:txBody>
      </p:sp>
      <p:sp>
        <p:nvSpPr>
          <p:cNvPr id="25" name="!!c1_4"/>
          <p:cNvSpPr txBox="1"/>
          <p:nvPr/>
        </p:nvSpPr>
        <p:spPr>
          <a:xfrm>
            <a:off x="6537960" y="2286000"/>
            <a:ext cx="86868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600" b="1" dirty="0">
                <a:solidFill>
                  <a:srgbClr val="7A1C1A"/>
                </a:solidFill>
                <a:latin typeface="Bookman Old Style" pitchFamily="34" charset="0"/>
                <a:ea typeface="Bookman Old Style" pitchFamily="34" charset="-122"/>
                <a:cs typeface="Bookman Old Style" pitchFamily="34" charset="-120"/>
              </a:rPr>
              <a:t>К</a:t>
            </a:r>
            <a:endParaRPr lang="en-US" sz="6600" dirty="0"/>
          </a:p>
        </p:txBody>
      </p:sp>
      <p:sp>
        <p:nvSpPr>
          <p:cNvPr id="26" name="!!c1_5"/>
          <p:cNvSpPr txBox="1"/>
          <p:nvPr/>
        </p:nvSpPr>
        <p:spPr>
          <a:xfrm>
            <a:off x="7452360" y="2331720"/>
            <a:ext cx="406908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0000"/>
              </a:lnSpc>
              <a:buNone/>
            </a:pPr>
            <a:r>
              <a:rPr lang="en-US" sz="1500" dirty="0">
                <a:solidFill>
                  <a:srgbClr val="2A1E16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1700 году Швейцарию составляли 13 кантонов. Общего правительства не было: дела решал сейм — съезд послов кантонов.</a:t>
            </a:r>
            <a:endParaRPr lang="en-US" sz="1500" dirty="0"/>
          </a:p>
        </p:txBody>
      </p:sp>
      <p:sp>
        <p:nvSpPr>
          <p:cNvPr id="27" name="!!c1_6"/>
          <p:cNvSpPr txBox="1"/>
          <p:nvPr/>
        </p:nvSpPr>
        <p:spPr>
          <a:xfrm>
            <a:off x="6537960" y="3520440"/>
            <a:ext cx="498348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0000"/>
              </a:lnSpc>
              <a:buNone/>
            </a:pPr>
            <a:r>
              <a:rPr lang="en-US" sz="1500" dirty="0">
                <a:solidFill>
                  <a:srgbClr val="2A1E16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Рядом были союзники — Женева, Граубюнден, Вале, Невшатель — и подвластные земли, которыми кантоны управляли сообща.</a:t>
            </a:r>
            <a:endParaRPr lang="en-US" sz="1500" dirty="0"/>
          </a:p>
        </p:txBody>
      </p:sp>
      <p:sp>
        <p:nvSpPr>
          <p:cNvPr id="28" name="!!c1_7"/>
          <p:cNvSpPr txBox="1"/>
          <p:nvPr/>
        </p:nvSpPr>
        <p:spPr>
          <a:xfrm>
            <a:off x="6537960" y="4846320"/>
            <a:ext cx="498348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i="1" dirty="0">
                <a:solidFill>
                  <a:srgbClr val="7A1C1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Каждый кантон жил по своим законам и сам решал, с кем дружить.</a:t>
            </a:r>
            <a:endParaRPr lang="en-US" sz="1600" dirty="0"/>
          </a:p>
        </p:txBody>
      </p:sp>
    </p:spTree>
  </p:cSld>
  <p:clrMapOvr>
    <a:masterClrMapping/>
  </p:clrMapOvr>
  <mc:AlternateContent xmlns:mc="http://schemas.openxmlformats.org/markup-compatibility/2006">
    <mc:Choice xmlns:p14="http://schemas.microsoft.com/office/powerpoint/2010/main" xmlns:p159="http://schemas.microsoft.com/office/powerpoint/2015/09/main" Requires="p159">
      <p:transition spd="slow" p14:dur="2200">
        <p159:morph option="byObject"/>
      </p:transition>
    </mc:Choice>
    <mc:Fallback>
      <p:transition spd="slow">
        <p:fade/>
      </p:transition>
    </mc:Fallback>
  </mc:AlternateContent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!!gilt"/>
          <p:cNvSpPr/>
          <p:nvPr/>
        </p:nvSpPr>
        <p:spPr>
          <a:xfrm>
            <a:off x="0" y="0"/>
            <a:ext cx="12191695" cy="2057400"/>
          </a:xfrm>
          <a:prstGeom prst="rect">
            <a:avLst/>
          </a:prstGeom>
          <a:solidFill>
            <a:srgbClr val="8E6A2E"/>
          </a:solidFill>
          <a:ln w="25400">
            <a:solidFill>
              <a:srgbClr val="C9A15A"/>
            </a:solidFill>
            <a:prstDash val="solid"/>
          </a:ln>
          <a:effectLst>
            <a:outerShdw sx="100000" sy="100000" kx="0" ky="0" algn="bl" rotWithShape="0" blurRad="177800" dist="50800" dir="5400000">
              <a:srgbClr val="000000">
                <a:alpha val="45000"/>
              </a:srgbClr>
            </a:outerShdw>
          </a:effectLst>
        </p:spPr>
      </p:sp>
      <p:pic>
        <p:nvPicPr>
          <p:cNvPr id="3" name="!!scene" descr="img/lake.jpg">    </p:cNvPr>
          <p:cNvPicPr>
            <a:picLocks noChangeAspect="1"/>
          </p:cNvPicPr>
          <p:nvPr/>
        </p:nvPicPr>
        <p:blipFill>
          <a:blip r:embed="rId2"/>
          <a:srcRect l="0" r="0" t="0" b="0"/>
          <a:stretch/>
        </p:blipFill>
        <p:spPr>
          <a:xfrm>
            <a:off x="0" y="0"/>
            <a:ext cx="12191695" cy="1965960"/>
          </a:xfrm>
          <a:prstGeom prst="rect">
            <a:avLst/>
          </a:prstGeom>
        </p:spPr>
      </p:pic>
      <p:pic>
        <p:nvPicPr>
          <p:cNvPr id="4" name="!!shield" descr="img/shiel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972800" y="502920"/>
            <a:ext cx="566928" cy="668975"/>
          </a:xfrm>
          <a:prstGeom prst="rect">
            <a:avLst/>
          </a:prstGeom>
        </p:spPr>
      </p:pic>
      <p:sp>
        <p:nvSpPr>
          <p:cNvPr id="5" name="!!c1_0"/>
          <p:cNvSpPr txBox="1"/>
          <p:nvPr/>
        </p:nvSpPr>
        <p:spPr>
          <a:xfrm>
            <a:off x="-11871655" y="6263640"/>
            <a:ext cx="5120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i="1" dirty="0">
                <a:solidFill>
                  <a:srgbClr val="6B564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Горное озеро в сердце Швейцарии (иллюстрация)</a:t>
            </a:r>
            <a:endParaRPr lang="en-US" sz="1000" dirty="0"/>
          </a:p>
        </p:txBody>
      </p:sp>
      <p:sp>
        <p:nvSpPr>
          <p:cNvPr id="6" name="!!c1_1"/>
          <p:cNvSpPr txBox="1"/>
          <p:nvPr/>
        </p:nvSpPr>
        <p:spPr>
          <a:xfrm>
            <a:off x="-6110935" y="868680"/>
            <a:ext cx="41148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spc="600" kern="0" dirty="0">
                <a:solidFill>
                  <a:srgbClr val="7A1C1A"/>
                </a:solidFill>
                <a:latin typeface="Bookman Old Style" pitchFamily="34" charset="0"/>
                <a:ea typeface="Bookman Old Style" pitchFamily="34" charset="-122"/>
                <a:cs typeface="Bookman Old Style" pitchFamily="34" charset="-120"/>
              </a:rPr>
              <a:t>CAPUT  I  ·  1700</a:t>
            </a:r>
            <a:endParaRPr lang="en-US" sz="1300" dirty="0"/>
          </a:p>
        </p:txBody>
      </p:sp>
      <p:sp>
        <p:nvSpPr>
          <p:cNvPr id="7" name="!!c1_2"/>
          <p:cNvSpPr txBox="1"/>
          <p:nvPr/>
        </p:nvSpPr>
        <p:spPr>
          <a:xfrm>
            <a:off x="-6110935" y="1234440"/>
            <a:ext cx="498348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2A1E16"/>
                </a:solidFill>
                <a:latin typeface="Bookman Old Style" pitchFamily="34" charset="0"/>
                <a:ea typeface="Bookman Old Style" pitchFamily="34" charset="-122"/>
                <a:cs typeface="Bookman Old Style" pitchFamily="34" charset="-120"/>
              </a:rPr>
              <a:t>Каким был союз</a:t>
            </a:r>
            <a:endParaRPr lang="en-US" sz="3200" dirty="0"/>
          </a:p>
        </p:txBody>
      </p:sp>
      <p:sp>
        <p:nvSpPr>
          <p:cNvPr id="8" name="!!c1_3"/>
          <p:cNvSpPr txBox="1"/>
          <p:nvPr/>
        </p:nvSpPr>
        <p:spPr>
          <a:xfrm>
            <a:off x="-2316175" y="6263640"/>
            <a:ext cx="10972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spc="300" kern="0" dirty="0">
                <a:solidFill>
                  <a:srgbClr val="6B5640"/>
                </a:solidFill>
                <a:latin typeface="Bookman Old Style" pitchFamily="34" charset="0"/>
                <a:ea typeface="Bookman Old Style" pitchFamily="34" charset="-122"/>
                <a:cs typeface="Bookman Old Style" pitchFamily="34" charset="-120"/>
              </a:rPr>
              <a:t>II  ·  VI</a:t>
            </a:r>
            <a:endParaRPr lang="en-US" sz="1000" dirty="0"/>
          </a:p>
        </p:txBody>
      </p:sp>
      <p:sp>
        <p:nvSpPr>
          <p:cNvPr id="9" name="!!c1_4"/>
          <p:cNvSpPr txBox="1"/>
          <p:nvPr/>
        </p:nvSpPr>
        <p:spPr>
          <a:xfrm>
            <a:off x="-6110935" y="2286000"/>
            <a:ext cx="86868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600" b="1" dirty="0">
                <a:solidFill>
                  <a:srgbClr val="7A1C1A"/>
                </a:solidFill>
                <a:latin typeface="Bookman Old Style" pitchFamily="34" charset="0"/>
                <a:ea typeface="Bookman Old Style" pitchFamily="34" charset="-122"/>
                <a:cs typeface="Bookman Old Style" pitchFamily="34" charset="-120"/>
              </a:rPr>
              <a:t>К</a:t>
            </a:r>
            <a:endParaRPr lang="en-US" sz="6600" dirty="0"/>
          </a:p>
        </p:txBody>
      </p:sp>
      <p:sp>
        <p:nvSpPr>
          <p:cNvPr id="10" name="!!c1_5"/>
          <p:cNvSpPr txBox="1"/>
          <p:nvPr/>
        </p:nvSpPr>
        <p:spPr>
          <a:xfrm>
            <a:off x="-5196535" y="2331720"/>
            <a:ext cx="406908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0000"/>
              </a:lnSpc>
              <a:buNone/>
            </a:pPr>
            <a:r>
              <a:rPr lang="en-US" sz="1500" dirty="0">
                <a:solidFill>
                  <a:srgbClr val="2A1E16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1700 году Швейцарию составляли 13 кантонов. Общего правительства не было: дела решал сейм — съезд послов кантонов.</a:t>
            </a:r>
            <a:endParaRPr lang="en-US" sz="1500" dirty="0"/>
          </a:p>
        </p:txBody>
      </p:sp>
      <p:sp>
        <p:nvSpPr>
          <p:cNvPr id="11" name="!!c1_6"/>
          <p:cNvSpPr txBox="1"/>
          <p:nvPr/>
        </p:nvSpPr>
        <p:spPr>
          <a:xfrm>
            <a:off x="-6110935" y="3520440"/>
            <a:ext cx="498348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0000"/>
              </a:lnSpc>
              <a:buNone/>
            </a:pPr>
            <a:r>
              <a:rPr lang="en-US" sz="1500" dirty="0">
                <a:solidFill>
                  <a:srgbClr val="2A1E16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Рядом были союзники — Женева, Граубюнден, Вале, Невшатель — и подвластные земли, которыми кантоны управляли сообща.</a:t>
            </a:r>
            <a:endParaRPr lang="en-US" sz="1500" dirty="0"/>
          </a:p>
        </p:txBody>
      </p:sp>
      <p:sp>
        <p:nvSpPr>
          <p:cNvPr id="12" name="!!c1_7"/>
          <p:cNvSpPr txBox="1"/>
          <p:nvPr/>
        </p:nvSpPr>
        <p:spPr>
          <a:xfrm>
            <a:off x="-6110935" y="4846320"/>
            <a:ext cx="498348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i="1" dirty="0">
                <a:solidFill>
                  <a:srgbClr val="7A1C1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Каждый кантон жил по своим законам и сам решал, с кем дружить.</a:t>
            </a:r>
            <a:endParaRPr lang="en-US" sz="1600" dirty="0"/>
          </a:p>
        </p:txBody>
      </p:sp>
      <p:sp>
        <p:nvSpPr>
          <p:cNvPr id="13" name="!!c3_0"/>
          <p:cNvSpPr txBox="1"/>
          <p:nvPr/>
        </p:nvSpPr>
        <p:spPr>
          <a:xfrm>
            <a:off x="13426135" y="777240"/>
            <a:ext cx="45720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spc="600" kern="0" dirty="0">
                <a:solidFill>
                  <a:srgbClr val="C9A15A"/>
                </a:solidFill>
                <a:latin typeface="Bookman Old Style" pitchFamily="34" charset="0"/>
                <a:ea typeface="Bookman Old Style" pitchFamily="34" charset="-122"/>
                <a:cs typeface="Bookman Old Style" pitchFamily="34" charset="-120"/>
              </a:rPr>
              <a:t>CAPUT  III</a:t>
            </a:r>
            <a:endParaRPr lang="en-US" sz="1300" dirty="0"/>
          </a:p>
        </p:txBody>
      </p:sp>
      <p:sp>
        <p:nvSpPr>
          <p:cNvPr id="14" name="!!c3_1"/>
          <p:cNvSpPr txBox="1"/>
          <p:nvPr/>
        </p:nvSpPr>
        <p:spPr>
          <a:xfrm>
            <a:off x="13426135" y="1097280"/>
            <a:ext cx="82296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000" b="1" dirty="0">
                <a:solidFill>
                  <a:srgbClr val="F1E6CF"/>
                </a:solidFill>
                <a:latin typeface="Bookman Old Style" pitchFamily="34" charset="0"/>
                <a:ea typeface="Bookman Old Style" pitchFamily="34" charset="-122"/>
                <a:cs typeface="Bookman Old Style" pitchFamily="34" charset="-120"/>
              </a:rPr>
              <a:t>Хроника начала века</a:t>
            </a:r>
            <a:endParaRPr lang="en-US" sz="4000" dirty="0"/>
          </a:p>
        </p:txBody>
      </p:sp>
      <p:sp>
        <p:nvSpPr>
          <p:cNvPr id="15" name="!!c3_2"/>
          <p:cNvSpPr txBox="1"/>
          <p:nvPr/>
        </p:nvSpPr>
        <p:spPr>
          <a:xfrm>
            <a:off x="22981615" y="6263640"/>
            <a:ext cx="10972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spc="300" kern="0" dirty="0">
                <a:solidFill>
                  <a:srgbClr val="C9A15A"/>
                </a:solidFill>
                <a:latin typeface="Bookman Old Style" pitchFamily="34" charset="0"/>
                <a:ea typeface="Bookman Old Style" pitchFamily="34" charset="-122"/>
                <a:cs typeface="Bookman Old Style" pitchFamily="34" charset="-120"/>
              </a:rPr>
              <a:t>IV  ·  VI</a:t>
            </a:r>
            <a:endParaRPr lang="en-US" sz="1000" dirty="0"/>
          </a:p>
        </p:txBody>
      </p:sp>
      <p:sp>
        <p:nvSpPr>
          <p:cNvPr id="16" name="!!c3_3"/>
          <p:cNvSpPr/>
          <p:nvPr/>
        </p:nvSpPr>
        <p:spPr>
          <a:xfrm>
            <a:off x="13426135" y="3429000"/>
            <a:ext cx="10637215" cy="0"/>
          </a:xfrm>
          <a:prstGeom prst="line">
            <a:avLst/>
          </a:prstGeom>
          <a:noFill/>
          <a:ln w="12700">
            <a:solidFill>
              <a:srgbClr val="C9A15A"/>
            </a:solidFill>
            <a:prstDash val="solid"/>
          </a:ln>
        </p:spPr>
      </p:sp>
      <p:sp>
        <p:nvSpPr>
          <p:cNvPr id="17" name="!!c3_4"/>
          <p:cNvSpPr/>
          <p:nvPr/>
        </p:nvSpPr>
        <p:spPr>
          <a:xfrm>
            <a:off x="13435279" y="3300984"/>
            <a:ext cx="256032" cy="256032"/>
          </a:xfrm>
          <a:prstGeom prst="diamond">
            <a:avLst/>
          </a:prstGeom>
          <a:solidFill>
            <a:srgbClr val="7A1C1A"/>
          </a:solidFill>
          <a:ln w="15875">
            <a:solidFill>
              <a:srgbClr val="C9A15A"/>
            </a:solidFill>
            <a:prstDash val="solid"/>
          </a:ln>
        </p:spPr>
      </p:sp>
      <p:sp>
        <p:nvSpPr>
          <p:cNvPr id="18" name="!!c3_5"/>
          <p:cNvSpPr txBox="1"/>
          <p:nvPr/>
        </p:nvSpPr>
        <p:spPr>
          <a:xfrm>
            <a:off x="13471855" y="2423160"/>
            <a:ext cx="20116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C9A15A"/>
                </a:solidFill>
                <a:latin typeface="Bookman Old Style" pitchFamily="34" charset="0"/>
                <a:ea typeface="Bookman Old Style" pitchFamily="34" charset="-122"/>
                <a:cs typeface="Bookman Old Style" pitchFamily="34" charset="-120"/>
              </a:rPr>
              <a:t>1701</a:t>
            </a:r>
            <a:endParaRPr lang="en-US" sz="3400" dirty="0"/>
          </a:p>
        </p:txBody>
      </p:sp>
      <p:sp>
        <p:nvSpPr>
          <p:cNvPr id="19" name="!!c3_6"/>
          <p:cNvSpPr txBox="1"/>
          <p:nvPr/>
        </p:nvSpPr>
        <p:spPr>
          <a:xfrm>
            <a:off x="13471855" y="3749040"/>
            <a:ext cx="20116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1E6CF"/>
                </a:solidFill>
                <a:latin typeface="Bookman Old Style" pitchFamily="34" charset="0"/>
                <a:ea typeface="Bookman Old Style" pitchFamily="34" charset="-122"/>
                <a:cs typeface="Bookman Old Style" pitchFamily="34" charset="-120"/>
              </a:rPr>
              <a:t>Нейтралитет</a:t>
            </a:r>
            <a:endParaRPr lang="en-US" sz="1400" dirty="0"/>
          </a:p>
        </p:txBody>
      </p:sp>
      <p:sp>
        <p:nvSpPr>
          <p:cNvPr id="20" name="!!c3_7"/>
          <p:cNvSpPr txBox="1"/>
          <p:nvPr/>
        </p:nvSpPr>
        <p:spPr>
          <a:xfrm>
            <a:off x="13471855" y="4160520"/>
            <a:ext cx="192024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D9C9A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В войне за испанское наследство союз не воюет</a:t>
            </a:r>
            <a:endParaRPr lang="en-US" sz="1300" dirty="0"/>
          </a:p>
        </p:txBody>
      </p:sp>
      <p:sp>
        <p:nvSpPr>
          <p:cNvPr id="21" name="!!c3_8"/>
          <p:cNvSpPr/>
          <p:nvPr/>
        </p:nvSpPr>
        <p:spPr>
          <a:xfrm>
            <a:off x="15648127" y="3300984"/>
            <a:ext cx="256032" cy="256032"/>
          </a:xfrm>
          <a:prstGeom prst="diamond">
            <a:avLst/>
          </a:prstGeom>
          <a:solidFill>
            <a:srgbClr val="7A1C1A"/>
          </a:solidFill>
          <a:ln w="15875">
            <a:solidFill>
              <a:srgbClr val="C9A15A"/>
            </a:solidFill>
            <a:prstDash val="solid"/>
          </a:ln>
        </p:spPr>
      </p:sp>
      <p:sp>
        <p:nvSpPr>
          <p:cNvPr id="22" name="!!c3_9"/>
          <p:cNvSpPr txBox="1"/>
          <p:nvPr/>
        </p:nvSpPr>
        <p:spPr>
          <a:xfrm>
            <a:off x="15684703" y="2423160"/>
            <a:ext cx="20116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C9A15A"/>
                </a:solidFill>
                <a:latin typeface="Bookman Old Style" pitchFamily="34" charset="0"/>
                <a:ea typeface="Bookman Old Style" pitchFamily="34" charset="-122"/>
                <a:cs typeface="Bookman Old Style" pitchFamily="34" charset="-120"/>
              </a:rPr>
              <a:t>1707</a:t>
            </a:r>
            <a:endParaRPr lang="en-US" sz="3400" dirty="0"/>
          </a:p>
        </p:txBody>
      </p:sp>
      <p:sp>
        <p:nvSpPr>
          <p:cNvPr id="23" name="!!c3_10"/>
          <p:cNvSpPr txBox="1"/>
          <p:nvPr/>
        </p:nvSpPr>
        <p:spPr>
          <a:xfrm>
            <a:off x="15684703" y="3749040"/>
            <a:ext cx="20116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1E6CF"/>
                </a:solidFill>
                <a:latin typeface="Bookman Old Style" pitchFamily="34" charset="0"/>
                <a:ea typeface="Bookman Old Style" pitchFamily="34" charset="-122"/>
                <a:cs typeface="Bookman Old Style" pitchFamily="34" charset="-120"/>
              </a:rPr>
              <a:t>Невшатель</a:t>
            </a:r>
            <a:endParaRPr lang="en-US" sz="1400" dirty="0"/>
          </a:p>
        </p:txBody>
      </p:sp>
      <p:sp>
        <p:nvSpPr>
          <p:cNvPr id="24" name="!!c3_11"/>
          <p:cNvSpPr txBox="1"/>
          <p:nvPr/>
        </p:nvSpPr>
        <p:spPr>
          <a:xfrm>
            <a:off x="15684703" y="4160520"/>
            <a:ext cx="192024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D9C9A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Княжество переходит к королю Пруссии</a:t>
            </a:r>
            <a:endParaRPr lang="en-US" sz="1300" dirty="0"/>
          </a:p>
        </p:txBody>
      </p:sp>
      <p:sp>
        <p:nvSpPr>
          <p:cNvPr id="25" name="!!c3_12"/>
          <p:cNvSpPr/>
          <p:nvPr/>
        </p:nvSpPr>
        <p:spPr>
          <a:xfrm>
            <a:off x="17860975" y="3300984"/>
            <a:ext cx="256032" cy="256032"/>
          </a:xfrm>
          <a:prstGeom prst="diamond">
            <a:avLst/>
          </a:prstGeom>
          <a:solidFill>
            <a:srgbClr val="7A1C1A"/>
          </a:solidFill>
          <a:ln w="15875">
            <a:solidFill>
              <a:srgbClr val="C9A15A"/>
            </a:solidFill>
            <a:prstDash val="solid"/>
          </a:ln>
        </p:spPr>
      </p:sp>
      <p:sp>
        <p:nvSpPr>
          <p:cNvPr id="26" name="!!c3_13"/>
          <p:cNvSpPr txBox="1"/>
          <p:nvPr/>
        </p:nvSpPr>
        <p:spPr>
          <a:xfrm>
            <a:off x="17897551" y="2423160"/>
            <a:ext cx="20116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C9A15A"/>
                </a:solidFill>
                <a:latin typeface="Bookman Old Style" pitchFamily="34" charset="0"/>
                <a:ea typeface="Bookman Old Style" pitchFamily="34" charset="-122"/>
                <a:cs typeface="Bookman Old Style" pitchFamily="34" charset="-120"/>
              </a:rPr>
              <a:t>1709</a:t>
            </a:r>
            <a:endParaRPr lang="en-US" sz="3400" dirty="0"/>
          </a:p>
        </p:txBody>
      </p:sp>
      <p:sp>
        <p:nvSpPr>
          <p:cNvPr id="27" name="!!c3_14"/>
          <p:cNvSpPr txBox="1"/>
          <p:nvPr/>
        </p:nvSpPr>
        <p:spPr>
          <a:xfrm>
            <a:off x="17897551" y="3749040"/>
            <a:ext cx="20116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1E6CF"/>
                </a:solidFill>
                <a:latin typeface="Bookman Old Style" pitchFamily="34" charset="0"/>
                <a:ea typeface="Bookman Old Style" pitchFamily="34" charset="-122"/>
                <a:cs typeface="Bookman Old Style" pitchFamily="34" charset="-120"/>
              </a:rPr>
              <a:t>Мальплаке</a:t>
            </a:r>
            <a:endParaRPr lang="en-US" sz="1400" dirty="0"/>
          </a:p>
        </p:txBody>
      </p:sp>
      <p:sp>
        <p:nvSpPr>
          <p:cNvPr id="28" name="!!c3_15"/>
          <p:cNvSpPr txBox="1"/>
          <p:nvPr/>
        </p:nvSpPr>
        <p:spPr>
          <a:xfrm>
            <a:off x="17897551" y="4160520"/>
            <a:ext cx="192024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D9C9A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Швейцарские полки сражаются по обе стороны</a:t>
            </a:r>
            <a:endParaRPr lang="en-US" sz="1300" dirty="0"/>
          </a:p>
        </p:txBody>
      </p:sp>
      <p:sp>
        <p:nvSpPr>
          <p:cNvPr id="29" name="!!c3_16"/>
          <p:cNvSpPr/>
          <p:nvPr/>
        </p:nvSpPr>
        <p:spPr>
          <a:xfrm>
            <a:off x="20073823" y="3300984"/>
            <a:ext cx="256032" cy="256032"/>
          </a:xfrm>
          <a:prstGeom prst="diamond">
            <a:avLst/>
          </a:prstGeom>
          <a:solidFill>
            <a:srgbClr val="7A1C1A"/>
          </a:solidFill>
          <a:ln w="15875">
            <a:solidFill>
              <a:srgbClr val="C9A15A"/>
            </a:solidFill>
            <a:prstDash val="solid"/>
          </a:ln>
        </p:spPr>
      </p:sp>
      <p:sp>
        <p:nvSpPr>
          <p:cNvPr id="30" name="!!c3_17"/>
          <p:cNvSpPr txBox="1"/>
          <p:nvPr/>
        </p:nvSpPr>
        <p:spPr>
          <a:xfrm>
            <a:off x="20110399" y="2423160"/>
            <a:ext cx="20116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C9A15A"/>
                </a:solidFill>
                <a:latin typeface="Bookman Old Style" pitchFamily="34" charset="0"/>
                <a:ea typeface="Bookman Old Style" pitchFamily="34" charset="-122"/>
                <a:cs typeface="Bookman Old Style" pitchFamily="34" charset="-120"/>
              </a:rPr>
              <a:t>1712</a:t>
            </a:r>
            <a:endParaRPr lang="en-US" sz="3400" dirty="0"/>
          </a:p>
        </p:txBody>
      </p:sp>
      <p:sp>
        <p:nvSpPr>
          <p:cNvPr id="31" name="!!c3_18"/>
          <p:cNvSpPr txBox="1"/>
          <p:nvPr/>
        </p:nvSpPr>
        <p:spPr>
          <a:xfrm>
            <a:off x="20110399" y="3749040"/>
            <a:ext cx="20116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1E6CF"/>
                </a:solidFill>
                <a:latin typeface="Bookman Old Style" pitchFamily="34" charset="0"/>
                <a:ea typeface="Bookman Old Style" pitchFamily="34" charset="-122"/>
                <a:cs typeface="Bookman Old Style" pitchFamily="34" charset="-120"/>
              </a:rPr>
              <a:t>Вильмерген</a:t>
            </a:r>
            <a:endParaRPr lang="en-US" sz="1400" dirty="0"/>
          </a:p>
        </p:txBody>
      </p:sp>
      <p:sp>
        <p:nvSpPr>
          <p:cNvPr id="32" name="!!c3_19"/>
          <p:cNvSpPr txBox="1"/>
          <p:nvPr/>
        </p:nvSpPr>
        <p:spPr>
          <a:xfrm>
            <a:off x="20110399" y="4160520"/>
            <a:ext cx="192024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D9C9A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Протестанты Цюриха и Берна побеждают католиков</a:t>
            </a:r>
            <a:endParaRPr lang="en-US" sz="1300" dirty="0"/>
          </a:p>
        </p:txBody>
      </p:sp>
      <p:sp>
        <p:nvSpPr>
          <p:cNvPr id="33" name="!!c3_20"/>
          <p:cNvSpPr/>
          <p:nvPr/>
        </p:nvSpPr>
        <p:spPr>
          <a:xfrm>
            <a:off x="22286671" y="3300984"/>
            <a:ext cx="256032" cy="256032"/>
          </a:xfrm>
          <a:prstGeom prst="diamond">
            <a:avLst/>
          </a:prstGeom>
          <a:solidFill>
            <a:srgbClr val="7A1C1A"/>
          </a:solidFill>
          <a:ln w="15875">
            <a:solidFill>
              <a:srgbClr val="C9A15A"/>
            </a:solidFill>
            <a:prstDash val="solid"/>
          </a:ln>
        </p:spPr>
      </p:sp>
      <p:sp>
        <p:nvSpPr>
          <p:cNvPr id="34" name="!!c3_21"/>
          <p:cNvSpPr txBox="1"/>
          <p:nvPr/>
        </p:nvSpPr>
        <p:spPr>
          <a:xfrm>
            <a:off x="22323247" y="2423160"/>
            <a:ext cx="20116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C9A15A"/>
                </a:solidFill>
                <a:latin typeface="Bookman Old Style" pitchFamily="34" charset="0"/>
                <a:ea typeface="Bookman Old Style" pitchFamily="34" charset="-122"/>
                <a:cs typeface="Bookman Old Style" pitchFamily="34" charset="-120"/>
              </a:rPr>
              <a:t>1723</a:t>
            </a:r>
            <a:endParaRPr lang="en-US" sz="3400" dirty="0"/>
          </a:p>
        </p:txBody>
      </p:sp>
      <p:sp>
        <p:nvSpPr>
          <p:cNvPr id="35" name="!!c3_22"/>
          <p:cNvSpPr txBox="1"/>
          <p:nvPr/>
        </p:nvSpPr>
        <p:spPr>
          <a:xfrm>
            <a:off x="22323247" y="3749040"/>
            <a:ext cx="20116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1E6CF"/>
                </a:solidFill>
                <a:latin typeface="Bookman Old Style" pitchFamily="34" charset="0"/>
                <a:ea typeface="Bookman Old Style" pitchFamily="34" charset="-122"/>
                <a:cs typeface="Bookman Old Style" pitchFamily="34" charset="-120"/>
              </a:rPr>
              <a:t>Майор Давель</a:t>
            </a:r>
            <a:endParaRPr lang="en-US" sz="1400" dirty="0"/>
          </a:p>
        </p:txBody>
      </p:sp>
      <p:sp>
        <p:nvSpPr>
          <p:cNvPr id="36" name="!!c3_23"/>
          <p:cNvSpPr txBox="1"/>
          <p:nvPr/>
        </p:nvSpPr>
        <p:spPr>
          <a:xfrm>
            <a:off x="22323247" y="4160520"/>
            <a:ext cx="192024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D9C9A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Восстание в земле Во против власти Берна</a:t>
            </a:r>
            <a:endParaRPr lang="en-US" sz="1300" dirty="0"/>
          </a:p>
        </p:txBody>
      </p:sp>
      <p:sp>
        <p:nvSpPr>
          <p:cNvPr id="37" name="!!c3_24"/>
          <p:cNvSpPr txBox="1"/>
          <p:nvPr/>
        </p:nvSpPr>
        <p:spPr>
          <a:xfrm>
            <a:off x="13426135" y="4846320"/>
            <a:ext cx="94183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i="1" dirty="0">
                <a:solidFill>
                  <a:srgbClr val="C9A15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Войны шли вокруг, но на землю самой Швейцарии чужие армии не вступали.</a:t>
            </a:r>
            <a:endParaRPr lang="en-US" sz="1200" dirty="0"/>
          </a:p>
        </p:txBody>
      </p:sp>
      <p:sp>
        <p:nvSpPr>
          <p:cNvPr id="38" name="!!c2_0"/>
          <p:cNvSpPr txBox="1"/>
          <p:nvPr/>
        </p:nvSpPr>
        <p:spPr>
          <a:xfrm>
            <a:off x="777240" y="2377440"/>
            <a:ext cx="45720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spc="600" kern="0" dirty="0">
                <a:solidFill>
                  <a:srgbClr val="7A1C1A"/>
                </a:solidFill>
                <a:latin typeface="Bookman Old Style" pitchFamily="34" charset="0"/>
                <a:ea typeface="Bookman Old Style" pitchFamily="34" charset="-122"/>
                <a:cs typeface="Bookman Old Style" pitchFamily="34" charset="-120"/>
              </a:rPr>
              <a:t>CAPUT  II</a:t>
            </a:r>
            <a:endParaRPr lang="en-US" sz="1300" dirty="0"/>
          </a:p>
        </p:txBody>
      </p:sp>
      <p:sp>
        <p:nvSpPr>
          <p:cNvPr id="39" name="!!c2_1"/>
          <p:cNvSpPr txBox="1"/>
          <p:nvPr/>
        </p:nvSpPr>
        <p:spPr>
          <a:xfrm>
            <a:off x="777240" y="2697480"/>
            <a:ext cx="8229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600" b="1" dirty="0">
                <a:solidFill>
                  <a:srgbClr val="2A1E16"/>
                </a:solidFill>
                <a:latin typeface="Bookman Old Style" pitchFamily="34" charset="0"/>
                <a:ea typeface="Bookman Old Style" pitchFamily="34" charset="-122"/>
                <a:cs typeface="Bookman Old Style" pitchFamily="34" charset="-120"/>
              </a:rPr>
              <a:t>Чем жила страна</a:t>
            </a:r>
            <a:endParaRPr lang="en-US" sz="3600" dirty="0"/>
          </a:p>
        </p:txBody>
      </p:sp>
      <p:sp>
        <p:nvSpPr>
          <p:cNvPr id="40" name="!!c2_2"/>
          <p:cNvSpPr txBox="1"/>
          <p:nvPr/>
        </p:nvSpPr>
        <p:spPr>
          <a:xfrm>
            <a:off x="10332720" y="6263640"/>
            <a:ext cx="10972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spc="300" kern="0" dirty="0">
                <a:solidFill>
                  <a:srgbClr val="6B5640"/>
                </a:solidFill>
                <a:latin typeface="Bookman Old Style" pitchFamily="34" charset="0"/>
                <a:ea typeface="Bookman Old Style" pitchFamily="34" charset="-122"/>
                <a:cs typeface="Bookman Old Style" pitchFamily="34" charset="-120"/>
              </a:rPr>
              <a:t>III  ·  VI</a:t>
            </a:r>
            <a:endParaRPr lang="en-US" sz="1000" dirty="0"/>
          </a:p>
        </p:txBody>
      </p:sp>
      <p:sp>
        <p:nvSpPr>
          <p:cNvPr id="41" name="!!c2_3"/>
          <p:cNvSpPr txBox="1"/>
          <p:nvPr/>
        </p:nvSpPr>
        <p:spPr>
          <a:xfrm>
            <a:off x="777240" y="3611880"/>
            <a:ext cx="11887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600" b="1" dirty="0">
                <a:solidFill>
                  <a:srgbClr val="7A1C1A"/>
                </a:solidFill>
                <a:latin typeface="Bookman Old Style" pitchFamily="34" charset="0"/>
                <a:ea typeface="Bookman Old Style" pitchFamily="34" charset="-122"/>
                <a:cs typeface="Bookman Old Style" pitchFamily="34" charset="-120"/>
              </a:rPr>
              <a:t>I</a:t>
            </a:r>
            <a:endParaRPr lang="en-US" sz="3600" dirty="0"/>
          </a:p>
        </p:txBody>
      </p:sp>
      <p:sp>
        <p:nvSpPr>
          <p:cNvPr id="42" name="!!c2_4"/>
          <p:cNvSpPr txBox="1"/>
          <p:nvPr/>
        </p:nvSpPr>
        <p:spPr>
          <a:xfrm>
            <a:off x="777240" y="4297680"/>
            <a:ext cx="32918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rgbClr val="2A1E16"/>
                </a:solidFill>
                <a:latin typeface="Bookman Old Style" pitchFamily="34" charset="0"/>
                <a:ea typeface="Bookman Old Style" pitchFamily="34" charset="-122"/>
                <a:cs typeface="Bookman Old Style" pitchFamily="34" charset="-120"/>
              </a:rPr>
              <a:t>Наёмная служба</a:t>
            </a:r>
            <a:endParaRPr lang="en-US" sz="1900" dirty="0"/>
          </a:p>
        </p:txBody>
      </p:sp>
      <p:sp>
        <p:nvSpPr>
          <p:cNvPr id="43" name="!!c2_5"/>
          <p:cNvSpPr txBox="1"/>
          <p:nvPr/>
        </p:nvSpPr>
        <p:spPr>
          <a:xfrm>
            <a:off x="777240" y="4754880"/>
            <a:ext cx="3291840" cy="1234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5000"/>
              </a:lnSpc>
              <a:buNone/>
            </a:pPr>
            <a:r>
              <a:rPr lang="en-US" sz="1400" dirty="0">
                <a:solidFill>
                  <a:srgbClr val="6B564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Швейцарские полки служили Франции, Голландии и другим державам. Плата солдатам кормила многие деревни.</a:t>
            </a:r>
            <a:endParaRPr lang="en-US" sz="1400" dirty="0"/>
          </a:p>
        </p:txBody>
      </p:sp>
      <p:sp>
        <p:nvSpPr>
          <p:cNvPr id="44" name="!!c2_6"/>
          <p:cNvSpPr txBox="1"/>
          <p:nvPr/>
        </p:nvSpPr>
        <p:spPr>
          <a:xfrm>
            <a:off x="4498848" y="3611880"/>
            <a:ext cx="11887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600" b="1" dirty="0">
                <a:solidFill>
                  <a:srgbClr val="7A1C1A"/>
                </a:solidFill>
                <a:latin typeface="Bookman Old Style" pitchFamily="34" charset="0"/>
                <a:ea typeface="Bookman Old Style" pitchFamily="34" charset="-122"/>
                <a:cs typeface="Bookman Old Style" pitchFamily="34" charset="-120"/>
              </a:rPr>
              <a:t>II</a:t>
            </a:r>
            <a:endParaRPr lang="en-US" sz="3600" dirty="0"/>
          </a:p>
        </p:txBody>
      </p:sp>
      <p:sp>
        <p:nvSpPr>
          <p:cNvPr id="45" name="!!c2_7"/>
          <p:cNvSpPr txBox="1"/>
          <p:nvPr/>
        </p:nvSpPr>
        <p:spPr>
          <a:xfrm>
            <a:off x="4498848" y="4297680"/>
            <a:ext cx="32918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rgbClr val="2A1E16"/>
                </a:solidFill>
                <a:latin typeface="Bookman Old Style" pitchFamily="34" charset="0"/>
                <a:ea typeface="Bookman Old Style" pitchFamily="34" charset="-122"/>
                <a:cs typeface="Bookman Old Style" pitchFamily="34" charset="-120"/>
              </a:rPr>
              <a:t>Ремесло и часы</a:t>
            </a:r>
            <a:endParaRPr lang="en-US" sz="1900" dirty="0"/>
          </a:p>
        </p:txBody>
      </p:sp>
      <p:sp>
        <p:nvSpPr>
          <p:cNvPr id="46" name="!!c2_8"/>
          <p:cNvSpPr txBox="1"/>
          <p:nvPr/>
        </p:nvSpPr>
        <p:spPr>
          <a:xfrm>
            <a:off x="4498848" y="4754880"/>
            <a:ext cx="3291840" cy="1234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5000"/>
              </a:lnSpc>
              <a:buNone/>
            </a:pPr>
            <a:r>
              <a:rPr lang="en-US" sz="1400" dirty="0">
                <a:solidFill>
                  <a:srgbClr val="6B564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Крестьяне у Цюриха пряли хлопок для купцов. В Женеве и горах Юры делали часы.</a:t>
            </a:r>
            <a:endParaRPr lang="en-US" sz="1400" dirty="0"/>
          </a:p>
        </p:txBody>
      </p:sp>
      <p:sp>
        <p:nvSpPr>
          <p:cNvPr id="47" name="!!c2_9"/>
          <p:cNvSpPr txBox="1"/>
          <p:nvPr/>
        </p:nvSpPr>
        <p:spPr>
          <a:xfrm>
            <a:off x="8220456" y="3611880"/>
            <a:ext cx="11887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600" b="1" dirty="0">
                <a:solidFill>
                  <a:srgbClr val="7A1C1A"/>
                </a:solidFill>
                <a:latin typeface="Bookman Old Style" pitchFamily="34" charset="0"/>
                <a:ea typeface="Bookman Old Style" pitchFamily="34" charset="-122"/>
                <a:cs typeface="Bookman Old Style" pitchFamily="34" charset="-120"/>
              </a:rPr>
              <a:t>III</a:t>
            </a:r>
            <a:endParaRPr lang="en-US" sz="3600" dirty="0"/>
          </a:p>
        </p:txBody>
      </p:sp>
      <p:sp>
        <p:nvSpPr>
          <p:cNvPr id="48" name="!!c2_10"/>
          <p:cNvSpPr txBox="1"/>
          <p:nvPr/>
        </p:nvSpPr>
        <p:spPr>
          <a:xfrm>
            <a:off x="8220456" y="4297680"/>
            <a:ext cx="32918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rgbClr val="2A1E16"/>
                </a:solidFill>
                <a:latin typeface="Bookman Old Style" pitchFamily="34" charset="0"/>
                <a:ea typeface="Bookman Old Style" pitchFamily="34" charset="-122"/>
                <a:cs typeface="Bookman Old Style" pitchFamily="34" charset="-120"/>
              </a:rPr>
              <a:t>Власть патрициев</a:t>
            </a:r>
            <a:endParaRPr lang="en-US" sz="1900" dirty="0"/>
          </a:p>
        </p:txBody>
      </p:sp>
      <p:sp>
        <p:nvSpPr>
          <p:cNvPr id="49" name="!!c2_11"/>
          <p:cNvSpPr txBox="1"/>
          <p:nvPr/>
        </p:nvSpPr>
        <p:spPr>
          <a:xfrm>
            <a:off x="8220456" y="4754880"/>
            <a:ext cx="3291840" cy="1234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5000"/>
              </a:lnSpc>
              <a:buNone/>
            </a:pPr>
            <a:r>
              <a:rPr lang="en-US" sz="1400" dirty="0">
                <a:solidFill>
                  <a:srgbClr val="6B564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Городами правили немногие знатные семьи. Крестьяне и подвластные земли права голоса не имели.</a:t>
            </a:r>
            <a:endParaRPr lang="en-US" sz="1400" dirty="0"/>
          </a:p>
        </p:txBody>
      </p:sp>
    </p:spTree>
  </p:cSld>
  <p:clrMapOvr>
    <a:masterClrMapping/>
  </p:clrMapOvr>
  <mc:AlternateContent xmlns:mc="http://schemas.openxmlformats.org/markup-compatibility/2006">
    <mc:Choice xmlns:p14="http://schemas.microsoft.com/office/powerpoint/2010/main" xmlns:p159="http://schemas.microsoft.com/office/powerpoint/2015/09/main" Requires="p159">
      <p:transition spd="slow" p14:dur="2200">
        <p159:morph option="byObject"/>
      </p:transition>
    </mc:Choice>
    <mc:Fallback>
      <p:transition spd="slow">
        <p:fade/>
      </p:transition>
    </mc:Fallback>
  </mc:AlternateContent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shade" descr="img/shade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pic>
        <p:nvPicPr>
          <p:cNvPr id="3" name="!!shield" descr="img/shiel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972800" y="502920"/>
            <a:ext cx="566928" cy="668975"/>
          </a:xfrm>
          <a:prstGeom prst="rect">
            <a:avLst/>
          </a:prstGeom>
        </p:spPr>
      </p:pic>
      <p:sp>
        <p:nvSpPr>
          <p:cNvPr id="4" name="!!c2_0"/>
          <p:cNvSpPr txBox="1"/>
          <p:nvPr/>
        </p:nvSpPr>
        <p:spPr>
          <a:xfrm>
            <a:off x="-11871655" y="2377440"/>
            <a:ext cx="45720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spc="600" kern="0" dirty="0">
                <a:solidFill>
                  <a:srgbClr val="7A1C1A"/>
                </a:solidFill>
                <a:latin typeface="Bookman Old Style" pitchFamily="34" charset="0"/>
                <a:ea typeface="Bookman Old Style" pitchFamily="34" charset="-122"/>
                <a:cs typeface="Bookman Old Style" pitchFamily="34" charset="-120"/>
              </a:rPr>
              <a:t>CAPUT  II</a:t>
            </a:r>
            <a:endParaRPr lang="en-US" sz="1300" dirty="0"/>
          </a:p>
        </p:txBody>
      </p:sp>
      <p:sp>
        <p:nvSpPr>
          <p:cNvPr id="5" name="!!c2_1"/>
          <p:cNvSpPr txBox="1"/>
          <p:nvPr/>
        </p:nvSpPr>
        <p:spPr>
          <a:xfrm>
            <a:off x="-11871655" y="2697480"/>
            <a:ext cx="8229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600" b="1" dirty="0">
                <a:solidFill>
                  <a:srgbClr val="2A1E16"/>
                </a:solidFill>
                <a:latin typeface="Bookman Old Style" pitchFamily="34" charset="0"/>
                <a:ea typeface="Bookman Old Style" pitchFamily="34" charset="-122"/>
                <a:cs typeface="Bookman Old Style" pitchFamily="34" charset="-120"/>
              </a:rPr>
              <a:t>Чем жила страна</a:t>
            </a:r>
            <a:endParaRPr lang="en-US" sz="3600" dirty="0"/>
          </a:p>
        </p:txBody>
      </p:sp>
      <p:sp>
        <p:nvSpPr>
          <p:cNvPr id="6" name="!!c2_2"/>
          <p:cNvSpPr txBox="1"/>
          <p:nvPr/>
        </p:nvSpPr>
        <p:spPr>
          <a:xfrm>
            <a:off x="-2316175" y="6263640"/>
            <a:ext cx="10972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spc="300" kern="0" dirty="0">
                <a:solidFill>
                  <a:srgbClr val="6B5640"/>
                </a:solidFill>
                <a:latin typeface="Bookman Old Style" pitchFamily="34" charset="0"/>
                <a:ea typeface="Bookman Old Style" pitchFamily="34" charset="-122"/>
                <a:cs typeface="Bookman Old Style" pitchFamily="34" charset="-120"/>
              </a:rPr>
              <a:t>III  ·  VI</a:t>
            </a:r>
            <a:endParaRPr lang="en-US" sz="1000" dirty="0"/>
          </a:p>
        </p:txBody>
      </p:sp>
      <p:sp>
        <p:nvSpPr>
          <p:cNvPr id="7" name="!!c2_3"/>
          <p:cNvSpPr txBox="1"/>
          <p:nvPr/>
        </p:nvSpPr>
        <p:spPr>
          <a:xfrm>
            <a:off x="-11871655" y="3611880"/>
            <a:ext cx="11887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600" b="1" dirty="0">
                <a:solidFill>
                  <a:srgbClr val="7A1C1A"/>
                </a:solidFill>
                <a:latin typeface="Bookman Old Style" pitchFamily="34" charset="0"/>
                <a:ea typeface="Bookman Old Style" pitchFamily="34" charset="-122"/>
                <a:cs typeface="Bookman Old Style" pitchFamily="34" charset="-120"/>
              </a:rPr>
              <a:t>I</a:t>
            </a:r>
            <a:endParaRPr lang="en-US" sz="3600" dirty="0"/>
          </a:p>
        </p:txBody>
      </p:sp>
      <p:sp>
        <p:nvSpPr>
          <p:cNvPr id="8" name="!!c2_4"/>
          <p:cNvSpPr txBox="1"/>
          <p:nvPr/>
        </p:nvSpPr>
        <p:spPr>
          <a:xfrm>
            <a:off x="-11871655" y="4297680"/>
            <a:ext cx="32918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rgbClr val="2A1E16"/>
                </a:solidFill>
                <a:latin typeface="Bookman Old Style" pitchFamily="34" charset="0"/>
                <a:ea typeface="Bookman Old Style" pitchFamily="34" charset="-122"/>
                <a:cs typeface="Bookman Old Style" pitchFamily="34" charset="-120"/>
              </a:rPr>
              <a:t>Наёмная служба</a:t>
            </a:r>
            <a:endParaRPr lang="en-US" sz="1900" dirty="0"/>
          </a:p>
        </p:txBody>
      </p:sp>
      <p:sp>
        <p:nvSpPr>
          <p:cNvPr id="9" name="!!c2_5"/>
          <p:cNvSpPr txBox="1"/>
          <p:nvPr/>
        </p:nvSpPr>
        <p:spPr>
          <a:xfrm>
            <a:off x="-11871655" y="4754880"/>
            <a:ext cx="3291840" cy="1234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5000"/>
              </a:lnSpc>
              <a:buNone/>
            </a:pPr>
            <a:r>
              <a:rPr lang="en-US" sz="1400" dirty="0">
                <a:solidFill>
                  <a:srgbClr val="6B564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Швейцарские полки служили Франции, Голландии и другим державам. Плата солдатам кормила многие деревни.</a:t>
            </a:r>
            <a:endParaRPr lang="en-US" sz="1400" dirty="0"/>
          </a:p>
        </p:txBody>
      </p:sp>
      <p:sp>
        <p:nvSpPr>
          <p:cNvPr id="10" name="!!c2_6"/>
          <p:cNvSpPr txBox="1"/>
          <p:nvPr/>
        </p:nvSpPr>
        <p:spPr>
          <a:xfrm>
            <a:off x="-8150047" y="3611880"/>
            <a:ext cx="11887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600" b="1" dirty="0">
                <a:solidFill>
                  <a:srgbClr val="7A1C1A"/>
                </a:solidFill>
                <a:latin typeface="Bookman Old Style" pitchFamily="34" charset="0"/>
                <a:ea typeface="Bookman Old Style" pitchFamily="34" charset="-122"/>
                <a:cs typeface="Bookman Old Style" pitchFamily="34" charset="-120"/>
              </a:rPr>
              <a:t>II</a:t>
            </a:r>
            <a:endParaRPr lang="en-US" sz="3600" dirty="0"/>
          </a:p>
        </p:txBody>
      </p:sp>
      <p:sp>
        <p:nvSpPr>
          <p:cNvPr id="11" name="!!c2_7"/>
          <p:cNvSpPr txBox="1"/>
          <p:nvPr/>
        </p:nvSpPr>
        <p:spPr>
          <a:xfrm>
            <a:off x="-8150047" y="4297680"/>
            <a:ext cx="32918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rgbClr val="2A1E16"/>
                </a:solidFill>
                <a:latin typeface="Bookman Old Style" pitchFamily="34" charset="0"/>
                <a:ea typeface="Bookman Old Style" pitchFamily="34" charset="-122"/>
                <a:cs typeface="Bookman Old Style" pitchFamily="34" charset="-120"/>
              </a:rPr>
              <a:t>Ремесло и часы</a:t>
            </a:r>
            <a:endParaRPr lang="en-US" sz="1900" dirty="0"/>
          </a:p>
        </p:txBody>
      </p:sp>
      <p:sp>
        <p:nvSpPr>
          <p:cNvPr id="12" name="!!c2_8"/>
          <p:cNvSpPr txBox="1"/>
          <p:nvPr/>
        </p:nvSpPr>
        <p:spPr>
          <a:xfrm>
            <a:off x="-8150047" y="4754880"/>
            <a:ext cx="3291840" cy="1234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5000"/>
              </a:lnSpc>
              <a:buNone/>
            </a:pPr>
            <a:r>
              <a:rPr lang="en-US" sz="1400" dirty="0">
                <a:solidFill>
                  <a:srgbClr val="6B564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Крестьяне у Цюриха пряли хлопок для купцов. В Женеве и горах Юры делали часы.</a:t>
            </a:r>
            <a:endParaRPr lang="en-US" sz="1400" dirty="0"/>
          </a:p>
        </p:txBody>
      </p:sp>
      <p:sp>
        <p:nvSpPr>
          <p:cNvPr id="13" name="!!c2_9"/>
          <p:cNvSpPr txBox="1"/>
          <p:nvPr/>
        </p:nvSpPr>
        <p:spPr>
          <a:xfrm>
            <a:off x="-4428439" y="3611880"/>
            <a:ext cx="11887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600" b="1" dirty="0">
                <a:solidFill>
                  <a:srgbClr val="7A1C1A"/>
                </a:solidFill>
                <a:latin typeface="Bookman Old Style" pitchFamily="34" charset="0"/>
                <a:ea typeface="Bookman Old Style" pitchFamily="34" charset="-122"/>
                <a:cs typeface="Bookman Old Style" pitchFamily="34" charset="-120"/>
              </a:rPr>
              <a:t>III</a:t>
            </a:r>
            <a:endParaRPr lang="en-US" sz="3600" dirty="0"/>
          </a:p>
        </p:txBody>
      </p:sp>
      <p:sp>
        <p:nvSpPr>
          <p:cNvPr id="14" name="!!c2_10"/>
          <p:cNvSpPr txBox="1"/>
          <p:nvPr/>
        </p:nvSpPr>
        <p:spPr>
          <a:xfrm>
            <a:off x="-4428439" y="4297680"/>
            <a:ext cx="32918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rgbClr val="2A1E16"/>
                </a:solidFill>
                <a:latin typeface="Bookman Old Style" pitchFamily="34" charset="0"/>
                <a:ea typeface="Bookman Old Style" pitchFamily="34" charset="-122"/>
                <a:cs typeface="Bookman Old Style" pitchFamily="34" charset="-120"/>
              </a:rPr>
              <a:t>Власть патрициев</a:t>
            </a:r>
            <a:endParaRPr lang="en-US" sz="1900" dirty="0"/>
          </a:p>
        </p:txBody>
      </p:sp>
      <p:sp>
        <p:nvSpPr>
          <p:cNvPr id="15" name="!!c2_11"/>
          <p:cNvSpPr txBox="1"/>
          <p:nvPr/>
        </p:nvSpPr>
        <p:spPr>
          <a:xfrm>
            <a:off x="-4428439" y="4754880"/>
            <a:ext cx="3291840" cy="1234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5000"/>
              </a:lnSpc>
              <a:buNone/>
            </a:pPr>
            <a:r>
              <a:rPr lang="en-US" sz="1400" dirty="0">
                <a:solidFill>
                  <a:srgbClr val="6B564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Городами правили немногие знатные семьи. Крестьяне и подвластные земли права голоса не имели.</a:t>
            </a:r>
            <a:endParaRPr lang="en-US" sz="1400" dirty="0"/>
          </a:p>
        </p:txBody>
      </p:sp>
      <p:sp>
        <p:nvSpPr>
          <p:cNvPr id="16" name="!!c4_0"/>
          <p:cNvSpPr txBox="1"/>
          <p:nvPr/>
        </p:nvSpPr>
        <p:spPr>
          <a:xfrm>
            <a:off x="13426135" y="1417320"/>
            <a:ext cx="45720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spc="600" kern="0" dirty="0">
                <a:solidFill>
                  <a:srgbClr val="C9A15A"/>
                </a:solidFill>
                <a:latin typeface="Bookman Old Style" pitchFamily="34" charset="0"/>
                <a:ea typeface="Bookman Old Style" pitchFamily="34" charset="-122"/>
                <a:cs typeface="Bookman Old Style" pitchFamily="34" charset="-120"/>
              </a:rPr>
              <a:t>CAPUT  IV</a:t>
            </a:r>
            <a:endParaRPr lang="en-US" sz="1300" dirty="0"/>
          </a:p>
        </p:txBody>
      </p:sp>
      <p:sp>
        <p:nvSpPr>
          <p:cNvPr id="17" name="!!c4_1"/>
          <p:cNvSpPr txBox="1"/>
          <p:nvPr/>
        </p:nvSpPr>
        <p:spPr>
          <a:xfrm>
            <a:off x="22981615" y="6263640"/>
            <a:ext cx="10972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spc="300" kern="0" dirty="0">
                <a:solidFill>
                  <a:srgbClr val="C9A15A"/>
                </a:solidFill>
                <a:latin typeface="Bookman Old Style" pitchFamily="34" charset="0"/>
                <a:ea typeface="Bookman Old Style" pitchFamily="34" charset="-122"/>
                <a:cs typeface="Bookman Old Style" pitchFamily="34" charset="-120"/>
              </a:rPr>
              <a:t>V  ·  VI</a:t>
            </a:r>
            <a:endParaRPr lang="en-US" sz="1000" dirty="0"/>
          </a:p>
        </p:txBody>
      </p:sp>
      <p:pic>
        <p:nvPicPr>
          <p:cNvPr id="18" name="!!c4_2" descr="img/parchment.jpg">    </p:cNvPr>
          <p:cNvPicPr>
            <a:picLocks noChangeAspect="1"/>
          </p:cNvPicPr>
          <p:nvPr/>
        </p:nvPicPr>
        <p:blipFill>
          <a:blip r:embed="rId4"/>
          <a:srcRect l="0" r="0" t="0" b="0"/>
          <a:stretch/>
        </p:blipFill>
        <p:spPr>
          <a:xfrm>
            <a:off x="19141135" y="777240"/>
            <a:ext cx="4937760" cy="5303520"/>
          </a:xfrm>
          <a:prstGeom prst="rect">
            <a:avLst/>
          </a:prstGeom>
        </p:spPr>
      </p:pic>
      <p:sp>
        <p:nvSpPr>
          <p:cNvPr id="19" name="!!c4_3"/>
          <p:cNvSpPr/>
          <p:nvPr/>
        </p:nvSpPr>
        <p:spPr>
          <a:xfrm>
            <a:off x="19141135" y="777240"/>
            <a:ext cx="4937760" cy="5303520"/>
          </a:xfrm>
          <a:prstGeom prst="rect">
            <a:avLst/>
          </a:prstGeom>
          <a:ln w="19050">
            <a:solidFill>
              <a:srgbClr val="C9A15A"/>
            </a:solidFill>
            <a:prstDash val="solid"/>
          </a:ln>
          <a:effectLst>
            <a:outerShdw sx="100000" sy="100000" kx="0" ky="0" algn="bl" rotWithShape="0" blurRad="177800" dist="50800" dir="5400000">
              <a:srgbClr val="000000">
                <a:alpha val="45000"/>
              </a:srgbClr>
            </a:outerShdw>
          </a:effectLst>
        </p:spPr>
      </p:sp>
      <p:sp>
        <p:nvSpPr>
          <p:cNvPr id="20" name="!!c4_4"/>
          <p:cNvSpPr txBox="1"/>
          <p:nvPr/>
        </p:nvSpPr>
        <p:spPr>
          <a:xfrm>
            <a:off x="19141135" y="1188720"/>
            <a:ext cx="49377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0" b="1" dirty="0">
                <a:solidFill>
                  <a:srgbClr val="7A1C1A"/>
                </a:solidFill>
                <a:latin typeface="Bookman Old Style" pitchFamily="34" charset="0"/>
                <a:ea typeface="Bookman Old Style" pitchFamily="34" charset="-122"/>
                <a:cs typeface="Bookman Old Style" pitchFamily="34" charset="-120"/>
              </a:rPr>
              <a:t>1707</a:t>
            </a:r>
            <a:endParaRPr lang="en-US" sz="10000" dirty="0"/>
          </a:p>
        </p:txBody>
      </p:sp>
      <p:sp>
        <p:nvSpPr>
          <p:cNvPr id="21" name="!!c4_5"/>
          <p:cNvSpPr txBox="1"/>
          <p:nvPr/>
        </p:nvSpPr>
        <p:spPr>
          <a:xfrm>
            <a:off x="19141135" y="2926080"/>
            <a:ext cx="49377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400" dirty="0">
                <a:solidFill>
                  <a:srgbClr val="2A1E16"/>
                </a:solidFill>
                <a:latin typeface="Bookman Old Style" pitchFamily="34" charset="0"/>
                <a:ea typeface="Bookman Old Style" pitchFamily="34" charset="-122"/>
                <a:cs typeface="Bookman Old Style" pitchFamily="34" charset="-120"/>
              </a:rPr>
              <a:t>в Базеле родился Эйлер</a:t>
            </a:r>
            <a:endParaRPr lang="en-US" sz="2400" dirty="0"/>
          </a:p>
        </p:txBody>
      </p:sp>
      <p:sp>
        <p:nvSpPr>
          <p:cNvPr id="22" name="!!c4_6"/>
          <p:cNvSpPr txBox="1"/>
          <p:nvPr/>
        </p:nvSpPr>
        <p:spPr>
          <a:xfrm>
            <a:off x="19598335" y="3749040"/>
            <a:ext cx="4023360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500" dirty="0">
                <a:solidFill>
                  <a:srgbClr val="6B564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Леонард Эйлер — один из величайших математиков. С 1727 года он работал в Петербургской академии наук.</a:t>
            </a:r>
            <a:endParaRPr lang="en-US" sz="1500" dirty="0"/>
          </a:p>
        </p:txBody>
      </p:sp>
      <p:sp>
        <p:nvSpPr>
          <p:cNvPr id="23" name="!!c4_7"/>
          <p:cNvSpPr txBox="1"/>
          <p:nvPr/>
        </p:nvSpPr>
        <p:spPr>
          <a:xfrm>
            <a:off x="13426135" y="1783080"/>
            <a:ext cx="5303520" cy="2103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000" i="1" dirty="0">
                <a:solidFill>
                  <a:srgbClr val="F1E6CF"/>
                </a:solidFill>
                <a:latin typeface="Bookman Old Style" pitchFamily="34" charset="0"/>
                <a:ea typeface="Bookman Old Style" pitchFamily="34" charset="-122"/>
                <a:cs typeface="Bookman Old Style" pitchFamily="34" charset="-120"/>
              </a:rPr>
              <a:t>Базель и Женева — города учёных</a:t>
            </a:r>
            <a:endParaRPr lang="en-US" sz="3000" dirty="0"/>
          </a:p>
        </p:txBody>
      </p:sp>
      <p:sp>
        <p:nvSpPr>
          <p:cNvPr id="24" name="!!c4_8"/>
          <p:cNvSpPr txBox="1"/>
          <p:nvPr/>
        </p:nvSpPr>
        <p:spPr>
          <a:xfrm>
            <a:off x="13426135" y="3108960"/>
            <a:ext cx="51206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dirty="0">
                <a:solidFill>
                  <a:srgbClr val="C9A15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В Базеле жила семья математиков Бернулли, в 1712 году в Женеве родился Руссо.</a:t>
            </a:r>
            <a:endParaRPr lang="en-US" sz="1600" dirty="0"/>
          </a:p>
        </p:txBody>
      </p:sp>
      <p:sp>
        <p:nvSpPr>
          <p:cNvPr id="25" name="!!c3_0"/>
          <p:cNvSpPr txBox="1"/>
          <p:nvPr/>
        </p:nvSpPr>
        <p:spPr>
          <a:xfrm>
            <a:off x="777240" y="777240"/>
            <a:ext cx="45720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spc="600" kern="0" dirty="0">
                <a:solidFill>
                  <a:srgbClr val="C9A15A"/>
                </a:solidFill>
                <a:latin typeface="Bookman Old Style" pitchFamily="34" charset="0"/>
                <a:ea typeface="Bookman Old Style" pitchFamily="34" charset="-122"/>
                <a:cs typeface="Bookman Old Style" pitchFamily="34" charset="-120"/>
              </a:rPr>
              <a:t>CAPUT  III</a:t>
            </a:r>
            <a:endParaRPr lang="en-US" sz="1300" dirty="0"/>
          </a:p>
        </p:txBody>
      </p:sp>
      <p:sp>
        <p:nvSpPr>
          <p:cNvPr id="26" name="!!c3_1"/>
          <p:cNvSpPr txBox="1"/>
          <p:nvPr/>
        </p:nvSpPr>
        <p:spPr>
          <a:xfrm>
            <a:off x="777240" y="1097280"/>
            <a:ext cx="82296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000" b="1" dirty="0">
                <a:solidFill>
                  <a:srgbClr val="F1E6CF"/>
                </a:solidFill>
                <a:latin typeface="Bookman Old Style" pitchFamily="34" charset="0"/>
                <a:ea typeface="Bookman Old Style" pitchFamily="34" charset="-122"/>
                <a:cs typeface="Bookman Old Style" pitchFamily="34" charset="-120"/>
              </a:rPr>
              <a:t>Хроника начала века</a:t>
            </a:r>
            <a:endParaRPr lang="en-US" sz="4000" dirty="0"/>
          </a:p>
        </p:txBody>
      </p:sp>
      <p:sp>
        <p:nvSpPr>
          <p:cNvPr id="27" name="!!c3_2"/>
          <p:cNvSpPr txBox="1"/>
          <p:nvPr/>
        </p:nvSpPr>
        <p:spPr>
          <a:xfrm>
            <a:off x="10332720" y="6263640"/>
            <a:ext cx="10972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spc="300" kern="0" dirty="0">
                <a:solidFill>
                  <a:srgbClr val="C9A15A"/>
                </a:solidFill>
                <a:latin typeface="Bookman Old Style" pitchFamily="34" charset="0"/>
                <a:ea typeface="Bookman Old Style" pitchFamily="34" charset="-122"/>
                <a:cs typeface="Bookman Old Style" pitchFamily="34" charset="-120"/>
              </a:rPr>
              <a:t>IV  ·  VI</a:t>
            </a:r>
            <a:endParaRPr lang="en-US" sz="1000" dirty="0"/>
          </a:p>
        </p:txBody>
      </p:sp>
      <p:sp>
        <p:nvSpPr>
          <p:cNvPr id="28" name="!!c3_3"/>
          <p:cNvSpPr/>
          <p:nvPr/>
        </p:nvSpPr>
        <p:spPr>
          <a:xfrm>
            <a:off x="777240" y="3429000"/>
            <a:ext cx="10637215" cy="0"/>
          </a:xfrm>
          <a:prstGeom prst="line">
            <a:avLst/>
          </a:prstGeom>
          <a:noFill/>
          <a:ln w="12700">
            <a:solidFill>
              <a:srgbClr val="C9A15A"/>
            </a:solidFill>
            <a:prstDash val="solid"/>
          </a:ln>
        </p:spPr>
      </p:sp>
      <p:sp>
        <p:nvSpPr>
          <p:cNvPr id="29" name="!!c3_4"/>
          <p:cNvSpPr/>
          <p:nvPr/>
        </p:nvSpPr>
        <p:spPr>
          <a:xfrm>
            <a:off x="786384" y="3300984"/>
            <a:ext cx="256032" cy="256032"/>
          </a:xfrm>
          <a:prstGeom prst="diamond">
            <a:avLst/>
          </a:prstGeom>
          <a:solidFill>
            <a:srgbClr val="7A1C1A"/>
          </a:solidFill>
          <a:ln w="15875">
            <a:solidFill>
              <a:srgbClr val="C9A15A"/>
            </a:solidFill>
            <a:prstDash val="solid"/>
          </a:ln>
        </p:spPr>
      </p:sp>
      <p:sp>
        <p:nvSpPr>
          <p:cNvPr id="30" name="!!c3_5"/>
          <p:cNvSpPr txBox="1"/>
          <p:nvPr/>
        </p:nvSpPr>
        <p:spPr>
          <a:xfrm>
            <a:off x="822960" y="2423160"/>
            <a:ext cx="20116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C9A15A"/>
                </a:solidFill>
                <a:latin typeface="Bookman Old Style" pitchFamily="34" charset="0"/>
                <a:ea typeface="Bookman Old Style" pitchFamily="34" charset="-122"/>
                <a:cs typeface="Bookman Old Style" pitchFamily="34" charset="-120"/>
              </a:rPr>
              <a:t>1701</a:t>
            </a:r>
            <a:endParaRPr lang="en-US" sz="3400" dirty="0"/>
          </a:p>
        </p:txBody>
      </p:sp>
      <p:sp>
        <p:nvSpPr>
          <p:cNvPr id="31" name="!!c3_6"/>
          <p:cNvSpPr txBox="1"/>
          <p:nvPr/>
        </p:nvSpPr>
        <p:spPr>
          <a:xfrm>
            <a:off x="822960" y="3749040"/>
            <a:ext cx="20116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1E6CF"/>
                </a:solidFill>
                <a:latin typeface="Bookman Old Style" pitchFamily="34" charset="0"/>
                <a:ea typeface="Bookman Old Style" pitchFamily="34" charset="-122"/>
                <a:cs typeface="Bookman Old Style" pitchFamily="34" charset="-120"/>
              </a:rPr>
              <a:t>Нейтралитет</a:t>
            </a:r>
            <a:endParaRPr lang="en-US" sz="1400" dirty="0"/>
          </a:p>
        </p:txBody>
      </p:sp>
      <p:sp>
        <p:nvSpPr>
          <p:cNvPr id="32" name="!!c3_7"/>
          <p:cNvSpPr txBox="1"/>
          <p:nvPr/>
        </p:nvSpPr>
        <p:spPr>
          <a:xfrm>
            <a:off x="822960" y="4160520"/>
            <a:ext cx="192024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D9C9A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В войне за испанское наследство союз не воюет</a:t>
            </a:r>
            <a:endParaRPr lang="en-US" sz="1300" dirty="0"/>
          </a:p>
        </p:txBody>
      </p:sp>
      <p:sp>
        <p:nvSpPr>
          <p:cNvPr id="33" name="!!c3_8"/>
          <p:cNvSpPr/>
          <p:nvPr/>
        </p:nvSpPr>
        <p:spPr>
          <a:xfrm>
            <a:off x="2999232" y="3300984"/>
            <a:ext cx="256032" cy="256032"/>
          </a:xfrm>
          <a:prstGeom prst="diamond">
            <a:avLst/>
          </a:prstGeom>
          <a:solidFill>
            <a:srgbClr val="7A1C1A"/>
          </a:solidFill>
          <a:ln w="15875">
            <a:solidFill>
              <a:srgbClr val="C9A15A"/>
            </a:solidFill>
            <a:prstDash val="solid"/>
          </a:ln>
        </p:spPr>
      </p:sp>
      <p:sp>
        <p:nvSpPr>
          <p:cNvPr id="34" name="!!c3_9"/>
          <p:cNvSpPr txBox="1"/>
          <p:nvPr/>
        </p:nvSpPr>
        <p:spPr>
          <a:xfrm>
            <a:off x="3035808" y="2423160"/>
            <a:ext cx="20116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C9A15A"/>
                </a:solidFill>
                <a:latin typeface="Bookman Old Style" pitchFamily="34" charset="0"/>
                <a:ea typeface="Bookman Old Style" pitchFamily="34" charset="-122"/>
                <a:cs typeface="Bookman Old Style" pitchFamily="34" charset="-120"/>
              </a:rPr>
              <a:t>1707</a:t>
            </a:r>
            <a:endParaRPr lang="en-US" sz="3400" dirty="0"/>
          </a:p>
        </p:txBody>
      </p:sp>
      <p:sp>
        <p:nvSpPr>
          <p:cNvPr id="35" name="!!c3_10"/>
          <p:cNvSpPr txBox="1"/>
          <p:nvPr/>
        </p:nvSpPr>
        <p:spPr>
          <a:xfrm>
            <a:off x="3035808" y="3749040"/>
            <a:ext cx="20116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1E6CF"/>
                </a:solidFill>
                <a:latin typeface="Bookman Old Style" pitchFamily="34" charset="0"/>
                <a:ea typeface="Bookman Old Style" pitchFamily="34" charset="-122"/>
                <a:cs typeface="Bookman Old Style" pitchFamily="34" charset="-120"/>
              </a:rPr>
              <a:t>Невшатель</a:t>
            </a:r>
            <a:endParaRPr lang="en-US" sz="1400" dirty="0"/>
          </a:p>
        </p:txBody>
      </p:sp>
      <p:sp>
        <p:nvSpPr>
          <p:cNvPr id="36" name="!!c3_11"/>
          <p:cNvSpPr txBox="1"/>
          <p:nvPr/>
        </p:nvSpPr>
        <p:spPr>
          <a:xfrm>
            <a:off x="3035808" y="4160520"/>
            <a:ext cx="192024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D9C9A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Княжество переходит к королю Пруссии</a:t>
            </a:r>
            <a:endParaRPr lang="en-US" sz="1300" dirty="0"/>
          </a:p>
        </p:txBody>
      </p:sp>
      <p:sp>
        <p:nvSpPr>
          <p:cNvPr id="37" name="!!c3_12"/>
          <p:cNvSpPr/>
          <p:nvPr/>
        </p:nvSpPr>
        <p:spPr>
          <a:xfrm>
            <a:off x="5212080" y="3300984"/>
            <a:ext cx="256032" cy="256032"/>
          </a:xfrm>
          <a:prstGeom prst="diamond">
            <a:avLst/>
          </a:prstGeom>
          <a:solidFill>
            <a:srgbClr val="7A1C1A"/>
          </a:solidFill>
          <a:ln w="15875">
            <a:solidFill>
              <a:srgbClr val="C9A15A"/>
            </a:solidFill>
            <a:prstDash val="solid"/>
          </a:ln>
        </p:spPr>
      </p:sp>
      <p:sp>
        <p:nvSpPr>
          <p:cNvPr id="38" name="!!c3_13"/>
          <p:cNvSpPr txBox="1"/>
          <p:nvPr/>
        </p:nvSpPr>
        <p:spPr>
          <a:xfrm>
            <a:off x="5248656" y="2423160"/>
            <a:ext cx="20116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C9A15A"/>
                </a:solidFill>
                <a:latin typeface="Bookman Old Style" pitchFamily="34" charset="0"/>
                <a:ea typeface="Bookman Old Style" pitchFamily="34" charset="-122"/>
                <a:cs typeface="Bookman Old Style" pitchFamily="34" charset="-120"/>
              </a:rPr>
              <a:t>1709</a:t>
            </a:r>
            <a:endParaRPr lang="en-US" sz="3400" dirty="0"/>
          </a:p>
        </p:txBody>
      </p:sp>
      <p:sp>
        <p:nvSpPr>
          <p:cNvPr id="39" name="!!c3_14"/>
          <p:cNvSpPr txBox="1"/>
          <p:nvPr/>
        </p:nvSpPr>
        <p:spPr>
          <a:xfrm>
            <a:off x="5248656" y="3749040"/>
            <a:ext cx="20116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1E6CF"/>
                </a:solidFill>
                <a:latin typeface="Bookman Old Style" pitchFamily="34" charset="0"/>
                <a:ea typeface="Bookman Old Style" pitchFamily="34" charset="-122"/>
                <a:cs typeface="Bookman Old Style" pitchFamily="34" charset="-120"/>
              </a:rPr>
              <a:t>Мальплаке</a:t>
            </a:r>
            <a:endParaRPr lang="en-US" sz="1400" dirty="0"/>
          </a:p>
        </p:txBody>
      </p:sp>
      <p:sp>
        <p:nvSpPr>
          <p:cNvPr id="40" name="!!c3_15"/>
          <p:cNvSpPr txBox="1"/>
          <p:nvPr/>
        </p:nvSpPr>
        <p:spPr>
          <a:xfrm>
            <a:off x="5248656" y="4160520"/>
            <a:ext cx="192024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D9C9A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Швейцарские полки сражаются по обе стороны</a:t>
            </a:r>
            <a:endParaRPr lang="en-US" sz="1300" dirty="0"/>
          </a:p>
        </p:txBody>
      </p:sp>
      <p:sp>
        <p:nvSpPr>
          <p:cNvPr id="41" name="!!c3_16"/>
          <p:cNvSpPr/>
          <p:nvPr/>
        </p:nvSpPr>
        <p:spPr>
          <a:xfrm>
            <a:off x="7424928" y="3300984"/>
            <a:ext cx="256032" cy="256032"/>
          </a:xfrm>
          <a:prstGeom prst="diamond">
            <a:avLst/>
          </a:prstGeom>
          <a:solidFill>
            <a:srgbClr val="7A1C1A"/>
          </a:solidFill>
          <a:ln w="15875">
            <a:solidFill>
              <a:srgbClr val="C9A15A"/>
            </a:solidFill>
            <a:prstDash val="solid"/>
          </a:ln>
        </p:spPr>
      </p:sp>
      <p:sp>
        <p:nvSpPr>
          <p:cNvPr id="42" name="!!c3_17"/>
          <p:cNvSpPr txBox="1"/>
          <p:nvPr/>
        </p:nvSpPr>
        <p:spPr>
          <a:xfrm>
            <a:off x="7461504" y="2423160"/>
            <a:ext cx="20116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C9A15A"/>
                </a:solidFill>
                <a:latin typeface="Bookman Old Style" pitchFamily="34" charset="0"/>
                <a:ea typeface="Bookman Old Style" pitchFamily="34" charset="-122"/>
                <a:cs typeface="Bookman Old Style" pitchFamily="34" charset="-120"/>
              </a:rPr>
              <a:t>1712</a:t>
            </a:r>
            <a:endParaRPr lang="en-US" sz="3400" dirty="0"/>
          </a:p>
        </p:txBody>
      </p:sp>
      <p:sp>
        <p:nvSpPr>
          <p:cNvPr id="43" name="!!c3_18"/>
          <p:cNvSpPr txBox="1"/>
          <p:nvPr/>
        </p:nvSpPr>
        <p:spPr>
          <a:xfrm>
            <a:off x="7461504" y="3749040"/>
            <a:ext cx="20116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1E6CF"/>
                </a:solidFill>
                <a:latin typeface="Bookman Old Style" pitchFamily="34" charset="0"/>
                <a:ea typeface="Bookman Old Style" pitchFamily="34" charset="-122"/>
                <a:cs typeface="Bookman Old Style" pitchFamily="34" charset="-120"/>
              </a:rPr>
              <a:t>Вильмерген</a:t>
            </a:r>
            <a:endParaRPr lang="en-US" sz="1400" dirty="0"/>
          </a:p>
        </p:txBody>
      </p:sp>
      <p:sp>
        <p:nvSpPr>
          <p:cNvPr id="44" name="!!c3_19"/>
          <p:cNvSpPr txBox="1"/>
          <p:nvPr/>
        </p:nvSpPr>
        <p:spPr>
          <a:xfrm>
            <a:off x="7461504" y="4160520"/>
            <a:ext cx="192024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D9C9A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Протестанты Цюриха и Берна побеждают католиков</a:t>
            </a:r>
            <a:endParaRPr lang="en-US" sz="1300" dirty="0"/>
          </a:p>
        </p:txBody>
      </p:sp>
      <p:sp>
        <p:nvSpPr>
          <p:cNvPr id="45" name="!!c3_20"/>
          <p:cNvSpPr/>
          <p:nvPr/>
        </p:nvSpPr>
        <p:spPr>
          <a:xfrm>
            <a:off x="9637776" y="3300984"/>
            <a:ext cx="256032" cy="256032"/>
          </a:xfrm>
          <a:prstGeom prst="diamond">
            <a:avLst/>
          </a:prstGeom>
          <a:solidFill>
            <a:srgbClr val="7A1C1A"/>
          </a:solidFill>
          <a:ln w="15875">
            <a:solidFill>
              <a:srgbClr val="C9A15A"/>
            </a:solidFill>
            <a:prstDash val="solid"/>
          </a:ln>
        </p:spPr>
      </p:sp>
      <p:sp>
        <p:nvSpPr>
          <p:cNvPr id="46" name="!!c3_21"/>
          <p:cNvSpPr txBox="1"/>
          <p:nvPr/>
        </p:nvSpPr>
        <p:spPr>
          <a:xfrm>
            <a:off x="9674352" y="2423160"/>
            <a:ext cx="20116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C9A15A"/>
                </a:solidFill>
                <a:latin typeface="Bookman Old Style" pitchFamily="34" charset="0"/>
                <a:ea typeface="Bookman Old Style" pitchFamily="34" charset="-122"/>
                <a:cs typeface="Bookman Old Style" pitchFamily="34" charset="-120"/>
              </a:rPr>
              <a:t>1723</a:t>
            </a:r>
            <a:endParaRPr lang="en-US" sz="3400" dirty="0"/>
          </a:p>
        </p:txBody>
      </p:sp>
      <p:sp>
        <p:nvSpPr>
          <p:cNvPr id="47" name="!!c3_22"/>
          <p:cNvSpPr txBox="1"/>
          <p:nvPr/>
        </p:nvSpPr>
        <p:spPr>
          <a:xfrm>
            <a:off x="9674352" y="3749040"/>
            <a:ext cx="20116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1E6CF"/>
                </a:solidFill>
                <a:latin typeface="Bookman Old Style" pitchFamily="34" charset="0"/>
                <a:ea typeface="Bookman Old Style" pitchFamily="34" charset="-122"/>
                <a:cs typeface="Bookman Old Style" pitchFamily="34" charset="-120"/>
              </a:rPr>
              <a:t>Майор Давель</a:t>
            </a:r>
            <a:endParaRPr lang="en-US" sz="1400" dirty="0"/>
          </a:p>
        </p:txBody>
      </p:sp>
      <p:sp>
        <p:nvSpPr>
          <p:cNvPr id="48" name="!!c3_23"/>
          <p:cNvSpPr txBox="1"/>
          <p:nvPr/>
        </p:nvSpPr>
        <p:spPr>
          <a:xfrm>
            <a:off x="9674352" y="4160520"/>
            <a:ext cx="192024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D9C9A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Восстание в земле Во против власти Берна</a:t>
            </a:r>
            <a:endParaRPr lang="en-US" sz="1300" dirty="0"/>
          </a:p>
        </p:txBody>
      </p:sp>
      <p:sp>
        <p:nvSpPr>
          <p:cNvPr id="49" name="!!c3_24"/>
          <p:cNvSpPr txBox="1"/>
          <p:nvPr/>
        </p:nvSpPr>
        <p:spPr>
          <a:xfrm>
            <a:off x="777240" y="4846320"/>
            <a:ext cx="94183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i="1" dirty="0">
                <a:solidFill>
                  <a:srgbClr val="C9A15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Войны шли вокруг, но на землю самой Швейцарии чужие армии не вступали.</a:t>
            </a:r>
            <a:endParaRPr lang="en-US" sz="1200" dirty="0"/>
          </a:p>
        </p:txBody>
      </p:sp>
    </p:spTree>
  </p:cSld>
  <p:clrMapOvr>
    <a:masterClrMapping/>
  </p:clrMapOvr>
  <mc:AlternateContent xmlns:mc="http://schemas.openxmlformats.org/markup-compatibility/2006">
    <mc:Choice xmlns:p14="http://schemas.microsoft.com/office/powerpoint/2010/main" xmlns:p159="http://schemas.microsoft.com/office/powerpoint/2015/09/main" Requires="p159">
      <p:transition spd="slow" p14:dur="2200">
        <p159:morph option="byObject"/>
      </p:transition>
    </mc:Choice>
    <mc:Fallback>
      <p:transition spd="slow">
        <p:fade/>
      </p:transition>
    </mc:Fallback>
  </mc:AlternateContent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shade" descr="img/shade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pic>
        <p:nvPicPr>
          <p:cNvPr id="3" name="!!shield" descr="img/shiel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77240" y="411480"/>
            <a:ext cx="566928" cy="668975"/>
          </a:xfrm>
          <a:prstGeom prst="rect">
            <a:avLst/>
          </a:prstGeom>
        </p:spPr>
      </p:pic>
      <p:sp>
        <p:nvSpPr>
          <p:cNvPr id="4" name="!!c3_0"/>
          <p:cNvSpPr txBox="1"/>
          <p:nvPr/>
        </p:nvSpPr>
        <p:spPr>
          <a:xfrm>
            <a:off x="-11871655" y="777240"/>
            <a:ext cx="45720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spc="600" kern="0" dirty="0">
                <a:solidFill>
                  <a:srgbClr val="C9A15A"/>
                </a:solidFill>
                <a:latin typeface="Bookman Old Style" pitchFamily="34" charset="0"/>
                <a:ea typeface="Bookman Old Style" pitchFamily="34" charset="-122"/>
                <a:cs typeface="Bookman Old Style" pitchFamily="34" charset="-120"/>
              </a:rPr>
              <a:t>CAPUT  III</a:t>
            </a:r>
            <a:endParaRPr lang="en-US" sz="1300" dirty="0"/>
          </a:p>
        </p:txBody>
      </p:sp>
      <p:sp>
        <p:nvSpPr>
          <p:cNvPr id="5" name="!!c3_1"/>
          <p:cNvSpPr txBox="1"/>
          <p:nvPr/>
        </p:nvSpPr>
        <p:spPr>
          <a:xfrm>
            <a:off x="-11871655" y="1097280"/>
            <a:ext cx="82296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000" b="1" dirty="0">
                <a:solidFill>
                  <a:srgbClr val="F1E6CF"/>
                </a:solidFill>
                <a:latin typeface="Bookman Old Style" pitchFamily="34" charset="0"/>
                <a:ea typeface="Bookman Old Style" pitchFamily="34" charset="-122"/>
                <a:cs typeface="Bookman Old Style" pitchFamily="34" charset="-120"/>
              </a:rPr>
              <a:t>Хроника начала века</a:t>
            </a:r>
            <a:endParaRPr lang="en-US" sz="4000" dirty="0"/>
          </a:p>
        </p:txBody>
      </p:sp>
      <p:sp>
        <p:nvSpPr>
          <p:cNvPr id="6" name="!!c3_2"/>
          <p:cNvSpPr txBox="1"/>
          <p:nvPr/>
        </p:nvSpPr>
        <p:spPr>
          <a:xfrm>
            <a:off x="-2316175" y="6263640"/>
            <a:ext cx="10972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spc="300" kern="0" dirty="0">
                <a:solidFill>
                  <a:srgbClr val="C9A15A"/>
                </a:solidFill>
                <a:latin typeface="Bookman Old Style" pitchFamily="34" charset="0"/>
                <a:ea typeface="Bookman Old Style" pitchFamily="34" charset="-122"/>
                <a:cs typeface="Bookman Old Style" pitchFamily="34" charset="-120"/>
              </a:rPr>
              <a:t>IV  ·  VI</a:t>
            </a:r>
            <a:endParaRPr lang="en-US" sz="1000" dirty="0"/>
          </a:p>
        </p:txBody>
      </p:sp>
      <p:sp>
        <p:nvSpPr>
          <p:cNvPr id="7" name="!!c3_3"/>
          <p:cNvSpPr/>
          <p:nvPr/>
        </p:nvSpPr>
        <p:spPr>
          <a:xfrm>
            <a:off x="-11871655" y="3429000"/>
            <a:ext cx="10637215" cy="0"/>
          </a:xfrm>
          <a:prstGeom prst="line">
            <a:avLst/>
          </a:prstGeom>
          <a:noFill/>
          <a:ln w="12700">
            <a:solidFill>
              <a:srgbClr val="C9A15A"/>
            </a:solidFill>
            <a:prstDash val="solid"/>
          </a:ln>
        </p:spPr>
      </p:sp>
      <p:sp>
        <p:nvSpPr>
          <p:cNvPr id="8" name="!!c3_4"/>
          <p:cNvSpPr/>
          <p:nvPr/>
        </p:nvSpPr>
        <p:spPr>
          <a:xfrm>
            <a:off x="-11862511" y="3300984"/>
            <a:ext cx="256032" cy="256032"/>
          </a:xfrm>
          <a:prstGeom prst="diamond">
            <a:avLst/>
          </a:prstGeom>
          <a:solidFill>
            <a:srgbClr val="7A1C1A"/>
          </a:solidFill>
          <a:ln w="15875">
            <a:solidFill>
              <a:srgbClr val="C9A15A"/>
            </a:solidFill>
            <a:prstDash val="solid"/>
          </a:ln>
        </p:spPr>
      </p:sp>
      <p:sp>
        <p:nvSpPr>
          <p:cNvPr id="9" name="!!c3_5"/>
          <p:cNvSpPr txBox="1"/>
          <p:nvPr/>
        </p:nvSpPr>
        <p:spPr>
          <a:xfrm>
            <a:off x="-11825935" y="2423160"/>
            <a:ext cx="20116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C9A15A"/>
                </a:solidFill>
                <a:latin typeface="Bookman Old Style" pitchFamily="34" charset="0"/>
                <a:ea typeface="Bookman Old Style" pitchFamily="34" charset="-122"/>
                <a:cs typeface="Bookman Old Style" pitchFamily="34" charset="-120"/>
              </a:rPr>
              <a:t>1701</a:t>
            </a:r>
            <a:endParaRPr lang="en-US" sz="3400" dirty="0"/>
          </a:p>
        </p:txBody>
      </p:sp>
      <p:sp>
        <p:nvSpPr>
          <p:cNvPr id="10" name="!!c3_6"/>
          <p:cNvSpPr txBox="1"/>
          <p:nvPr/>
        </p:nvSpPr>
        <p:spPr>
          <a:xfrm>
            <a:off x="-11825935" y="3749040"/>
            <a:ext cx="20116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1E6CF"/>
                </a:solidFill>
                <a:latin typeface="Bookman Old Style" pitchFamily="34" charset="0"/>
                <a:ea typeface="Bookman Old Style" pitchFamily="34" charset="-122"/>
                <a:cs typeface="Bookman Old Style" pitchFamily="34" charset="-120"/>
              </a:rPr>
              <a:t>Нейтралитет</a:t>
            </a:r>
            <a:endParaRPr lang="en-US" sz="1400" dirty="0"/>
          </a:p>
        </p:txBody>
      </p:sp>
      <p:sp>
        <p:nvSpPr>
          <p:cNvPr id="11" name="!!c3_7"/>
          <p:cNvSpPr txBox="1"/>
          <p:nvPr/>
        </p:nvSpPr>
        <p:spPr>
          <a:xfrm>
            <a:off x="-11825935" y="4160520"/>
            <a:ext cx="192024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D9C9A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В войне за испанское наследство союз не воюет</a:t>
            </a:r>
            <a:endParaRPr lang="en-US" sz="1300" dirty="0"/>
          </a:p>
        </p:txBody>
      </p:sp>
      <p:sp>
        <p:nvSpPr>
          <p:cNvPr id="12" name="!!c3_8"/>
          <p:cNvSpPr/>
          <p:nvPr/>
        </p:nvSpPr>
        <p:spPr>
          <a:xfrm>
            <a:off x="-9649663" y="3300984"/>
            <a:ext cx="256032" cy="256032"/>
          </a:xfrm>
          <a:prstGeom prst="diamond">
            <a:avLst/>
          </a:prstGeom>
          <a:solidFill>
            <a:srgbClr val="7A1C1A"/>
          </a:solidFill>
          <a:ln w="15875">
            <a:solidFill>
              <a:srgbClr val="C9A15A"/>
            </a:solidFill>
            <a:prstDash val="solid"/>
          </a:ln>
        </p:spPr>
      </p:sp>
      <p:sp>
        <p:nvSpPr>
          <p:cNvPr id="13" name="!!c3_9"/>
          <p:cNvSpPr txBox="1"/>
          <p:nvPr/>
        </p:nvSpPr>
        <p:spPr>
          <a:xfrm>
            <a:off x="-9613087" y="2423160"/>
            <a:ext cx="20116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C9A15A"/>
                </a:solidFill>
                <a:latin typeface="Bookman Old Style" pitchFamily="34" charset="0"/>
                <a:ea typeface="Bookman Old Style" pitchFamily="34" charset="-122"/>
                <a:cs typeface="Bookman Old Style" pitchFamily="34" charset="-120"/>
              </a:rPr>
              <a:t>1707</a:t>
            </a:r>
            <a:endParaRPr lang="en-US" sz="3400" dirty="0"/>
          </a:p>
        </p:txBody>
      </p:sp>
      <p:sp>
        <p:nvSpPr>
          <p:cNvPr id="14" name="!!c3_10"/>
          <p:cNvSpPr txBox="1"/>
          <p:nvPr/>
        </p:nvSpPr>
        <p:spPr>
          <a:xfrm>
            <a:off x="-9613087" y="3749040"/>
            <a:ext cx="20116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1E6CF"/>
                </a:solidFill>
                <a:latin typeface="Bookman Old Style" pitchFamily="34" charset="0"/>
                <a:ea typeface="Bookman Old Style" pitchFamily="34" charset="-122"/>
                <a:cs typeface="Bookman Old Style" pitchFamily="34" charset="-120"/>
              </a:rPr>
              <a:t>Невшатель</a:t>
            </a:r>
            <a:endParaRPr lang="en-US" sz="1400" dirty="0"/>
          </a:p>
        </p:txBody>
      </p:sp>
      <p:sp>
        <p:nvSpPr>
          <p:cNvPr id="15" name="!!c3_11"/>
          <p:cNvSpPr txBox="1"/>
          <p:nvPr/>
        </p:nvSpPr>
        <p:spPr>
          <a:xfrm>
            <a:off x="-9613087" y="4160520"/>
            <a:ext cx="192024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D9C9A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Княжество переходит к королю Пруссии</a:t>
            </a:r>
            <a:endParaRPr lang="en-US" sz="1300" dirty="0"/>
          </a:p>
        </p:txBody>
      </p:sp>
      <p:sp>
        <p:nvSpPr>
          <p:cNvPr id="16" name="!!c3_12"/>
          <p:cNvSpPr/>
          <p:nvPr/>
        </p:nvSpPr>
        <p:spPr>
          <a:xfrm>
            <a:off x="-7436815" y="3300984"/>
            <a:ext cx="256032" cy="256032"/>
          </a:xfrm>
          <a:prstGeom prst="diamond">
            <a:avLst/>
          </a:prstGeom>
          <a:solidFill>
            <a:srgbClr val="7A1C1A"/>
          </a:solidFill>
          <a:ln w="15875">
            <a:solidFill>
              <a:srgbClr val="C9A15A"/>
            </a:solidFill>
            <a:prstDash val="solid"/>
          </a:ln>
        </p:spPr>
      </p:sp>
      <p:sp>
        <p:nvSpPr>
          <p:cNvPr id="17" name="!!c3_13"/>
          <p:cNvSpPr txBox="1"/>
          <p:nvPr/>
        </p:nvSpPr>
        <p:spPr>
          <a:xfrm>
            <a:off x="-7400239" y="2423160"/>
            <a:ext cx="20116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C9A15A"/>
                </a:solidFill>
                <a:latin typeface="Bookman Old Style" pitchFamily="34" charset="0"/>
                <a:ea typeface="Bookman Old Style" pitchFamily="34" charset="-122"/>
                <a:cs typeface="Bookman Old Style" pitchFamily="34" charset="-120"/>
              </a:rPr>
              <a:t>1709</a:t>
            </a:r>
            <a:endParaRPr lang="en-US" sz="3400" dirty="0"/>
          </a:p>
        </p:txBody>
      </p:sp>
      <p:sp>
        <p:nvSpPr>
          <p:cNvPr id="18" name="!!c3_14"/>
          <p:cNvSpPr txBox="1"/>
          <p:nvPr/>
        </p:nvSpPr>
        <p:spPr>
          <a:xfrm>
            <a:off x="-7400239" y="3749040"/>
            <a:ext cx="20116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1E6CF"/>
                </a:solidFill>
                <a:latin typeface="Bookman Old Style" pitchFamily="34" charset="0"/>
                <a:ea typeface="Bookman Old Style" pitchFamily="34" charset="-122"/>
                <a:cs typeface="Bookman Old Style" pitchFamily="34" charset="-120"/>
              </a:rPr>
              <a:t>Мальплаке</a:t>
            </a:r>
            <a:endParaRPr lang="en-US" sz="1400" dirty="0"/>
          </a:p>
        </p:txBody>
      </p:sp>
      <p:sp>
        <p:nvSpPr>
          <p:cNvPr id="19" name="!!c3_15"/>
          <p:cNvSpPr txBox="1"/>
          <p:nvPr/>
        </p:nvSpPr>
        <p:spPr>
          <a:xfrm>
            <a:off x="-7400239" y="4160520"/>
            <a:ext cx="192024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D9C9A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Швейцарские полки сражаются по обе стороны</a:t>
            </a:r>
            <a:endParaRPr lang="en-US" sz="1300" dirty="0"/>
          </a:p>
        </p:txBody>
      </p:sp>
      <p:sp>
        <p:nvSpPr>
          <p:cNvPr id="20" name="!!c3_16"/>
          <p:cNvSpPr/>
          <p:nvPr/>
        </p:nvSpPr>
        <p:spPr>
          <a:xfrm>
            <a:off x="-5223967" y="3300984"/>
            <a:ext cx="256032" cy="256032"/>
          </a:xfrm>
          <a:prstGeom prst="diamond">
            <a:avLst/>
          </a:prstGeom>
          <a:solidFill>
            <a:srgbClr val="7A1C1A"/>
          </a:solidFill>
          <a:ln w="15875">
            <a:solidFill>
              <a:srgbClr val="C9A15A"/>
            </a:solidFill>
            <a:prstDash val="solid"/>
          </a:ln>
        </p:spPr>
      </p:sp>
      <p:sp>
        <p:nvSpPr>
          <p:cNvPr id="21" name="!!c3_17"/>
          <p:cNvSpPr txBox="1"/>
          <p:nvPr/>
        </p:nvSpPr>
        <p:spPr>
          <a:xfrm>
            <a:off x="-5187391" y="2423160"/>
            <a:ext cx="20116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C9A15A"/>
                </a:solidFill>
                <a:latin typeface="Bookman Old Style" pitchFamily="34" charset="0"/>
                <a:ea typeface="Bookman Old Style" pitchFamily="34" charset="-122"/>
                <a:cs typeface="Bookman Old Style" pitchFamily="34" charset="-120"/>
              </a:rPr>
              <a:t>1712</a:t>
            </a:r>
            <a:endParaRPr lang="en-US" sz="3400" dirty="0"/>
          </a:p>
        </p:txBody>
      </p:sp>
      <p:sp>
        <p:nvSpPr>
          <p:cNvPr id="22" name="!!c3_18"/>
          <p:cNvSpPr txBox="1"/>
          <p:nvPr/>
        </p:nvSpPr>
        <p:spPr>
          <a:xfrm>
            <a:off x="-5187391" y="3749040"/>
            <a:ext cx="20116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1E6CF"/>
                </a:solidFill>
                <a:latin typeface="Bookman Old Style" pitchFamily="34" charset="0"/>
                <a:ea typeface="Bookman Old Style" pitchFamily="34" charset="-122"/>
                <a:cs typeface="Bookman Old Style" pitchFamily="34" charset="-120"/>
              </a:rPr>
              <a:t>Вильмерген</a:t>
            </a:r>
            <a:endParaRPr lang="en-US" sz="1400" dirty="0"/>
          </a:p>
        </p:txBody>
      </p:sp>
      <p:sp>
        <p:nvSpPr>
          <p:cNvPr id="23" name="!!c3_19"/>
          <p:cNvSpPr txBox="1"/>
          <p:nvPr/>
        </p:nvSpPr>
        <p:spPr>
          <a:xfrm>
            <a:off x="-5187391" y="4160520"/>
            <a:ext cx="192024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D9C9A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Протестанты Цюриха и Берна побеждают католиков</a:t>
            </a:r>
            <a:endParaRPr lang="en-US" sz="1300" dirty="0"/>
          </a:p>
        </p:txBody>
      </p:sp>
      <p:sp>
        <p:nvSpPr>
          <p:cNvPr id="24" name="!!c3_20"/>
          <p:cNvSpPr/>
          <p:nvPr/>
        </p:nvSpPr>
        <p:spPr>
          <a:xfrm>
            <a:off x="-3011119" y="3300984"/>
            <a:ext cx="256032" cy="256032"/>
          </a:xfrm>
          <a:prstGeom prst="diamond">
            <a:avLst/>
          </a:prstGeom>
          <a:solidFill>
            <a:srgbClr val="7A1C1A"/>
          </a:solidFill>
          <a:ln w="15875">
            <a:solidFill>
              <a:srgbClr val="C9A15A"/>
            </a:solidFill>
            <a:prstDash val="solid"/>
          </a:ln>
        </p:spPr>
      </p:sp>
      <p:sp>
        <p:nvSpPr>
          <p:cNvPr id="25" name="!!c3_21"/>
          <p:cNvSpPr txBox="1"/>
          <p:nvPr/>
        </p:nvSpPr>
        <p:spPr>
          <a:xfrm>
            <a:off x="-2974543" y="2423160"/>
            <a:ext cx="20116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C9A15A"/>
                </a:solidFill>
                <a:latin typeface="Bookman Old Style" pitchFamily="34" charset="0"/>
                <a:ea typeface="Bookman Old Style" pitchFamily="34" charset="-122"/>
                <a:cs typeface="Bookman Old Style" pitchFamily="34" charset="-120"/>
              </a:rPr>
              <a:t>1723</a:t>
            </a:r>
            <a:endParaRPr lang="en-US" sz="3400" dirty="0"/>
          </a:p>
        </p:txBody>
      </p:sp>
      <p:sp>
        <p:nvSpPr>
          <p:cNvPr id="26" name="!!c3_22"/>
          <p:cNvSpPr txBox="1"/>
          <p:nvPr/>
        </p:nvSpPr>
        <p:spPr>
          <a:xfrm>
            <a:off x="-2974543" y="3749040"/>
            <a:ext cx="20116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1E6CF"/>
                </a:solidFill>
                <a:latin typeface="Bookman Old Style" pitchFamily="34" charset="0"/>
                <a:ea typeface="Bookman Old Style" pitchFamily="34" charset="-122"/>
                <a:cs typeface="Bookman Old Style" pitchFamily="34" charset="-120"/>
              </a:rPr>
              <a:t>Майор Давель</a:t>
            </a:r>
            <a:endParaRPr lang="en-US" sz="1400" dirty="0"/>
          </a:p>
        </p:txBody>
      </p:sp>
      <p:sp>
        <p:nvSpPr>
          <p:cNvPr id="27" name="!!c3_23"/>
          <p:cNvSpPr txBox="1"/>
          <p:nvPr/>
        </p:nvSpPr>
        <p:spPr>
          <a:xfrm>
            <a:off x="-2974543" y="4160520"/>
            <a:ext cx="192024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D9C9A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Восстание в земле Во против власти Берна</a:t>
            </a:r>
            <a:endParaRPr lang="en-US" sz="1300" dirty="0"/>
          </a:p>
        </p:txBody>
      </p:sp>
      <p:sp>
        <p:nvSpPr>
          <p:cNvPr id="28" name="!!c3_24"/>
          <p:cNvSpPr txBox="1"/>
          <p:nvPr/>
        </p:nvSpPr>
        <p:spPr>
          <a:xfrm>
            <a:off x="-11871655" y="4846320"/>
            <a:ext cx="94183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i="1" dirty="0">
                <a:solidFill>
                  <a:srgbClr val="C9A15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Войны шли вокруг, но на землю самой Швейцарии чужие армии не вступали.</a:t>
            </a:r>
            <a:endParaRPr lang="en-US" sz="1200" dirty="0"/>
          </a:p>
        </p:txBody>
      </p:sp>
      <p:sp>
        <p:nvSpPr>
          <p:cNvPr id="29" name="!!c5_0"/>
          <p:cNvSpPr txBox="1"/>
          <p:nvPr/>
        </p:nvSpPr>
        <p:spPr>
          <a:xfrm>
            <a:off x="13563295" y="1600200"/>
            <a:ext cx="10362895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spc="1000" kern="0" dirty="0">
                <a:solidFill>
                  <a:srgbClr val="C9A15A"/>
                </a:solidFill>
                <a:latin typeface="Bookman Old Style" pitchFamily="34" charset="0"/>
                <a:ea typeface="Bookman Old Style" pitchFamily="34" charset="-122"/>
                <a:cs typeface="Bookman Old Style" pitchFamily="34" charset="-120"/>
              </a:rPr>
              <a:t>FINIS</a:t>
            </a:r>
            <a:endParaRPr lang="en-US" sz="1400" dirty="0"/>
          </a:p>
        </p:txBody>
      </p:sp>
      <p:sp>
        <p:nvSpPr>
          <p:cNvPr id="30" name="!!c5_1"/>
          <p:cNvSpPr txBox="1"/>
          <p:nvPr/>
        </p:nvSpPr>
        <p:spPr>
          <a:xfrm>
            <a:off x="13563295" y="1965960"/>
            <a:ext cx="10362895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4600" b="1" dirty="0">
                <a:solidFill>
                  <a:srgbClr val="F1E6CF"/>
                </a:solidFill>
                <a:latin typeface="Bookman Old Style" pitchFamily="34" charset="0"/>
                <a:ea typeface="Bookman Old Style" pitchFamily="34" charset="-122"/>
                <a:cs typeface="Bookman Old Style" pitchFamily="34" charset="-120"/>
              </a:rPr>
              <a:t>Спасибо за внимание</a:t>
            </a:r>
            <a:endParaRPr lang="en-US" sz="4600" dirty="0"/>
          </a:p>
        </p:txBody>
      </p:sp>
      <p:sp>
        <p:nvSpPr>
          <p:cNvPr id="31" name="!!c5_2"/>
          <p:cNvSpPr txBox="1"/>
          <p:nvPr/>
        </p:nvSpPr>
        <p:spPr>
          <a:xfrm>
            <a:off x="14660575" y="3063240"/>
            <a:ext cx="8168335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900" i="1" dirty="0">
                <a:solidFill>
                  <a:srgbClr val="E2D2B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Швейцария осталась нейтральной в войнах Европы, но внутри спорила из-за веры и власти. Богатела она ремеслом и наёмной службой.</a:t>
            </a:r>
            <a:endParaRPr lang="en-US" sz="1900" dirty="0"/>
          </a:p>
        </p:txBody>
      </p:sp>
      <p:sp>
        <p:nvSpPr>
          <p:cNvPr id="32" name="!!c5_3"/>
          <p:cNvSpPr txBox="1"/>
          <p:nvPr/>
        </p:nvSpPr>
        <p:spPr>
          <a:xfrm>
            <a:off x="14020495" y="4023360"/>
            <a:ext cx="9448495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spc="200" kern="0" dirty="0">
                <a:solidFill>
                  <a:srgbClr val="C9A15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Выполнили: ученики 8 «А» класса  ·  Кирилл Ленин и Михаил Луконин</a:t>
            </a:r>
            <a:endParaRPr lang="en-US" sz="1400" dirty="0"/>
          </a:p>
        </p:txBody>
      </p:sp>
      <p:sp>
        <p:nvSpPr>
          <p:cNvPr id="33" name="!!c5_4"/>
          <p:cNvSpPr txBox="1"/>
          <p:nvPr/>
        </p:nvSpPr>
        <p:spPr>
          <a:xfrm>
            <a:off x="14020495" y="6172200"/>
            <a:ext cx="9448495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3A2A1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Источники: А. Я. Юдовская и др. «Всеобщая история. История Нового времени», 7–8 кл.; энциклопедические статьи о Швейцарской конфедерации</a:t>
            </a:r>
            <a:endParaRPr lang="en-US" sz="1000" dirty="0"/>
          </a:p>
        </p:txBody>
      </p:sp>
      <p:sp>
        <p:nvSpPr>
          <p:cNvPr id="34" name="!!c4_0"/>
          <p:cNvSpPr txBox="1"/>
          <p:nvPr/>
        </p:nvSpPr>
        <p:spPr>
          <a:xfrm>
            <a:off x="777240" y="1417320"/>
            <a:ext cx="45720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spc="600" kern="0" dirty="0">
                <a:solidFill>
                  <a:srgbClr val="C9A15A"/>
                </a:solidFill>
                <a:latin typeface="Bookman Old Style" pitchFamily="34" charset="0"/>
                <a:ea typeface="Bookman Old Style" pitchFamily="34" charset="-122"/>
                <a:cs typeface="Bookman Old Style" pitchFamily="34" charset="-120"/>
              </a:rPr>
              <a:t>CAPUT  IV</a:t>
            </a:r>
            <a:endParaRPr lang="en-US" sz="1300" dirty="0"/>
          </a:p>
        </p:txBody>
      </p:sp>
      <p:sp>
        <p:nvSpPr>
          <p:cNvPr id="35" name="!!c4_1"/>
          <p:cNvSpPr txBox="1"/>
          <p:nvPr/>
        </p:nvSpPr>
        <p:spPr>
          <a:xfrm>
            <a:off x="10332720" y="6263640"/>
            <a:ext cx="10972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spc="300" kern="0" dirty="0">
                <a:solidFill>
                  <a:srgbClr val="C9A15A"/>
                </a:solidFill>
                <a:latin typeface="Bookman Old Style" pitchFamily="34" charset="0"/>
                <a:ea typeface="Bookman Old Style" pitchFamily="34" charset="-122"/>
                <a:cs typeface="Bookman Old Style" pitchFamily="34" charset="-120"/>
              </a:rPr>
              <a:t>V  ·  VI</a:t>
            </a:r>
            <a:endParaRPr lang="en-US" sz="1000" dirty="0"/>
          </a:p>
        </p:txBody>
      </p:sp>
      <p:pic>
        <p:nvPicPr>
          <p:cNvPr id="36" name="!!c4_2" descr="img/parchment.jpg">    </p:cNvPr>
          <p:cNvPicPr>
            <a:picLocks noChangeAspect="1"/>
          </p:cNvPicPr>
          <p:nvPr/>
        </p:nvPicPr>
        <p:blipFill>
          <a:blip r:embed="rId4"/>
          <a:srcRect l="0" r="0" t="0" b="0"/>
          <a:stretch/>
        </p:blipFill>
        <p:spPr>
          <a:xfrm>
            <a:off x="6492240" y="777240"/>
            <a:ext cx="4937760" cy="5303520"/>
          </a:xfrm>
          <a:prstGeom prst="rect">
            <a:avLst/>
          </a:prstGeom>
        </p:spPr>
      </p:pic>
      <p:sp>
        <p:nvSpPr>
          <p:cNvPr id="37" name="!!c4_3"/>
          <p:cNvSpPr/>
          <p:nvPr/>
        </p:nvSpPr>
        <p:spPr>
          <a:xfrm>
            <a:off x="6492240" y="777240"/>
            <a:ext cx="4937760" cy="5303520"/>
          </a:xfrm>
          <a:prstGeom prst="rect">
            <a:avLst/>
          </a:prstGeom>
          <a:ln w="19050">
            <a:solidFill>
              <a:srgbClr val="C9A15A"/>
            </a:solidFill>
            <a:prstDash val="solid"/>
          </a:ln>
          <a:effectLst>
            <a:outerShdw sx="100000" sy="100000" kx="0" ky="0" algn="bl" rotWithShape="0" blurRad="177800" dist="50800" dir="5400000">
              <a:srgbClr val="000000">
                <a:alpha val="45000"/>
              </a:srgbClr>
            </a:outerShdw>
          </a:effectLst>
        </p:spPr>
      </p:sp>
      <p:sp>
        <p:nvSpPr>
          <p:cNvPr id="38" name="!!c4_4"/>
          <p:cNvSpPr txBox="1"/>
          <p:nvPr/>
        </p:nvSpPr>
        <p:spPr>
          <a:xfrm>
            <a:off x="6492240" y="1188720"/>
            <a:ext cx="49377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0" b="1" dirty="0">
                <a:solidFill>
                  <a:srgbClr val="7A1C1A"/>
                </a:solidFill>
                <a:latin typeface="Bookman Old Style" pitchFamily="34" charset="0"/>
                <a:ea typeface="Bookman Old Style" pitchFamily="34" charset="-122"/>
                <a:cs typeface="Bookman Old Style" pitchFamily="34" charset="-120"/>
              </a:rPr>
              <a:t>1707</a:t>
            </a:r>
            <a:endParaRPr lang="en-US" sz="10000" dirty="0"/>
          </a:p>
        </p:txBody>
      </p:sp>
      <p:sp>
        <p:nvSpPr>
          <p:cNvPr id="39" name="!!c4_5"/>
          <p:cNvSpPr txBox="1"/>
          <p:nvPr/>
        </p:nvSpPr>
        <p:spPr>
          <a:xfrm>
            <a:off x="6492240" y="2926080"/>
            <a:ext cx="49377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400" dirty="0">
                <a:solidFill>
                  <a:srgbClr val="2A1E16"/>
                </a:solidFill>
                <a:latin typeface="Bookman Old Style" pitchFamily="34" charset="0"/>
                <a:ea typeface="Bookman Old Style" pitchFamily="34" charset="-122"/>
                <a:cs typeface="Bookman Old Style" pitchFamily="34" charset="-120"/>
              </a:rPr>
              <a:t>в Базеле родился Эйлер</a:t>
            </a:r>
            <a:endParaRPr lang="en-US" sz="2400" dirty="0"/>
          </a:p>
        </p:txBody>
      </p:sp>
      <p:sp>
        <p:nvSpPr>
          <p:cNvPr id="40" name="!!c4_6"/>
          <p:cNvSpPr txBox="1"/>
          <p:nvPr/>
        </p:nvSpPr>
        <p:spPr>
          <a:xfrm>
            <a:off x="6949440" y="3749040"/>
            <a:ext cx="4023360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500" dirty="0">
                <a:solidFill>
                  <a:srgbClr val="6B564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Леонард Эйлер — один из величайших математиков. С 1727 года он работал в Петербургской академии наук.</a:t>
            </a:r>
            <a:endParaRPr lang="en-US" sz="1500" dirty="0"/>
          </a:p>
        </p:txBody>
      </p:sp>
      <p:sp>
        <p:nvSpPr>
          <p:cNvPr id="41" name="!!c4_7"/>
          <p:cNvSpPr txBox="1"/>
          <p:nvPr/>
        </p:nvSpPr>
        <p:spPr>
          <a:xfrm>
            <a:off x="777240" y="1783080"/>
            <a:ext cx="5303520" cy="2103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000" i="1" dirty="0">
                <a:solidFill>
                  <a:srgbClr val="F1E6CF"/>
                </a:solidFill>
                <a:latin typeface="Bookman Old Style" pitchFamily="34" charset="0"/>
                <a:ea typeface="Bookman Old Style" pitchFamily="34" charset="-122"/>
                <a:cs typeface="Bookman Old Style" pitchFamily="34" charset="-120"/>
              </a:rPr>
              <a:t>Базель и Женева — города учёных</a:t>
            </a:r>
            <a:endParaRPr lang="en-US" sz="3000" dirty="0"/>
          </a:p>
        </p:txBody>
      </p:sp>
      <p:sp>
        <p:nvSpPr>
          <p:cNvPr id="42" name="!!c4_8"/>
          <p:cNvSpPr txBox="1"/>
          <p:nvPr/>
        </p:nvSpPr>
        <p:spPr>
          <a:xfrm>
            <a:off x="777240" y="3108960"/>
            <a:ext cx="51206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dirty="0">
                <a:solidFill>
                  <a:srgbClr val="C9A15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В Базеле жила семья математиков Бернулли, в 1712 году в Женеве родился Руссо.</a:t>
            </a:r>
            <a:endParaRPr lang="en-US" sz="1600" dirty="0"/>
          </a:p>
        </p:txBody>
      </p:sp>
    </p:spTree>
  </p:cSld>
  <p:clrMapOvr>
    <a:masterClrMapping/>
  </p:clrMapOvr>
  <mc:AlternateContent xmlns:mc="http://schemas.openxmlformats.org/markup-compatibility/2006">
    <mc:Choice xmlns:p14="http://schemas.microsoft.com/office/powerpoint/2010/main" xmlns:p159="http://schemas.microsoft.com/office/powerpoint/2015/09/main" Requires="p159">
      <p:transition spd="slow" p14:dur="2200">
        <p159:morph option="byObject"/>
      </p:transition>
    </mc:Choice>
    <mc:Fallback>
      <p:transition spd="slow">
        <p:fade/>
      </p:transition>
    </mc:Fallback>
  </mc:AlternateContent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shade" descr="img/shade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!!framea"/>
          <p:cNvSpPr/>
          <p:nvPr/>
        </p:nvSpPr>
        <p:spPr>
          <a:xfrm>
            <a:off x="320040" y="320040"/>
            <a:ext cx="11551615" cy="6217920"/>
          </a:xfrm>
          <a:prstGeom prst="rect">
            <a:avLst/>
          </a:prstGeom>
          <a:ln w="15875">
            <a:solidFill>
              <a:srgbClr val="C9A15A"/>
            </a:solidFill>
            <a:prstDash val="solid"/>
          </a:ln>
        </p:spPr>
      </p:sp>
      <p:sp>
        <p:nvSpPr>
          <p:cNvPr id="4" name="!!frameb"/>
          <p:cNvSpPr/>
          <p:nvPr/>
        </p:nvSpPr>
        <p:spPr>
          <a:xfrm>
            <a:off x="402336" y="402336"/>
            <a:ext cx="11387023" cy="6053328"/>
          </a:xfrm>
          <a:prstGeom prst="rect">
            <a:avLst/>
          </a:prstGeom>
          <a:ln w="6350">
            <a:solidFill>
              <a:srgbClr val="C9A15A"/>
            </a:solidFill>
            <a:prstDash val="solid"/>
          </a:ln>
        </p:spPr>
      </p:sp>
      <p:pic>
        <p:nvPicPr>
          <p:cNvPr id="5" name="!!shield" descr="img/shiel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638648" y="411480"/>
            <a:ext cx="914400" cy="1078992"/>
          </a:xfrm>
          <a:prstGeom prst="rect">
            <a:avLst/>
          </a:prstGeom>
        </p:spPr>
      </p:pic>
      <p:sp>
        <p:nvSpPr>
          <p:cNvPr id="6" name="!!c4_0"/>
          <p:cNvSpPr txBox="1"/>
          <p:nvPr/>
        </p:nvSpPr>
        <p:spPr>
          <a:xfrm>
            <a:off x="-11871655" y="1417320"/>
            <a:ext cx="45720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spc="600" kern="0" dirty="0">
                <a:solidFill>
                  <a:srgbClr val="C9A15A"/>
                </a:solidFill>
                <a:latin typeface="Bookman Old Style" pitchFamily="34" charset="0"/>
                <a:ea typeface="Bookman Old Style" pitchFamily="34" charset="-122"/>
                <a:cs typeface="Bookman Old Style" pitchFamily="34" charset="-120"/>
              </a:rPr>
              <a:t>CAPUT  IV</a:t>
            </a:r>
            <a:endParaRPr lang="en-US" sz="1300" dirty="0"/>
          </a:p>
        </p:txBody>
      </p:sp>
      <p:sp>
        <p:nvSpPr>
          <p:cNvPr id="7" name="!!c4_1"/>
          <p:cNvSpPr txBox="1"/>
          <p:nvPr/>
        </p:nvSpPr>
        <p:spPr>
          <a:xfrm>
            <a:off x="-2316175" y="6263640"/>
            <a:ext cx="10972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spc="300" kern="0" dirty="0">
                <a:solidFill>
                  <a:srgbClr val="C9A15A"/>
                </a:solidFill>
                <a:latin typeface="Bookman Old Style" pitchFamily="34" charset="0"/>
                <a:ea typeface="Bookman Old Style" pitchFamily="34" charset="-122"/>
                <a:cs typeface="Bookman Old Style" pitchFamily="34" charset="-120"/>
              </a:rPr>
              <a:t>V  ·  VI</a:t>
            </a:r>
            <a:endParaRPr lang="en-US" sz="1000" dirty="0"/>
          </a:p>
        </p:txBody>
      </p:sp>
      <p:pic>
        <p:nvPicPr>
          <p:cNvPr id="8" name="!!c4_2" descr="img/parchment.jpg">    </p:cNvPr>
          <p:cNvPicPr>
            <a:picLocks noChangeAspect="1"/>
          </p:cNvPicPr>
          <p:nvPr/>
        </p:nvPicPr>
        <p:blipFill>
          <a:blip r:embed="rId4"/>
          <a:srcRect l="0" r="0" t="0" b="0"/>
          <a:stretch/>
        </p:blipFill>
        <p:spPr>
          <a:xfrm>
            <a:off x="-6156655" y="777240"/>
            <a:ext cx="4937760" cy="5303520"/>
          </a:xfrm>
          <a:prstGeom prst="rect">
            <a:avLst/>
          </a:prstGeom>
        </p:spPr>
      </p:pic>
      <p:sp>
        <p:nvSpPr>
          <p:cNvPr id="9" name="!!c4_3"/>
          <p:cNvSpPr/>
          <p:nvPr/>
        </p:nvSpPr>
        <p:spPr>
          <a:xfrm>
            <a:off x="-6156655" y="777240"/>
            <a:ext cx="4937760" cy="5303520"/>
          </a:xfrm>
          <a:prstGeom prst="rect">
            <a:avLst/>
          </a:prstGeom>
          <a:ln w="19050">
            <a:solidFill>
              <a:srgbClr val="C9A15A"/>
            </a:solidFill>
            <a:prstDash val="solid"/>
          </a:ln>
          <a:effectLst>
            <a:outerShdw sx="100000" sy="100000" kx="0" ky="0" algn="bl" rotWithShape="0" blurRad="177800" dist="50800" dir="5400000">
              <a:srgbClr val="000000">
                <a:alpha val="45000"/>
              </a:srgbClr>
            </a:outerShdw>
          </a:effectLst>
        </p:spPr>
      </p:sp>
      <p:sp>
        <p:nvSpPr>
          <p:cNvPr id="10" name="!!c4_4"/>
          <p:cNvSpPr txBox="1"/>
          <p:nvPr/>
        </p:nvSpPr>
        <p:spPr>
          <a:xfrm>
            <a:off x="-6156655" y="1188720"/>
            <a:ext cx="49377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0" b="1" dirty="0">
                <a:solidFill>
                  <a:srgbClr val="7A1C1A"/>
                </a:solidFill>
                <a:latin typeface="Bookman Old Style" pitchFamily="34" charset="0"/>
                <a:ea typeface="Bookman Old Style" pitchFamily="34" charset="-122"/>
                <a:cs typeface="Bookman Old Style" pitchFamily="34" charset="-120"/>
              </a:rPr>
              <a:t>1707</a:t>
            </a:r>
            <a:endParaRPr lang="en-US" sz="10000" dirty="0"/>
          </a:p>
        </p:txBody>
      </p:sp>
      <p:sp>
        <p:nvSpPr>
          <p:cNvPr id="11" name="!!c4_5"/>
          <p:cNvSpPr txBox="1"/>
          <p:nvPr/>
        </p:nvSpPr>
        <p:spPr>
          <a:xfrm>
            <a:off x="-6156655" y="2926080"/>
            <a:ext cx="49377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400" dirty="0">
                <a:solidFill>
                  <a:srgbClr val="2A1E16"/>
                </a:solidFill>
                <a:latin typeface="Bookman Old Style" pitchFamily="34" charset="0"/>
                <a:ea typeface="Bookman Old Style" pitchFamily="34" charset="-122"/>
                <a:cs typeface="Bookman Old Style" pitchFamily="34" charset="-120"/>
              </a:rPr>
              <a:t>в Базеле родился Эйлер</a:t>
            </a:r>
            <a:endParaRPr lang="en-US" sz="2400" dirty="0"/>
          </a:p>
        </p:txBody>
      </p:sp>
      <p:sp>
        <p:nvSpPr>
          <p:cNvPr id="12" name="!!c4_6"/>
          <p:cNvSpPr txBox="1"/>
          <p:nvPr/>
        </p:nvSpPr>
        <p:spPr>
          <a:xfrm>
            <a:off x="-5699455" y="3749040"/>
            <a:ext cx="4023360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500" dirty="0">
                <a:solidFill>
                  <a:srgbClr val="6B564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Леонард Эйлер — один из величайших математиков. С 1727 года он работал в Петербургской академии наук.</a:t>
            </a:r>
            <a:endParaRPr lang="en-US" sz="1500" dirty="0"/>
          </a:p>
        </p:txBody>
      </p:sp>
      <p:sp>
        <p:nvSpPr>
          <p:cNvPr id="13" name="!!c4_7"/>
          <p:cNvSpPr txBox="1"/>
          <p:nvPr/>
        </p:nvSpPr>
        <p:spPr>
          <a:xfrm>
            <a:off x="-11871655" y="1783080"/>
            <a:ext cx="5303520" cy="2103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000" i="1" dirty="0">
                <a:solidFill>
                  <a:srgbClr val="F1E6CF"/>
                </a:solidFill>
                <a:latin typeface="Bookman Old Style" pitchFamily="34" charset="0"/>
                <a:ea typeface="Bookman Old Style" pitchFamily="34" charset="-122"/>
                <a:cs typeface="Bookman Old Style" pitchFamily="34" charset="-120"/>
              </a:rPr>
              <a:t>Базель и Женева — города учёных</a:t>
            </a:r>
            <a:endParaRPr lang="en-US" sz="3000" dirty="0"/>
          </a:p>
        </p:txBody>
      </p:sp>
      <p:sp>
        <p:nvSpPr>
          <p:cNvPr id="14" name="!!c4_8"/>
          <p:cNvSpPr txBox="1"/>
          <p:nvPr/>
        </p:nvSpPr>
        <p:spPr>
          <a:xfrm>
            <a:off x="-11871655" y="3108960"/>
            <a:ext cx="51206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dirty="0">
                <a:solidFill>
                  <a:srgbClr val="C9A15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В Базеле жила семья математиков Бернулли, в 1712 году в Женеве родился Руссо.</a:t>
            </a:r>
            <a:endParaRPr lang="en-US" sz="1600" dirty="0"/>
          </a:p>
        </p:txBody>
      </p:sp>
      <p:sp>
        <p:nvSpPr>
          <p:cNvPr id="15" name="!!c5_0"/>
          <p:cNvSpPr txBox="1"/>
          <p:nvPr/>
        </p:nvSpPr>
        <p:spPr>
          <a:xfrm>
            <a:off x="914400" y="1600200"/>
            <a:ext cx="10362895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spc="1000" kern="0" dirty="0">
                <a:solidFill>
                  <a:srgbClr val="C9A15A"/>
                </a:solidFill>
                <a:latin typeface="Bookman Old Style" pitchFamily="34" charset="0"/>
                <a:ea typeface="Bookman Old Style" pitchFamily="34" charset="-122"/>
                <a:cs typeface="Bookman Old Style" pitchFamily="34" charset="-120"/>
              </a:rPr>
              <a:t>FINIS</a:t>
            </a:r>
            <a:endParaRPr lang="en-US" sz="1400" dirty="0"/>
          </a:p>
        </p:txBody>
      </p:sp>
      <p:sp>
        <p:nvSpPr>
          <p:cNvPr id="16" name="!!c5_1"/>
          <p:cNvSpPr txBox="1"/>
          <p:nvPr/>
        </p:nvSpPr>
        <p:spPr>
          <a:xfrm>
            <a:off x="914400" y="1965960"/>
            <a:ext cx="10362895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4600" b="1" dirty="0">
                <a:solidFill>
                  <a:srgbClr val="F1E6CF"/>
                </a:solidFill>
                <a:latin typeface="Bookman Old Style" pitchFamily="34" charset="0"/>
                <a:ea typeface="Bookman Old Style" pitchFamily="34" charset="-122"/>
                <a:cs typeface="Bookman Old Style" pitchFamily="34" charset="-120"/>
              </a:rPr>
              <a:t>Спасибо за внимание</a:t>
            </a:r>
            <a:endParaRPr lang="en-US" sz="4600" dirty="0"/>
          </a:p>
        </p:txBody>
      </p:sp>
      <p:sp>
        <p:nvSpPr>
          <p:cNvPr id="17" name="!!c5_2"/>
          <p:cNvSpPr txBox="1"/>
          <p:nvPr/>
        </p:nvSpPr>
        <p:spPr>
          <a:xfrm>
            <a:off x="2011680" y="3063240"/>
            <a:ext cx="8168335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900" i="1" dirty="0">
                <a:solidFill>
                  <a:srgbClr val="E2D2B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Швейцария осталась нейтральной в войнах Европы, но внутри спорила из-за веры и власти. Богатела она ремеслом и наёмной службой.</a:t>
            </a:r>
            <a:endParaRPr lang="en-US" sz="1900" dirty="0"/>
          </a:p>
        </p:txBody>
      </p:sp>
      <p:sp>
        <p:nvSpPr>
          <p:cNvPr id="18" name="!!c5_3"/>
          <p:cNvSpPr txBox="1"/>
          <p:nvPr/>
        </p:nvSpPr>
        <p:spPr>
          <a:xfrm>
            <a:off x="1371600" y="4023360"/>
            <a:ext cx="9448495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spc="200" kern="0" dirty="0">
                <a:solidFill>
                  <a:srgbClr val="C9A15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Выполнили: ученики 8 «А» класса  ·  Кирилл Ленин и Михаил Луконин</a:t>
            </a:r>
            <a:endParaRPr lang="en-US" sz="1400" dirty="0"/>
          </a:p>
        </p:txBody>
      </p:sp>
      <p:sp>
        <p:nvSpPr>
          <p:cNvPr id="19" name="!!c5_4"/>
          <p:cNvSpPr txBox="1"/>
          <p:nvPr/>
        </p:nvSpPr>
        <p:spPr>
          <a:xfrm>
            <a:off x="1371600" y="6172200"/>
            <a:ext cx="9448495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3A2A1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Источники: А. Я. Юдовская и др. «Всеобщая история. История Нового времени», 7–8 кл.; энциклопедические статьи о Швейцарской конфедерации</a:t>
            </a:r>
            <a:endParaRPr lang="en-US" sz="1000" dirty="0"/>
          </a:p>
        </p:txBody>
      </p:sp>
    </p:spTree>
  </p:cSld>
  <p:clrMapOvr>
    <a:masterClrMapping/>
  </p:clrMapOvr>
  <mc:AlternateContent xmlns:mc="http://schemas.openxmlformats.org/markup-compatibility/2006">
    <mc:Choice xmlns:p14="http://schemas.microsoft.com/office/powerpoint/2010/main" xmlns:p159="http://schemas.microsoft.com/office/powerpoint/2015/09/main" Requires="p159">
      <p:transition spd="slow" p14:dur="2200">
        <p159:morph option="byObject"/>
      </p:transition>
    </mc:Choice>
    <mc:Fallback>
      <p:transition spd="slow">
        <p:fade/>
      </p:transition>
    </mc:Fallback>
  </mc:AlternateContent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6</Slides>
  <Notes>6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6</vt:i4>
      </vt:variant>
    </vt:vector>
  </HeadingPairs>
  <TitlesOfParts>
    <vt:vector size="9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Швейцария в начале XVIII века</dc:title>
  <dc:subject>PptxGenJS Presentation</dc:subject>
  <dc:creator>PptxGenJS</dc:creator>
  <cp:lastModifiedBy>PptxGenJS</cp:lastModifiedBy>
  <cp:revision>1</cp:revision>
  <dcterms:created xsi:type="dcterms:W3CDTF">2026-10-01T18:42:07Z</dcterms:created>
  <dcterms:modified xsi:type="dcterms:W3CDTF">2026-10-01T18:42:07Z</dcterms:modified>
</cp:coreProperties>
</file>