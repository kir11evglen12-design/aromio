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проекта — «Швейцария до XVIII века». Сегодня Швейцарию знают по часам, сыру, банкам и тому, что она не участвует в войнах. Но как маленькая горная страна без моря и без короля смогла стать независимой среди больших империй? Официальное название страны по-латыни — Confoederatio Helvetica, то есть Гельветическая конфедерация: в древности здесь жило кельтское племя гельветов. Я расскажу, как появился швейцарский союз, на чём держалась его сила и как к 1648 году его независимость признала вся Европа.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конце XIII века горные долины у Фирвальдштетского озера — Ури, Швиц и Унтервальден — пытались подчинить австрийские Габсбурги. Через эти земли шла важная торговая дорога через перевал Сен-Готард из Германии в Италию. В начале августа 1291 года жители трёх долин заключили «Вечный союз»: они пообещали помогать друг другу против любого врага и не признавать чужих судей. Поэтому 1 августа сегодня — национальный праздник Швейцарии. С этим временем связана легенда о Вильгельме Телле — стрелке, которого жестокий наместник Гесслер заставил сбить стрелой яблоко с головы собственного сына. Телль справился, а потом отомстил наместнику. Историки считают Телля легендарным героем, но он стал символом борьбы швейцарцев за свободу. А само название страны произошло от кантона Швиц.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союз выжил? Я выделяю три причины. Первая — свобода общин. В кантонах не было короля: важные вопросы решало ландсгемайнде — собрание всех свободных мужчин кантона под открытым небом, где голосовали поднятием руки. Такие собрания до сих пор проходят в кантонах Гларус и Аппенцелль-Иннерроден. Вторая — сильная армия. Швейцарская пехота с длинными пиками и алебардами научилась побеждать рыцарскую конницу. Швейцарцев охотно нанимали короли и папы, а с 1506 года папу римского охраняет Швейцарская гвардия — она служит в Ватикане и сегодня. Третья — вера и ремесло. В XVI веке в Цюрихе Реформацию начал Ульрих Цвингли, а Женева при Жане Кальвине стала «протестантским Римом». Кальвинисты ценили труд и бережливость, а строгие законы против роскоши заставили женевских ювелиров перейти к изготовлению часов — так началась слава швейцарских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Пройдём по главным датам. 1291 год — «Вечный союз» трёх лесных кантонов. 1315 год — битва при Моргартене: крестьяне-ополченцы устроили засаду в горном проходе, сбрасывали на рыцарей герцога Леопольда Австрийского камни и брёвна и разгромили их. Это первая большая победа конфедератов. 1476 год — победы при Грансоне и Муртене над герцогом Бургундии Карлом Смелым, одним из самых богатых правителей Европы; в 1477 году он погиб в битве при Нанси. После этого швейцарскую пехоту стали считать лучшей в Европе. 1515 год — поражение при Мариньяно от французского короля Франциска I. Швейцарцы поняли, что большие завоевательные войны им не по силам, и постепенно перешли к политике нейтралитета. И наконец, 1648 год: по Вестфальскому миру, завершившему Тридцатилетнюю войну, независимость Швейцарии от Священной Римской империи признали официально. На деле империи она не подчинялась уже с 1499 года — после Швабской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1513 году союз вырос до тринадцати кантонов: Ури, Швиц, Унтервальден, Люцерн, Цюрих, Гларус, Цуг, Берн, Фрибур, Золотурн, Базель, Шаффхаузен и Аппенцелль. Союз тринадцати кантонов просуществовал почти триста лет — до 1798 года. У каждого кантона были свои законы и своё правительство, а общие дела обсуждали послы кантонов на общем собрании — сейме, по-немецки Tagsatzung. Итальянский мыслитель Никколо Макиавелли в книге «Государь» (1513) писал: «Швейцарцы превосходно вооружены и пользуются полной свободой». Эти слова хорошо объясняют, почему соседям было так трудно покорить Швейцарию.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Швейцария до XVIII века — это союз небольших горных общин, которые объединились, чтобы защищать свою свободу. Её силу составляли самоуправление, отличная пехота, а затем — трудолюбие и ремесло, которые укрепила Реформация. Пройдя путь от «Вечного союза» 1291 года до признания независимости в 1648 году, Швейцария показала, что маленькая страна может отстоять себя рядом с великими державами. 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MCCXCI — MDCXLVIII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0604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до XVIII века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горные общины создали союз, который не смогла покорить ни одна империя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класс  ·  Фамилия Имя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1291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 всё началось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</a:t>
            </a:r>
            <a:endParaRPr lang="en-US" sz="6600" dirty="0"/>
          </a:p>
        </p:txBody>
      </p:sp>
      <p:sp>
        <p:nvSpPr>
          <p:cNvPr id="8" name="Text 4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1291 году три горные долины — Ури, Швиц и Унтервальден — заключили «Вечный союз» против власти Габсбургов.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Через их земли шла дорога через перевал Сен-Готард из Германии в Италию. Название страны дал кантон Швиц, а 1 августа — её национальный праздник.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Легенда о Вильгельме Телле, сбившем стрелой яблоко с головы сына, стала символом свободы швейцарцев.</a:t>
            </a:r>
            <a:endParaRPr lang="en-US" sz="1600" dirty="0"/>
          </a:p>
        </p:txBody>
      </p:sp>
      <p:sp>
        <p:nvSpPr>
          <p:cNvPr id="11" name="pageNum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Фирвальдштетское озеро — колыбель союза (иллюстрация)</a:t>
            </a:r>
            <a:endParaRPr lang="en-US" sz="1000" dirty="0"/>
          </a:p>
        </p:txBody>
      </p:sp>
      <p:sp>
        <p:nvSpPr>
          <p:cNvPr id="12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35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kicker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6" name="!!title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Три опоры Швейцарии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Свобода общин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Вместо короля — ландсгемайнде: собрание всех свободных мужчин кантона, голосование поднятием руки.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Сильная пехота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Пики и алебарды против рыцарской конницы. С 1506 года папу римского охраняет Швейцарская гвардия.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Вера и ремесло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Реформация Цвингли в Цюрихе и Кальвина в Женеве. Женевские ювелиры стали часовщиками.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2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8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6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34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-146304" y="-146304"/>
            <a:ext cx="12484303" cy="7150608"/>
          </a:xfrm>
          <a:prstGeom prst="rect">
            <a:avLst/>
          </a:prstGeom>
          <a:solidFill>
            <a:srgbClr val="8E6A2E"/>
          </a:solidFill>
          <a:ln/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55000"/>
            </a:srgbClr>
          </a:solidFill>
          <a:ln/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7" name="!!title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свободы</a:t>
            </a:r>
            <a:endParaRPr lang="en-US" sz="4000" dirty="0"/>
          </a:p>
        </p:txBody>
      </p:sp>
      <p:sp>
        <p:nvSpPr>
          <p:cNvPr id="8" name="Shape 4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1291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Вечный союз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Ури, Швиц и Унтервальден объединяются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1315</a:t>
            </a:r>
            <a:endParaRPr lang="en-US" sz="3400" dirty="0"/>
          </a:p>
        </p:txBody>
      </p:sp>
      <p:sp>
        <p:nvSpPr>
          <p:cNvPr id="15" name="Text 11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Моргартен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Ополченцы разбили австрийских рыцарей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1476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Грансон и Муртен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Разгром Карла Смелого Бургундского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1515</a:t>
            </a:r>
            <a:endParaRPr lang="en-US" sz="3400" dirty="0"/>
          </a:p>
        </p:txBody>
      </p:sp>
      <p:sp>
        <p:nvSpPr>
          <p:cNvPr id="23" name="Text 19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Мариньяно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 от Франции — курс на нейтралитет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1648</a:t>
            </a:r>
            <a:endParaRPr lang="en-US" sz="3400" dirty="0"/>
          </a:p>
        </p:txBody>
      </p:sp>
      <p:sp>
        <p:nvSpPr>
          <p:cNvPr id="27" name="Text 23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Вестфальский мир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Европа признала независимость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777240" y="571500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После Швабской войны 1499 года Швейцария фактически не подчинялась Империи.</a:t>
            </a:r>
            <a:endParaRPr lang="en-US" sz="1200" dirty="0"/>
          </a:p>
        </p:txBody>
      </p:sp>
      <p:sp>
        <p:nvSpPr>
          <p:cNvPr id="30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20"/>
                            </p:stCondLst>
                            <p:childTnLst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80"/>
                            </p:stCondLst>
                            <p:childTnLst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160"/>
                            </p:stCondLst>
                            <p:childTnLst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340"/>
                            </p:stCondLst>
                            <p:childTnLst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20"/>
                            </p:stCondLst>
                            <p:childTnLst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700"/>
                            </p:stCondLst>
                            <p:childTnLst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880"/>
                            </p:stCondLst>
                            <p:childTnLst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60"/>
                            </p:stCondLst>
                            <p:childTnLst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240"/>
                            </p:stCondLst>
                            <p:childTnLst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420"/>
                            </p:stCondLst>
                            <p:childTnLst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600"/>
                            </p:stCondLst>
                            <p:childTnLst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  <p:bldP spid="16" grpId="0"/>
      <p:bldP spid="18" grpId="0"/>
      <p:bldP spid="19" grpId="0"/>
      <p:bldP spid="20" grpId="0"/>
      <p:bldP spid="22" grpId="0"/>
      <p:bldP spid="23" grpId="0"/>
      <p:bldP spid="24" grpId="0"/>
      <p:bldP spid="26" grpId="0"/>
      <p:bldP spid="27" grpId="0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30000"/>
            </a:srgbClr>
          </a:solidFill>
          <a:ln/>
        </p:spPr>
      </p:sp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566928" cy="668975"/>
          </a:xfrm>
          <a:prstGeom prst="rect">
            <a:avLst/>
          </a:prstGeom>
        </p:spPr>
      </p:pic>
      <p:pic>
        <p:nvPicPr>
          <p:cNvPr id="4" name="!!folio" descr="img/parchmen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!!big"/>
          <p:cNvSpPr txBox="1"/>
          <p:nvPr/>
        </p:nvSpPr>
        <p:spPr>
          <a:xfrm>
            <a:off x="6492240" y="10972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XIII</a:t>
            </a:r>
            <a:endParaRPr lang="en-US" sz="12000" dirty="0"/>
          </a:p>
        </p:txBody>
      </p:sp>
      <p:sp>
        <p:nvSpPr>
          <p:cNvPr id="7" name="Text 3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кантонов к 1513 году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просуществовал до 1798 года. У каждого — свои законы, а общие дела решал сейм (Tagsatzung).</a:t>
            </a:r>
            <a:endParaRPr lang="en-US" sz="1500" dirty="0"/>
          </a:p>
        </p:txBody>
      </p:sp>
      <p:sp>
        <p:nvSpPr>
          <p:cNvPr id="9" name="!!kicker"/>
          <p:cNvSpPr txBox="1"/>
          <p:nvPr/>
        </p:nvSpPr>
        <p:spPr>
          <a:xfrm>
            <a:off x="777240" y="1828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2860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«Швейцарцы превосходно вооружены и пользуются полной свободой»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Никколо Макиавелли, «Государь», 1513</a:t>
            </a:r>
            <a:endParaRPr lang="en-US" sz="1500" dirty="0"/>
          </a:p>
        </p:txBody>
      </p:sp>
      <p:sp>
        <p:nvSpPr>
          <p:cNvPr id="12" name="pageNum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="http://schemas.microsoft.com/office/powerpoint/2012/main" Requires="p15">
      <p:transition spd="slow" p14:dur="25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40"/>
                            </p:stCondLst>
                            <p:childTnLst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0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8" y="685800"/>
            <a:ext cx="1188720" cy="1402690"/>
          </a:xfrm>
          <a:prstGeom prst="rect">
            <a:avLst/>
          </a:prstGeom>
        </p:spPr>
      </p:pic>
      <p:sp>
        <p:nvSpPr>
          <p:cNvPr id="6" name="!!kicker"/>
          <p:cNvSpPr txBox="1"/>
          <p:nvPr/>
        </p:nvSpPr>
        <p:spPr>
          <a:xfrm>
            <a:off x="914400" y="22860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7" name="!!title"/>
          <p:cNvSpPr txBox="1"/>
          <p:nvPr/>
        </p:nvSpPr>
        <p:spPr>
          <a:xfrm>
            <a:off x="914400" y="269748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84048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Свобода общин, сильная пехота и честный труд помогли маленькой горной стране отстоять независимость среди великих держав.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489204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Выполнил(а): ученик(ца) 8 «__» класса  ·  Фамилия Имя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57150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A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80"/>
                            </p:stCondLst>
                            <p:childTnLst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60"/>
                            </p:stCondLst>
                            <p:childTnLst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до XVIII века</dc:title>
  <dc:subject>PptxGenJS Presentation</dc:subject>
  <dc:creator>PptxGenJS</dc:creator>
  <cp:lastModifiedBy>PptxGenJS</cp:lastModifiedBy>
  <cp:revision>1</cp:revision>
  <dcterms:created xsi:type="dcterms:W3CDTF">2026-10-01T12:52:14Z</dcterms:created>
  <dcterms:modified xsi:type="dcterms:W3CDTF">2026-10-01T12:52:14Z</dcterms:modified>
</cp:coreProperties>
</file>